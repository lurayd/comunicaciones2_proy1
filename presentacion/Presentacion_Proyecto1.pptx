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Sin ecualizar</c:v>
                </c:pt>
              </c:strCache>
            </c:strRef>
          </c:tx>
          <c:spPr>
            <a:solidFill>
              <a:srgbClr val="8A93B8"/>
            </a:solidFill>
            <a:ln w="31750" cap="flat">
              <a:solidFill>
                <a:srgbClr val="8A93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8A93B8"/>
              </a:solidFill>
              <a:ln w="9525" cap="flat">
                <a:solidFill>
                  <a:srgbClr val="8A93B8"/>
                </a:solidFill>
                <a:prstDash val="solid"/>
                <a:round/>
              </a:ln>
              <a:effectLst/>
            </c:spPr>
          </c:marker>
          <c:cat>
            <c:multiLvlStrRef>
              <c:f>Sheet1!$A$2:$A$10</c:f>
              <c:multiLvlStrCache>
                <c:ptCount val="9"/>
                <c:lvl>
                  <c:pt idx="0">
                    <c:v>4</c:v>
                  </c:pt>
                  <c:pt idx="1">
                    <c:v>6</c:v>
                  </c:pt>
                  <c:pt idx="2">
                    <c:v>8</c:v>
                  </c:pt>
                  <c:pt idx="3">
                    <c:v>10</c:v>
                  </c:pt>
                  <c:pt idx="4">
                    <c:v>12</c:v>
                  </c:pt>
                  <c:pt idx="5">
                    <c:v>14</c:v>
                  </c:pt>
                  <c:pt idx="6">
                    <c:v>16</c:v>
                  </c:pt>
                  <c:pt idx="7">
                    <c:v>18</c:v>
                  </c:pt>
                  <c:pt idx="8">
                    <c:v>20</c:v>
                  </c:pt>
                </c:lvl>
              </c:multiLvlStrCache>
            </c:multiLvlStrRef>
          </c:cat>
          <c:val>
            <c:numRef>
              <c:f>Sheet1!$B$2:$B$10</c:f>
              <c:numCache>
                <c:formatCode>General</c:formatCode>
                <c:ptCount val="9"/>
                <c:pt idx="0">
                  <c:v>0.129825</c:v>
                </c:pt>
                <c:pt idx="1">
                  <c:v>0.1046125</c:v>
                </c:pt>
                <c:pt idx="2">
                  <c:v>0.08580625</c:v>
                </c:pt>
                <c:pt idx="3">
                  <c:v>0.07331875</c:v>
                </c:pt>
                <c:pt idx="4">
                  <c:v>0.065428125</c:v>
                </c:pt>
                <c:pt idx="5">
                  <c:v>0.060059375</c:v>
                </c:pt>
                <c:pt idx="6">
                  <c:v>0.0567421875</c:v>
                </c:pt>
                <c:pt idx="7">
                  <c:v>0.0545265625</c:v>
                </c:pt>
                <c:pt idx="8">
                  <c:v>0.0531140625</c:v>
                </c:pt>
              </c:numCache>
            </c:numRef>
          </c:val>
          <c:smooth val="0"/>
        </c:ser>
        <c:ser>
          <c:idx val="1"/>
          <c:order val="1"/>
          <c:tx>
            <c:strRef>
              <c:f>Sheet1!$C$1</c:f>
              <c:strCache>
                <c:ptCount val="1"/>
                <c:pt idx="0">
                  <c:v>LMS</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Sheet1!$A$2:$A$10</c:f>
              <c:multiLvlStrCache>
                <c:ptCount val="9"/>
                <c:lvl>
                  <c:pt idx="0">
                    <c:v>4</c:v>
                  </c:pt>
                  <c:pt idx="1">
                    <c:v>6</c:v>
                  </c:pt>
                  <c:pt idx="2">
                    <c:v>8</c:v>
                  </c:pt>
                  <c:pt idx="3">
                    <c:v>10</c:v>
                  </c:pt>
                  <c:pt idx="4">
                    <c:v>12</c:v>
                  </c:pt>
                  <c:pt idx="5">
                    <c:v>14</c:v>
                  </c:pt>
                  <c:pt idx="6">
                    <c:v>16</c:v>
                  </c:pt>
                  <c:pt idx="7">
                    <c:v>18</c:v>
                  </c:pt>
                  <c:pt idx="8">
                    <c:v>20</c:v>
                  </c:pt>
                </c:lvl>
              </c:multiLvlStrCache>
            </c:multiLvlStrRef>
          </c:cat>
          <c:val>
            <c:numRef>
              <c:f>Sheet1!$C$2:$C$10</c:f>
              <c:numCache>
                <c:formatCode>General</c:formatCode>
                <c:ptCount val="9"/>
                <c:pt idx="0">
                  <c:v>0.1142375</c:v>
                </c:pt>
                <c:pt idx="1">
                  <c:v>0.1557125</c:v>
                </c:pt>
                <c:pt idx="2">
                  <c:v>0.0325</c:v>
                </c:pt>
                <c:pt idx="3">
                  <c:v>0.0058125</c:v>
                </c:pt>
                <c:pt idx="4">
                  <c:v>0.000840625</c:v>
                </c:pt>
                <c:pt idx="5">
                  <c:v>0.00004375</c:v>
                </c:pt>
                <c:pt idx="6">
                  <c:v>0.000001</c:v>
                </c:pt>
                <c:pt idx="7">
                  <c:v>0.000001</c:v>
                </c:pt>
                <c:pt idx="8">
                  <c:v>0.000001</c:v>
                </c:pt>
              </c:numCache>
            </c:numRef>
          </c:val>
          <c:smooth val="0"/>
        </c:ser>
        <c:ser>
          <c:idx val="2"/>
          <c:order val="2"/>
          <c:tx>
            <c:strRef>
              <c:f>Sheet1!$D$1</c:f>
              <c:strCache>
                <c:ptCount val="1"/>
                <c:pt idx="0">
                  <c:v>RLS</c:v>
                </c:pt>
              </c:strCache>
            </c:strRef>
          </c:tx>
          <c:spPr>
            <a:solidFill>
              <a:srgbClr val="1BAF7A"/>
            </a:solidFill>
            <a:ln w="3175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Sheet1!$A$2:$A$10</c:f>
              <c:multiLvlStrCache>
                <c:ptCount val="9"/>
                <c:lvl>
                  <c:pt idx="0">
                    <c:v>4</c:v>
                  </c:pt>
                  <c:pt idx="1">
                    <c:v>6</c:v>
                  </c:pt>
                  <c:pt idx="2">
                    <c:v>8</c:v>
                  </c:pt>
                  <c:pt idx="3">
                    <c:v>10</c:v>
                  </c:pt>
                  <c:pt idx="4">
                    <c:v>12</c:v>
                  </c:pt>
                  <c:pt idx="5">
                    <c:v>14</c:v>
                  </c:pt>
                  <c:pt idx="6">
                    <c:v>16</c:v>
                  </c:pt>
                  <c:pt idx="7">
                    <c:v>18</c:v>
                  </c:pt>
                  <c:pt idx="8">
                    <c:v>20</c:v>
                  </c:pt>
                </c:lvl>
              </c:multiLvlStrCache>
            </c:multiLvlStrRef>
          </c:cat>
          <c:val>
            <c:numRef>
              <c:f>Sheet1!$D$2:$D$10</c:f>
              <c:numCache>
                <c:formatCode>General</c:formatCode>
                <c:ptCount val="9"/>
                <c:pt idx="0">
                  <c:v>0.082025</c:v>
                </c:pt>
                <c:pt idx="1">
                  <c:v>0.0398875</c:v>
                </c:pt>
                <c:pt idx="2">
                  <c:v>0.01459375</c:v>
                </c:pt>
                <c:pt idx="3">
                  <c:v>0.00353125</c:v>
                </c:pt>
                <c:pt idx="4">
                  <c:v>0.000434375</c:v>
                </c:pt>
                <c:pt idx="5">
                  <c:v>0.000009375</c:v>
                </c:pt>
                <c:pt idx="6">
                  <c:v>0.000001</c:v>
                </c:pt>
                <c:pt idx="7">
                  <c:v>0.000001</c:v>
                </c:pt>
                <c:pt idx="8">
                  <c:v>0.000001</c:v>
                </c:pt>
              </c:numCache>
            </c:numRef>
          </c:val>
          <c:smooth val="0"/>
        </c:ser>
        <c:ser>
          <c:idx val="3"/>
          <c:order val="3"/>
          <c:tx>
            <c:strRef>
              <c:f>Sheet1!$E$1</c:f>
              <c:strCache>
                <c:ptCount val="1"/>
                <c:pt idx="0">
                  <c:v>Zero-Forcing</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Sheet1!$A$2:$A$10</c:f>
              <c:multiLvlStrCache>
                <c:ptCount val="9"/>
                <c:lvl>
                  <c:pt idx="0">
                    <c:v>4</c:v>
                  </c:pt>
                  <c:pt idx="1">
                    <c:v>6</c:v>
                  </c:pt>
                  <c:pt idx="2">
                    <c:v>8</c:v>
                  </c:pt>
                  <c:pt idx="3">
                    <c:v>10</c:v>
                  </c:pt>
                  <c:pt idx="4">
                    <c:v>12</c:v>
                  </c:pt>
                  <c:pt idx="5">
                    <c:v>14</c:v>
                  </c:pt>
                  <c:pt idx="6">
                    <c:v>16</c:v>
                  </c:pt>
                  <c:pt idx="7">
                    <c:v>18</c:v>
                  </c:pt>
                  <c:pt idx="8">
                    <c:v>20</c:v>
                  </c:pt>
                </c:lvl>
              </c:multiLvlStrCache>
            </c:multiLvlStrRef>
          </c:cat>
          <c:val>
            <c:numRef>
              <c:f>Sheet1!$E$2:$E$10</c:f>
              <c:numCache>
                <c:formatCode>General</c:formatCode>
                <c:ptCount val="9"/>
                <c:pt idx="0">
                  <c:v>0.093325</c:v>
                </c:pt>
                <c:pt idx="1">
                  <c:v>0.0456125</c:v>
                </c:pt>
                <c:pt idx="2">
                  <c:v>0.01630625</c:v>
                </c:pt>
                <c:pt idx="3">
                  <c:v>0.0038625</c:v>
                </c:pt>
                <c:pt idx="4">
                  <c:v>0.0004125</c:v>
                </c:pt>
                <c:pt idx="5">
                  <c:v>0.000009375</c:v>
                </c:pt>
                <c:pt idx="6">
                  <c:v>0.000001</c:v>
                </c:pt>
                <c:pt idx="7">
                  <c:v>0.000001</c:v>
                </c:pt>
                <c:pt idx="8">
                  <c:v>0.000001</c:v>
                </c:pt>
              </c:numCache>
            </c:numRef>
          </c:val>
          <c:smooth val="0"/>
        </c:ser>
        <c:ser>
          <c:idx val="4"/>
          <c:order val="4"/>
          <c:tx>
            <c:strRef>
              <c:f>Sheet1!$F$1</c:f>
              <c:strCache>
                <c:ptCount val="1"/>
                <c:pt idx="0">
                  <c:v>MMSE</c:v>
                </c:pt>
              </c:strCache>
            </c:strRef>
          </c:tx>
          <c:spPr>
            <a:solidFill>
              <a:srgbClr val="5A4FD6"/>
            </a:solidFill>
            <a:ln w="31750" cap="flat">
              <a:solidFill>
                <a:srgbClr val="5A4F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5A4FD6"/>
              </a:solidFill>
              <a:ln w="9525" cap="flat">
                <a:solidFill>
                  <a:srgbClr val="5A4FD6"/>
                </a:solidFill>
                <a:prstDash val="solid"/>
                <a:round/>
              </a:ln>
              <a:effectLst/>
            </c:spPr>
          </c:marker>
          <c:cat>
            <c:multiLvlStrRef>
              <c:f>Sheet1!$A$2:$A$10</c:f>
              <c:multiLvlStrCache>
                <c:ptCount val="9"/>
                <c:lvl>
                  <c:pt idx="0">
                    <c:v>4</c:v>
                  </c:pt>
                  <c:pt idx="1">
                    <c:v>6</c:v>
                  </c:pt>
                  <c:pt idx="2">
                    <c:v>8</c:v>
                  </c:pt>
                  <c:pt idx="3">
                    <c:v>10</c:v>
                  </c:pt>
                  <c:pt idx="4">
                    <c:v>12</c:v>
                  </c:pt>
                  <c:pt idx="5">
                    <c:v>14</c:v>
                  </c:pt>
                  <c:pt idx="6">
                    <c:v>16</c:v>
                  </c:pt>
                  <c:pt idx="7">
                    <c:v>18</c:v>
                  </c:pt>
                  <c:pt idx="8">
                    <c:v>20</c:v>
                  </c:pt>
                </c:lvl>
              </c:multiLvlStrCache>
            </c:multiLvlStrRef>
          </c:cat>
          <c:val>
            <c:numRef>
              <c:f>Sheet1!$F$2:$F$10</c:f>
              <c:numCache>
                <c:formatCode>General</c:formatCode>
                <c:ptCount val="9"/>
                <c:pt idx="0">
                  <c:v>0.0740125</c:v>
                </c:pt>
                <c:pt idx="1">
                  <c:v>0.0364625</c:v>
                </c:pt>
                <c:pt idx="2">
                  <c:v>0.0133125</c:v>
                </c:pt>
                <c:pt idx="3">
                  <c:v>0.00304375</c:v>
                </c:pt>
                <c:pt idx="4">
                  <c:v>0.0003875</c:v>
                </c:pt>
                <c:pt idx="5">
                  <c:v>0.000009375</c:v>
                </c:pt>
                <c:pt idx="6">
                  <c:v>0.000001</c:v>
                </c:pt>
                <c:pt idx="7">
                  <c:v>0.000001</c:v>
                </c:pt>
                <c:pt idx="8">
                  <c:v>0.000001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14D87"/>
                    </a:solidFill>
                    <a:latin typeface="+mn-lt"/>
                  </a:defRPr>
                </a:pPr>
                <a:r>
                  <a:rPr sz="1200" b="0" i="0" u="none" strike="noStrike">
                    <a:solidFill>
                      <a:srgbClr val="414D87"/>
                    </a:solidFill>
                    <a:latin typeface="+mn-lt"/>
                  </a:rPr>
                  <a:t>Eb/N0 [dB]</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14D87"/>
                </a:solidFill>
                <a:latin typeface="+mn-lt"/>
              </a:defRPr>
            </a:pPr>
            <a:endParaRPr lang="en-US"/>
          </a:p>
        </c:txPr>
        <c:crossAx val="2094734552"/>
        <c:crosses val="autoZero"/>
        <c:auto val="1"/>
        <c:lblAlgn val="ctr"/>
        <c:noMultiLvlLbl val="1"/>
      </c:catAx>
      <c:valAx>
        <c:axId val="2094734552"/>
        <c:scaling>
          <c:logBase val="10"/>
          <c:orientation val="minMax"/>
          <c:max val="1"/>
          <c:min val="0.000001"/>
        </c:scaling>
        <c:delete val="0"/>
        <c:axPos val="l"/>
        <c:majorGridlines>
          <c:spPr>
            <a:ln w="9525" cap="flat">
              <a:solidFill>
                <a:srgbClr val="E4DFF0"/>
              </a:solidFill>
              <a:prstDash val="solid"/>
              <a:round/>
            </a:ln>
          </c:spPr>
        </c:majorGridlines>
        <c:title>
          <c:tx>
            <c:rich>
              <a:bodyPr/>
              <a:lstStyle/>
              <a:p>
                <a:pPr>
                  <a:defRPr sz="1200" b="0" i="0" u="none" strike="noStrike">
                    <a:solidFill>
                      <a:srgbClr val="414D87"/>
                    </a:solidFill>
                    <a:latin typeface="+mn-lt"/>
                  </a:defRPr>
                </a:pPr>
                <a:r>
                  <a:rPr sz="1200" b="0" i="0" u="none" strike="noStrike">
                    <a:solidFill>
                      <a:srgbClr val="414D87"/>
                    </a:solidFill>
                    <a:latin typeface="+mn-lt"/>
                  </a:rPr>
                  <a:t>BER</a:t>
                </a:r>
              </a:p>
            </c:rich>
          </c:tx>
          <c:layout/>
          <c:overlay val="0"/>
        </c:title>
        <c:numFmt formatCode="0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14D8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14D8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C246C"/>
                </a:solidFill>
                <a:latin typeface="+mn-lt"/>
              </a:defRPr>
            </a:pPr>
            <a:r>
              <a:rPr sz="1400" b="0" i="0" u="none" strike="noStrike">
                <a:solidFill>
                  <a:srgbClr val="0C246C"/>
                </a:solidFill>
                <a:latin typeface="+mn-lt"/>
              </a:rPr>
              <a:t>Errores que ahorra MMSE frente a ZF</a:t>
            </a:r>
          </a:p>
        </c:rich>
      </c:tx>
      <c:layout/>
      <c:overlay val="0"/>
    </c:title>
    <c:autoTitleDeleted val="0"/>
    <c:plotArea>
      <c:layout/>
      <c:barChart>
        <c:barDir val="col"/>
        <c:grouping val="clustered"/>
        <c:varyColors val="0"/>
        <c:ser>
          <c:idx val="0"/>
          <c:order val="0"/>
          <c:tx>
            <c:strRef>
              <c:f>Sheet1!$B$1</c:f>
              <c:strCache>
                <c:ptCount val="1"/>
                <c:pt idx="0">
                  <c:v>Menos errores de MMSE frente a ZF</c:v>
                </c:pt>
              </c:strCache>
            </c:strRef>
          </c:tx>
          <c:spPr>
            <a:solidFill>
              <a:srgbClr val="5A4FD6"/>
            </a:solidFill>
            <a:effectLst/>
          </c:spPr>
          <c:invertIfNegative val="0"/>
          <c:dLbls>
            <c:numFmt formatCode="0.0&quot;%&quot;" sourceLinked="0"/>
            <c:txPr>
              <a:bodyPr/>
              <a:lstStyle/>
              <a:p>
                <a:pPr>
                  <a:defRPr b="1" i="0" strike="noStrike" sz="1400" u="none">
                    <a:solidFill>
                      <a:srgbClr val="0C246C"/>
                    </a:solidFill>
                    <a:latin typeface="+mn-lt"/>
                  </a:defRPr>
                </a:pPr>
              </a:p>
            </c:txPr>
            <c:showLegendKey val="0"/>
            <c:showVal val="1"/>
            <c:showCatName val="0"/>
            <c:showSerName val="0"/>
            <c:showPercent val="0"/>
            <c:showBubbleSize val="0"/>
            <c:showLeaderLines val="0"/>
          </c:dLbls>
          <c:cat>
            <c:multiLvlStrRef>
              <c:f>Sheet1!$A$2:$A$7</c:f>
              <c:multiLvlStrCache>
                <c:ptCount val="6"/>
                <c:lvl>
                  <c:pt idx="0">
                    <c:v>4 dB</c:v>
                  </c:pt>
                  <c:pt idx="1">
                    <c:v>6 dB</c:v>
                  </c:pt>
                  <c:pt idx="2">
                    <c:v>8 dB</c:v>
                  </c:pt>
                  <c:pt idx="3">
                    <c:v>10 dB</c:v>
                  </c:pt>
                  <c:pt idx="4">
                    <c:v>12 dB</c:v>
                  </c:pt>
                  <c:pt idx="5">
                    <c:v>14 dB</c:v>
                  </c:pt>
                </c:lvl>
              </c:multiLvlStrCache>
            </c:multiLvlStrRef>
          </c:cat>
          <c:val>
            <c:numRef>
              <c:f>Sheet1!$B$2:$B$7</c:f>
              <c:numCache>
                <c:formatCode>General</c:formatCode>
                <c:ptCount val="6"/>
                <c:pt idx="0">
                  <c:v>20.7</c:v>
                </c:pt>
                <c:pt idx="1">
                  <c:v>20.1</c:v>
                </c:pt>
                <c:pt idx="2">
                  <c:v>18.4</c:v>
                </c:pt>
                <c:pt idx="3">
                  <c:v>21.2</c:v>
                </c:pt>
                <c:pt idx="4">
                  <c:v>6.1</c:v>
                </c:pt>
                <c:pt idx="5">
                  <c:v>0</c:v>
                </c:pt>
              </c:numCache>
            </c:numRef>
          </c:val>
        </c:ser>
        <c:dLbls>
          <c:numFmt formatCode="0.0&quot;%&quot;" sourceLinked="0"/>
          <c:txPr>
            <a:bodyPr/>
            <a:lstStyle/>
            <a:p>
              <a:pPr>
                <a:defRPr b="1" i="0" strike="noStrike" sz="1400" u="none">
                  <a:solidFill>
                    <a:srgbClr val="0C246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414D87"/>
                    </a:solidFill>
                    <a:latin typeface="+mn-lt"/>
                  </a:defRPr>
                </a:pPr>
                <a:r>
                  <a:rPr sz="1200" b="0" i="0" u="none" strike="noStrike">
                    <a:solidFill>
                      <a:srgbClr val="414D87"/>
                    </a:solidFill>
                    <a:latin typeface="+mn-lt"/>
                  </a:rPr>
                  <a:t>Eb/N0</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14D87"/>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E4DF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14D87"/>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[Presentan los tres, empieza David] 0:15 · Cada uno dice su nombre y qué bloque presenta (David: sistema y primeros experimentos; Antony: comparación de ecualizadores y robustez; Luis: conclusión, GNU Radio y demo). No leer el título.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David · bloque 1 de 3: sistema, Exp. 1 y 2, LMS frente a RLS]
0:30 · La guía pregunta qué arquitectura da el mejor compromiso entre desempeño, robustez y complejidad. Respondemos con tablas, pero sobre todo con un banco de pruebas: cada etapa del enlace es un punto donde se puede mirar la señal. Los tres números: 8 puntos de derivación, 5 ecualizadores (la guía pide 2), 7 experimentos (la guía pide 5). La tira de abajo es la cadena real de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David · bloque 1 de 3: sistema, Exp. 1 y 2, LMS frente a RLS]
1:30 · Solo el diagrama, sin teoría. Arriba el transmisor y el canal; abajo el receptor, que se lee de derecha a izquierda siguiendo las flechas. Cubre los 12 requisitos mínimos de la guía. El ecualizador está resaltado porque es el bloque que se compara en el Experimento 3. Las tres cajas de abajo resumen lo que la guía pide variar: perturbaciones, modulaciones y estrategias de ecualización.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David · bloque 1 de 3: sistema, Exp. 1 y 2, LMS frente a RLS]
1:00 · La guía pide A, B y C; añadimos D (Rayleigh). Parámetros de src/comm2/scenarios.py y channel.py, justificados en docs/parametros.md. Puntos a decir: B aísla la ISI; C usa un CFO de 0,3 % de Rs (375 Hz), dentro del límite de Schmidl-Cox Rs/(2L) = 0,78 %; fD/Rs = 2·10⁻⁴ equivale a unos 25 Hz, un móvil a 13 km/h en 2,1 GHz. Los perfiles de multitrayecto se normalizan a Σ|g|²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David · bloque 1 de 3: sistema, Exp. 1 y 2, LMS frente a RLS]
1:15 · Escenario A. La referencia teórica para QPSK con mapeo Gray es Pb = Q(√(2·Eb/N0)); para 16-QAM, la aproximación de Gray. La razón simulada/teórica es 1,10 (QPSK) y 1,15 (16-QAM) en la mediana; el máximo 1,61 sale en puntos con pocos errores, donde la banda de confianza (sombreada) es ancha. Esto valida la cadena completa y, sobre todo, la normalización de energía: σ² = 1/(k·Eb/N0), independiente del sobremuestreo. Si no coincidiera aquí, nada de lo que sigue valdría.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David · bloque 1 de 3: sistema, Exp. 1 y 2, LMS frente a RLS]
2:00 · Cuatro perfiles de canal, mismo Eb/N0. Plano: ojo abierto. Leve: aún abierto. Moderado: el ojo se cierra (apertura 0,115) y la BER salta a 6·10⁻². Severo (eco casi coherente): BER 0,46, prácticamente al azar. Explicación física: los ecos desplazan copias del símbolo sobre los vecinos; con retardo mayor que una fracción de T la suma ya no cae en un cruce limpio por cero. Matiz honesto: Σ|g|² = 1 mantiene la energía de los ecos, pero con ecos fraccionales la potencia útil no se conserva exacta (Pout/Pin de 0,79 en moderado), así que la SNR real es del orden de 1 dB menor que la rotulada. EVM &gt; 100 % en el severo solo indica que el receptor no engancha.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David · bloque 1 de 3: sistema, Exp. 1 y 2, LMS frente a RLS]
2:30 · Escenario B, canal moderado, 14 dB. A la izquierda, las curvas de aprendizaje: el entrenamiento termina en el símbolo 512 y pasa a modo dirigido por decisión. RLS llega a −9 dB de MSE en 60 símbolos y LMS en 78. Teoría, solo aquí: RLS propaga una matriz N×N (la inversa de la covarianza, recursión de Riccati), por eso es O(N²): 7392 multiplicaciones reales por símbolo frente a 168 del LMS con N = 21. Sensibilidad: con μ = 0,02 el LMS queda en BER 2,2·10⁻³ y con μ = 0,5 en 2,5·10⁻⁵. En RLS, λ = 1 (sin olvido) pierde 6 dB de MSE residual: −6,0 frente a −12,5 dB con λ = 0,995. Trampa conocida: hay que simetrizar P en cada paso o el RLS diverge.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David · bloque 1 de 3: sistema, Exp. 1 y 2, LMS frente a RLS]
1:00 · Escenario B, canal moderado, QPSK, de 4 a 20 dB. Sin ecualizar la BER apenas baja: de 0,13 a 0,053 entre 4 y 20 dB, porque el error lo domina la ISI, no el ruido; más potencia no lo arregla. Con cualquier ecualizador la curva cae: a 12 dB los cinco métodos ya están por debajo de 10⁻³ (LMS 8,4·10⁻⁴, RLS 4,3·10⁻⁴, ZF 4,1·10⁻⁴, MMSE 3,9·10⁻⁴, CMA 8,6·10⁻⁴) y a 14 dB están en el orden de 10⁻⁵. Dato incómodo que conviene decir nosotros: a 6 dB el LMS comete más errores que no ecualizar (0,156 frente a 0,105). Los puntos pegados al suelo del gráfico son cero errores observados (&lt; 10⁻⁶ con 640 000 bits), no BER cero.
PASE a Antony: «Ya vimos que con cualquier ecualizador la BER baja de 10⁻³ a 12 dB. Antony va a mostrar en qué se diferencian ZF y MMSE y qué pasa cuando el canal se complica.»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Antony · bloque 2 de 3: ZF frente a MMSE, robustez, Rayleigh y modulación]
ENTRADA: David acaba de comparar LMS y RLS y de mostrar las curvas de BER. Abre con ZF frente a MMSE.
2:30 · Escenario B, canal moderado, QPSK. Teoría, solo aquí: ZF invierte el canal y por eso amplifica el ruido justo donde el canal tiene nulos; MMSE suma σ² a la inversión, f = (AᴴA + σ²I)⁻¹Aᴴδ, y renuncia a anular toda la ISI para no amplificar ruido. Las barras muestran qué fracción de los errores de ZF se ahorra MMSE: entre 4 y 10 dB cerca de un 20 % (a 6 dB, 3,65·10⁻² frente a 4,56·10⁻²; con miles de errores contados, los intervalos de confianza no se solapan). A 12 y 14 dB la diferencia cae a 6 % y 0 %: ahí hay 124–132 y 3 errores, y es ruido estadístico. Dos cosas que decir sin que nos las pregunten: (1) ZF y MMSE se diseñan con el canal CONOCIDO, mientras LMS y RLS lo aprenden del entrenamiento: la comparación mide el límite del diseño, no un receptor que estime el canal. (2) MMSE a 6 dB (3,6·10⁻²) también supera a RLS (4,0·10⁻²) y a CMA. Coste: ZF y MMSE son solo filtrado, 84 mult/símbolo.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Antony · bloque 2 de 3: ZF frente a MMSE, robustez, Rayleigh y modulación]
1:30 · Canal h = [0, 0,2, 1, 0, 0,8] a 14 dB, escrito a mano en la aplicación (Experimento 8). De izquierda a derecha: el canal que ve el receptor, el ecualizador LMS que se aprende, el producto canal·ecualizador, que se parece a un impulso con ISI residual de −15,2 dB, y la respuesta en frecuencia: donde el canal cae, el ecualizador sube, y por eso amplifica el ruido +1,0 dB. Sin ecualizar la ISI relativa es −1,6 dB (la ISI casi iguala a la señal) y la BER es 0,136 (5424 errores en 40 000 bits); con LMS, 2,75·10⁻⁴ (11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Antony · bloque 2 de 3: ZF frente a MMSE, robustez, Rayleigh y modulación]
2:45 · Eb/N0 = 14 dB. Panel izquierdo: dispersión de retardo hasta 1,15 T; sin ecualizar la BER llega a 0,35, con LMS o RLS queda cerca de 2·10⁻⁵. Panel derecho: offset de frecuencia. Hasta 0,6 % de Rs el RLS se mantiene en ~10⁻⁵; a 0,8 % se rompe (BER 0,5). El límite medido es 0,80 % de Rs y el teórico de Schmidl-Cox es Rs/(2L) = 0,78 %: con dos mitades idénticas de longitud L, la fase gira más de π entre ellas y la estimación se ambigua. También medimos fase (0–180°) y error de reloj (hasta 200 ppm): BER por debajo de 10⁻⁴ con RLS. Y la longitud de entrenamiento: con 64 símbolos el RLS ya baja de 10⁻⁶. Marcadores huecos = cero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Antony · bloque 2 de 3: ZF frente a MMSE, robustez, Rayleigh y modulación]
1:00 · Barrido del factor de olvido λ para cinco velocidades de fading (fD/Rs). Con fD/Rs = 5·10⁻⁵ el RLS con λ = 0,99 llega a 4,8·10⁻³ y con λ = 0,9999 sube a 0,25: 52 veces más errores. La memoria efectiva del RLS es 1/(1−λ) símbolos: 100 con 0,99, 10 000 con 0,9999; con memoria larga promedia sobre un canal que ya cambió. Con fD/Rs ≥ 10⁻³ la BER queda cerca de 0,5 con cualquier λ: el ecualizador ya no sigue al canal. La curva azul (fD = 0) sube al reducir λ: olvidar rápido cuesta ruido de estimación. Compromiso entre seguimiento y 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Antony · bloque 2 de 3: ZF frente a MMSE, robustez, Rayleigh y modulación]
2:00 · QPSK frente a 8PSK, 16-QAM y 64-QAM. Panel izquierdo: AWGN sin ecualizar; las simulaciones siguen a la teoría (líneas de trazos). Panel central: escenario C con RLS; sube todo y 64-QAM no llega a 10⁻³. Panel derecho: Eb/N0 necesario para BER = 10⁻³ frente a eficiencia espectral. Las tarjetas: en A, QPSK 6,7 dB, 8PSK 10,2, 16-QAM 10,7, 64-QAM 15,0, todos a menos de 0,2 dB de la teoría. En C la penalización es +4,4 dB (QPSK) y +7,6 dB (16-QAM). 64-QAM no alcanza 10⁻³: la ISI residual de un ecualizador lineal de 21 taps es −12 dB y 64-QAM exige unos −20 dB; haría falta DFE o MLSE. Es un resultado medido, no un fallo.
PASE a Luis: «Con todo esto, ¿qué receptor recomendamos? Luis responde a la pregunta central y lo muestra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Luis · bloque 3 de 3: pregunta central, aportes, GNU Radio, demo y conclusiones]
ENTRADA: Antony termina con el costo de subir el orden de modulación. Abre con la pregunta de la guía y la tabla de compromiso.
1:30 · Respuesta directa a la pregunta de la guía. La tabla junta lo medido: BER a 8 y 14 dB, convergencia a −9 dB de MSE, coste por símbolo y qué necesita cada método. Tres recetas: (1) con entrenamiento y Eb/N0 ≥ 12 dB, LMS: BER 8,4·10⁻⁴ por 168 multiplicaciones; los cuatro métodos llegan a 10⁻³ a 12 dB. (2) Con SNR baja (a 8 dB LMS 3,3·10⁻² frente a RLS 1,5·10⁻²) o canal lento que varía (Experimento 4.7), RLS, pagando 44× en cómputo. (3) Si el canal se conoce o se estima aparte, MMSE: mejor BER con 84 multiplicaciones; ZF solo lo iguala a SNR alta. CMA sirve cuando no hay entrenamiento, pero converge en ~1300 símbolos. Alcance: escenario B, canal moderado, QPSK.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Luis · bloque 3 de 3: pregunta central, aportes, GNU Radio, demo y conclusiones]
1:15 · Imágenes exportadas de la aplicación (escenario C, QPSK, 12 dB, LMS). Los cinco puntos de derivación contienen los mismos símbolos de carga útil, índice a índice: eso permite animar la constelación de una etapa a la siguiente y que la animación signifique algo. A la izquierda, el EVM baja de 77,1 % a 31,1 % al ecualizar. A la derecha, el ojo tras el filtro adaptado (apertura 0,118) y después del LMS (0,365); el segundo se obtiene aplicando los coeficientes del ecualizador a la señal sobremuestreada, no reconstruyendo desde símbolos. Esto es lo que ningún PDF puede mostrar.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Luis · bloque 3 de 3: pregunta central, aportes, GNU Radio, demo y conclusiones]
0:45 · Recorrer rápido, una frase por tarjeta. La más importante para la nota es la sexta combinada con la quinta: pantalla e informe dicen lo mismo porque llaman a la misma función, y GNU Radio se conecta por ficheros, sin acoplar los dos entornos de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Luis · bloque 3 de 3: pregunta central, aportes, GNU Radio, demo y conclusiones]
2:00 · Experimento elegido: escenario B con QPSK (el Experimento 2), a 12 dB; Python 3.11 y GNU Radio 3.10.9.2 por subproceso, comunicados solo por ficheros complex64. El flowgraph validacion_gnuradio.grc compila con grcc y se ejecuta sin ventanas en unos 6 s. Transmisor: −142,9 dB muestra a muestra, el redondeo de float32; ancho de banda al 99 % idéntico; BER 6,25·10⁻⁴ (5/8000) en ambos; EVM 30,8 % frente a 31,5 %. Lo honesto: el receptor de GNU Radio NO es el de Python. Falla en escenario C porque no tiene corrección gruesa de CFO (Schmidl-Cox), y queda peor en 16-QAM (Costas de orden 4) y a SNR baja. La validación cubre TX y canal en todos los casos y el receptor solo donde coinciden los algoritmos. No reproduce Rayleigh ni retardo fraccional.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Luis · bloque 3 de 3: pregunta central, aportes, GNU Radio, demo y conclusiones]
3:15 · Abrir con «Banco de pruebas.bat» (la ventana aparece en ~6 s); hacerlo ANTES de empezar la charla. Cada paso tiene su tiempo. Paso 3 es el importante: seleccionar etapa por etapa en la barra del camino de la señal; ahí se ve dónde se degrada y dónde se recupera. Paso 4: en LMS↔RLS mostrar convergencia y coste (168 frente a 7392). Paso 5: en Análisis → ISI y ecualizador, escribir h = 0,0.2,1,0,0.8. Plan B si falla la ventana: python -m app --export salida --escenario C --ebn0 12 --eq lms genera 14 imágenes y medidas.csv sin interfaz; ya hay una carpeta exportada. El flowgraph de GNU Radio se abre con «Abrir en GNU Radio.bat» solo si preguntan.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Luis · bloque 3 de 3: pregunta central, aportes, GNU Radio, demo y conclusiones]
1:30 · Conclusiones primero, límites después, con honestidad. (1) Ecualizar es indispensable: en canal moderado la BER pasa de 6·10⁻² a por debajo de 10⁻⁴. (2) El algoritmo se elige por SNR, variación del canal y presupuesto de cómputo: LMS, RLS o MMSE según el caso. (3) Cada orden de modulación cuesta potencia, y el canal real cobra más: +7,6 dB en 16-QAM en el escenario C. Límites: solo ecualizadores lineales, sin DFE ni MLSE: ésa es la razón medida de que 64-QAM no llegue a 10⁻³ en C. Sin codificación de canal: todas las BER son sin codificar. ZF y MMSE usan el canal conocido. Y el receptor de GNU Radio no replica al de Python en el escenario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Si preguntan por algo no cubierto, ir a la diapositiva de respaldo (métricas).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respaldo, no se presenta. Corrida de la aplicación: escenario C, QPSK, Eb/N0 = 12 dB, perfil moderado, LMS de 21 taps (medidas.csv). BER teórica AWGN 9,0·10⁻⁹. La BER medida 3,75·10⁻⁴ son 3 errores en 8000 bits, es decir, una estimación gruesa. Apertura del ojo en las 8 etapas: 1,000 / 0,767 / 0,090 / 0,118 / 0,106 / 0,087 / 0,467 / 0,483.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tx2"/>
                </a:solidFill>
              </a:rPr>
              <a:t>Proyecto 1 · Comunicaciones II 2026</a:t>
            </a:r>
            <a:endParaRPr lang="en-US" sz="1000" dirty="0"/>
          </a:p>
        </p:txBody>
      </p:sp>
      <p:sp>
        <p:nvSpPr>
          <p:cNvPr id="3" name="Text 1"/>
          <p:cNvSpPr/>
          <p:nvPr>
            <p:ph idx="101" type="body" hasCustomPrompt="1"/>
          </p:nvPr>
        </p:nvSpPr>
        <p:spPr>
          <a:xfrm>
            <a:off x="548640" y="347472"/>
            <a:ext cx="9144000" cy="274320"/>
          </a:xfrm>
          <a:prstGeom prst="rect">
            <a:avLst/>
          </a:prstGeom>
          <a:noFill/>
          <a:ln/>
        </p:spPr>
        <p:txBody>
          <a:bodyPr wrap="square" rtlCol="0"/>
          <a:lstStyle>
            <a:lvl1pPr indent="0" marL="0">
              <a:buNone/>
              <a:defRPr lang="en-US" sz="1200" b="1" spc="200" kern="0" dirty="0">
                <a:solidFill>
                  <a:schemeClr val="tx2"/>
                </a:solidFill>
              </a:defRPr>
            </a:lvl1pPr>
          </a:lstStyle>
          <a:p>
            <a:pPr indent="0" marL="0">
              <a:buNone/>
            </a:pPr>
            <a:endParaRPr lang="en-US" sz="1200" dirty="0"/>
          </a:p>
        </p:txBody>
      </p:sp>
      <p:sp>
        <p:nvSpPr>
          <p:cNvPr id="4" name="Text 1"/>
          <p:cNvSpPr/>
          <p:nvPr>
            <p:ph idx="102" type="title" hasCustomPrompt="1"/>
          </p:nvPr>
        </p:nvSpPr>
        <p:spPr>
          <a:xfrm>
            <a:off x="548640" y="640080"/>
            <a:ext cx="11094415"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ENZO">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lustración" descr="Ilustración de torres de telecomunicaciones y un teléfono con señal 5G">    </p:cNvPr>
          <p:cNvPicPr>
            <a:picLocks noChangeAspect="1"/>
          </p:cNvPicPr>
          <p:nvPr/>
        </p:nvPicPr>
        <p:blipFill>
          <a:blip r:embed="rId1"/>
          <a:srcRect l="0" r="0" t="0" b="0"/>
          <a:stretch/>
        </p:blipFill>
        <p:spPr>
          <a:xfrm>
            <a:off x="0" y="0"/>
            <a:ext cx="12191695" cy="6858000"/>
          </a:xfrm>
          <a:prstGeom prst="rect">
            <a:avLst/>
          </a:prstGeom>
        </p:spPr>
      </p:pic>
      <p:sp>
        <p:nvSpPr>
          <p:cNvPr id="3" name="portada"/>
          <p:cNvSpPr/>
          <p:nvPr/>
        </p:nvSpPr>
        <p:spPr>
          <a:xfrm>
            <a:off x="548640" y="1234440"/>
            <a:ext cx="6492240" cy="4297680"/>
          </a:xfrm>
          <a:prstGeom prst="roundRect">
            <a:avLst>
              <a:gd name="adj" fmla="val 2128"/>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4" name="Text 1"/>
          <p:cNvSpPr txBox="1"/>
          <p:nvPr/>
        </p:nvSpPr>
        <p:spPr>
          <a:xfrm>
            <a:off x="914400" y="1554480"/>
            <a:ext cx="5852160" cy="274320"/>
          </a:xfrm>
          <a:prstGeom prst="rect">
            <a:avLst/>
          </a:prstGeom>
          <a:noFill/>
          <a:ln/>
        </p:spPr>
        <p:txBody>
          <a:bodyPr wrap="square" lIns="0" tIns="0" rIns="0" bIns="0" rtlCol="0" anchor="ctr"/>
          <a:lstStyle/>
          <a:p>
            <a:pPr indent="0" marL="0">
              <a:buNone/>
            </a:pPr>
            <a:r>
              <a:rPr lang="en-US" sz="1200" b="1" spc="200" kern="0" dirty="0">
                <a:solidFill>
                  <a:schemeClr val="tx2"/>
                </a:solidFill>
              </a:rPr>
              <a:t>PROYECTO 1 · COMUNICACIONES II 2026</a:t>
            </a:r>
            <a:endParaRPr lang="en-US" sz="1200" dirty="0"/>
          </a:p>
        </p:txBody>
      </p:sp>
      <p:sp>
        <p:nvSpPr>
          <p:cNvPr id="5" name="Text 2"/>
          <p:cNvSpPr txBox="1"/>
          <p:nvPr/>
        </p:nvSpPr>
        <p:spPr>
          <a:xfrm>
            <a:off x="914400" y="1920240"/>
            <a:ext cx="5852160" cy="1737360"/>
          </a:xfrm>
          <a:prstGeom prst="rect">
            <a:avLst/>
          </a:prstGeom>
          <a:noFill/>
          <a:ln/>
        </p:spPr>
        <p:txBody>
          <a:bodyPr wrap="square" lIns="0" tIns="0" rIns="0" bIns="0" rtlCol="0" anchor="t"/>
          <a:lstStyle/>
          <a:p>
            <a:pPr indent="0" marL="0">
              <a:buNone/>
            </a:pPr>
            <a:r>
              <a:rPr lang="en-US" sz="3600" b="1" dirty="0">
                <a:solidFill>
                  <a:schemeClr val="tx1"/>
                </a:solidFill>
              </a:rPr>
              <a:t>Receptor digital adaptativo sobre un canal inalámbrico simulado</a:t>
            </a:r>
            <a:endParaRPr lang="en-US" sz="3600" dirty="0"/>
          </a:p>
        </p:txBody>
      </p:sp>
      <p:sp>
        <p:nvSpPr>
          <p:cNvPr id="6" name="Text 3"/>
          <p:cNvSpPr txBox="1"/>
          <p:nvPr/>
        </p:nvSpPr>
        <p:spPr>
          <a:xfrm>
            <a:off x="914400" y="3703320"/>
            <a:ext cx="5852160" cy="777240"/>
          </a:xfrm>
          <a:prstGeom prst="rect">
            <a:avLst/>
          </a:prstGeom>
          <a:noFill/>
          <a:ln/>
        </p:spPr>
        <p:txBody>
          <a:bodyPr wrap="square" lIns="0" tIns="0" rIns="0" bIns="0" rtlCol="0" anchor="t"/>
          <a:lstStyle/>
          <a:p>
            <a:pPr indent="0" marL="0">
              <a:buNone/>
            </a:pPr>
            <a:r>
              <a:rPr lang="en-US" sz="1600" dirty="0">
                <a:solidFill>
                  <a:schemeClr val="tx2"/>
                </a:solidFill>
              </a:rPr>
              <a:t>Diseño, simulación y evaluación de un enlace completo, con validación cruzada en GNU Radio</a:t>
            </a:r>
            <a:endParaRPr lang="en-US" sz="1600" dirty="0"/>
          </a:p>
        </p:txBody>
      </p:sp>
      <p:sp>
        <p:nvSpPr>
          <p:cNvPr id="7" name="Text 4"/>
          <p:cNvSpPr txBox="1"/>
          <p:nvPr/>
        </p:nvSpPr>
        <p:spPr>
          <a:xfrm>
            <a:off x="914400" y="4617720"/>
            <a:ext cx="5852160" cy="640080"/>
          </a:xfrm>
          <a:prstGeom prst="rect">
            <a:avLst/>
          </a:prstGeom>
          <a:noFill/>
          <a:ln/>
        </p:spPr>
        <p:txBody>
          <a:bodyPr wrap="square" lIns="0" tIns="0" rIns="0" bIns="0" rtlCol="0" anchor="ctr"/>
          <a:lstStyle/>
          <a:p>
            <a:pPr indent="0" marL="0">
              <a:buNone/>
            </a:pPr>
            <a:r>
              <a:rPr lang="en-US" sz="1400" b="1" dirty="0">
                <a:solidFill>
                  <a:schemeClr val="tx1"/>
                </a:solidFill>
              </a:rPr>
              <a:t>David · Luis Rey Gonzalez · Antony</a:t>
            </a:r>
            <a:endParaRPr lang="en-US" sz="1400" dirty="0"/>
          </a:p>
          <a:p>
            <a:pPr indent="0" marL="0">
              <a:buNone/>
            </a:pPr>
            <a:r>
              <a:rPr lang="en-US" sz="1400" dirty="0">
                <a:solidFill>
                  <a:schemeClr val="tx1"/>
                </a:solidFill>
              </a:rPr>
              <a:t>Prof. Dr. Ing. Carlos A. Medina 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IDEA CENTRAL</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Un receptor que se puede ver trabajar</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Cadena completa</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accent1"/>
          </a:solidFill>
          <a:ln w="12700">
            <a:solidFill>
              <a:schemeClr val="accent1"/>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David</a:t>
            </a:r>
            <a:endParaRPr lang="en-US" sz="1200" dirty="0"/>
          </a:p>
        </p:txBody>
      </p:sp>
      <p:sp>
        <p:nvSpPr>
          <p:cNvPr id="17" name="Text 14"/>
          <p:cNvSpPr txBox="1"/>
          <p:nvPr/>
        </p:nvSpPr>
        <p:spPr>
          <a:xfrm>
            <a:off x="548640" y="1645920"/>
            <a:ext cx="4846320" cy="2286000"/>
          </a:xfrm>
          <a:prstGeom prst="rect">
            <a:avLst/>
          </a:prstGeom>
          <a:noFill/>
          <a:ln/>
        </p:spPr>
        <p:txBody>
          <a:bodyPr wrap="square" lIns="0" tIns="0" rIns="0" bIns="0" rtlCol="0" anchor="t"/>
          <a:lstStyle/>
          <a:p>
            <a:pPr indent="0" marL="0">
              <a:spcAft>
                <a:spcPts val="1400"/>
              </a:spcAft>
              <a:buNone/>
            </a:pPr>
            <a:r>
              <a:rPr lang="en-US" sz="1800" dirty="0">
                <a:solidFill>
                  <a:schemeClr val="tx1"/>
                </a:solidFill>
              </a:rPr>
              <a:t>La guía pregunta qué receptor da el mejor compromiso entre desempeño, robustez y complejidad.</a:t>
            </a:r>
            <a:endParaRPr lang="en-US" sz="1800" dirty="0"/>
          </a:p>
          <a:p>
            <a:pPr indent="0" marL="0">
              <a:buNone/>
            </a:pPr>
            <a:r>
              <a:rPr lang="en-US" sz="1800" b="1" dirty="0">
                <a:solidFill>
                  <a:schemeClr val="tx1"/>
                </a:solidFill>
              </a:rPr>
              <a:t>Respondemos con datos, y con un banco de pruebas donde cada etapa del enlace se puede mirar por dentro.</a:t>
            </a:r>
            <a:endParaRPr lang="en-US" sz="1800" dirty="0"/>
          </a:p>
        </p:txBody>
      </p:sp>
      <p:sp>
        <p:nvSpPr>
          <p:cNvPr id="18" name="dato"/>
          <p:cNvSpPr/>
          <p:nvPr/>
        </p:nvSpPr>
        <p:spPr>
          <a:xfrm>
            <a:off x="5669280" y="1645920"/>
            <a:ext cx="1892808" cy="2286000"/>
          </a:xfrm>
          <a:prstGeom prst="roundRect">
            <a:avLst>
              <a:gd name="adj" fmla="val 483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19" name="Text 16"/>
          <p:cNvSpPr txBox="1"/>
          <p:nvPr/>
        </p:nvSpPr>
        <p:spPr>
          <a:xfrm>
            <a:off x="5897880" y="1755648"/>
            <a:ext cx="1435608" cy="1005840"/>
          </a:xfrm>
          <a:prstGeom prst="rect">
            <a:avLst/>
          </a:prstGeom>
          <a:noFill/>
          <a:ln/>
        </p:spPr>
        <p:txBody>
          <a:bodyPr wrap="square" lIns="0" tIns="0" rIns="0" bIns="0" rtlCol="0" anchor="ctr"/>
          <a:lstStyle/>
          <a:p>
            <a:pPr indent="0" marL="0">
              <a:buNone/>
            </a:pPr>
            <a:r>
              <a:rPr lang="en-US" sz="5400" b="1" dirty="0">
                <a:solidFill>
                  <a:schemeClr val="accent1"/>
                </a:solidFill>
              </a:rPr>
              <a:t>8</a:t>
            </a:r>
            <a:endParaRPr lang="en-US" sz="5400" dirty="0"/>
          </a:p>
        </p:txBody>
      </p:sp>
      <p:sp>
        <p:nvSpPr>
          <p:cNvPr id="20" name="Text 17"/>
          <p:cNvSpPr txBox="1"/>
          <p:nvPr/>
        </p:nvSpPr>
        <p:spPr>
          <a:xfrm>
            <a:off x="5897880" y="2761488"/>
            <a:ext cx="1435608" cy="1005840"/>
          </a:xfrm>
          <a:prstGeom prst="rect">
            <a:avLst/>
          </a:prstGeom>
          <a:noFill/>
          <a:ln/>
        </p:spPr>
        <p:txBody>
          <a:bodyPr wrap="square" lIns="0" tIns="0" rIns="0" bIns="0" rtlCol="0" anchor="t"/>
          <a:lstStyle/>
          <a:p>
            <a:pPr indent="0" marL="0">
              <a:buNone/>
            </a:pPr>
            <a:r>
              <a:rPr lang="en-US" sz="1400" dirty="0">
                <a:solidFill>
                  <a:schemeClr val="tx2"/>
                </a:solidFill>
              </a:rPr>
              <a:t>puntos del camino de la señal</a:t>
            </a:r>
            <a:endParaRPr lang="en-US" sz="1400" dirty="0"/>
          </a:p>
        </p:txBody>
      </p:sp>
      <p:sp>
        <p:nvSpPr>
          <p:cNvPr id="21" name="dato"/>
          <p:cNvSpPr/>
          <p:nvPr/>
        </p:nvSpPr>
        <p:spPr>
          <a:xfrm>
            <a:off x="7708392" y="1645920"/>
            <a:ext cx="1892808" cy="2286000"/>
          </a:xfrm>
          <a:prstGeom prst="roundRect">
            <a:avLst>
              <a:gd name="adj" fmla="val 483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2" name="Text 19"/>
          <p:cNvSpPr txBox="1"/>
          <p:nvPr/>
        </p:nvSpPr>
        <p:spPr>
          <a:xfrm>
            <a:off x="7936992" y="1755648"/>
            <a:ext cx="1435608" cy="1005840"/>
          </a:xfrm>
          <a:prstGeom prst="rect">
            <a:avLst/>
          </a:prstGeom>
          <a:noFill/>
          <a:ln/>
        </p:spPr>
        <p:txBody>
          <a:bodyPr wrap="square" lIns="0" tIns="0" rIns="0" bIns="0" rtlCol="0" anchor="ctr"/>
          <a:lstStyle/>
          <a:p>
            <a:pPr indent="0" marL="0">
              <a:buNone/>
            </a:pPr>
            <a:r>
              <a:rPr lang="en-US" sz="5400" b="1" dirty="0">
                <a:solidFill>
                  <a:schemeClr val="accent1"/>
                </a:solidFill>
              </a:rPr>
              <a:t>5</a:t>
            </a:r>
            <a:endParaRPr lang="en-US" sz="5400" dirty="0"/>
          </a:p>
        </p:txBody>
      </p:sp>
      <p:sp>
        <p:nvSpPr>
          <p:cNvPr id="23" name="Text 20"/>
          <p:cNvSpPr txBox="1"/>
          <p:nvPr/>
        </p:nvSpPr>
        <p:spPr>
          <a:xfrm>
            <a:off x="7936992" y="2761488"/>
            <a:ext cx="1435608" cy="1005840"/>
          </a:xfrm>
          <a:prstGeom prst="rect">
            <a:avLst/>
          </a:prstGeom>
          <a:noFill/>
          <a:ln/>
        </p:spPr>
        <p:txBody>
          <a:bodyPr wrap="square" lIns="0" tIns="0" rIns="0" bIns="0" rtlCol="0" anchor="t"/>
          <a:lstStyle/>
          <a:p>
            <a:pPr indent="0" marL="0">
              <a:buNone/>
            </a:pPr>
            <a:r>
              <a:rPr lang="en-US" sz="1400" dirty="0">
                <a:solidFill>
                  <a:schemeClr val="tx2"/>
                </a:solidFill>
              </a:rPr>
              <a:t>ecualizadores comparados; la guía pide 2</a:t>
            </a:r>
            <a:endParaRPr lang="en-US" sz="1400" dirty="0"/>
          </a:p>
        </p:txBody>
      </p:sp>
      <p:sp>
        <p:nvSpPr>
          <p:cNvPr id="24" name="dato"/>
          <p:cNvSpPr/>
          <p:nvPr/>
        </p:nvSpPr>
        <p:spPr>
          <a:xfrm>
            <a:off x="9747504" y="1645920"/>
            <a:ext cx="1892808" cy="2286000"/>
          </a:xfrm>
          <a:prstGeom prst="roundRect">
            <a:avLst>
              <a:gd name="adj" fmla="val 483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5" name="Text 22"/>
          <p:cNvSpPr txBox="1"/>
          <p:nvPr/>
        </p:nvSpPr>
        <p:spPr>
          <a:xfrm>
            <a:off x="9976104" y="1755648"/>
            <a:ext cx="1435608" cy="1005840"/>
          </a:xfrm>
          <a:prstGeom prst="rect">
            <a:avLst/>
          </a:prstGeom>
          <a:noFill/>
          <a:ln/>
        </p:spPr>
        <p:txBody>
          <a:bodyPr wrap="square" lIns="0" tIns="0" rIns="0" bIns="0" rtlCol="0" anchor="ctr"/>
          <a:lstStyle/>
          <a:p>
            <a:pPr indent="0" marL="0">
              <a:buNone/>
            </a:pPr>
            <a:r>
              <a:rPr lang="en-US" sz="5400" b="1" dirty="0">
                <a:solidFill>
                  <a:schemeClr val="accent1"/>
                </a:solidFill>
              </a:rPr>
              <a:t>7</a:t>
            </a:r>
            <a:endParaRPr lang="en-US" sz="5400" dirty="0"/>
          </a:p>
        </p:txBody>
      </p:sp>
      <p:sp>
        <p:nvSpPr>
          <p:cNvPr id="26" name="Text 23"/>
          <p:cNvSpPr txBox="1"/>
          <p:nvPr/>
        </p:nvSpPr>
        <p:spPr>
          <a:xfrm>
            <a:off x="9976104" y="2761488"/>
            <a:ext cx="1435608" cy="1005840"/>
          </a:xfrm>
          <a:prstGeom prst="rect">
            <a:avLst/>
          </a:prstGeom>
          <a:noFill/>
          <a:ln/>
        </p:spPr>
        <p:txBody>
          <a:bodyPr wrap="square" lIns="0" tIns="0" rIns="0" bIns="0" rtlCol="0" anchor="t"/>
          <a:lstStyle/>
          <a:p>
            <a:pPr indent="0" marL="0">
              <a:buNone/>
            </a:pPr>
            <a:r>
              <a:rPr lang="en-US" sz="1400" dirty="0">
                <a:solidFill>
                  <a:schemeClr val="tx2"/>
                </a:solidFill>
              </a:rPr>
              <a:t>experimentos: los 5 de la guía y 2 propios</a:t>
            </a:r>
            <a:endParaRPr lang="en-US" sz="1400" dirty="0"/>
          </a:p>
        </p:txBody>
      </p:sp>
      <p:sp>
        <p:nvSpPr>
          <p:cNvPr id="27" name="camino de la señal"/>
          <p:cNvSpPr/>
          <p:nvPr/>
        </p:nvSpPr>
        <p:spPr>
          <a:xfrm>
            <a:off x="548640" y="4160520"/>
            <a:ext cx="11094415" cy="2011680"/>
          </a:xfrm>
          <a:prstGeom prst="roundRect">
            <a:avLst>
              <a:gd name="adj" fmla="val 4545"/>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8" name="Text 25"/>
          <p:cNvSpPr txBox="1"/>
          <p:nvPr/>
        </p:nvSpPr>
        <p:spPr>
          <a:xfrm>
            <a:off x="822960" y="4297680"/>
            <a:ext cx="8229600" cy="274320"/>
          </a:xfrm>
          <a:prstGeom prst="rect">
            <a:avLst/>
          </a:prstGeom>
          <a:noFill/>
          <a:ln/>
        </p:spPr>
        <p:txBody>
          <a:bodyPr wrap="square" lIns="0" tIns="0" rIns="0" bIns="0" rtlCol="0" anchor="ctr"/>
          <a:lstStyle/>
          <a:p>
            <a:pPr indent="0" marL="0">
              <a:buNone/>
            </a:pPr>
            <a:r>
              <a:rPr lang="en-US" sz="1200" b="1" spc="100" kern="0" dirty="0">
                <a:solidFill>
                  <a:schemeClr val="tx2"/>
                </a:solidFill>
              </a:rPr>
              <a:t>CAMINO DE LA SEÑAL · CADA ETAPA ES UN PUNTO DE DERIVACIÓN</a:t>
            </a:r>
            <a:endParaRPr lang="en-US" sz="1200" dirty="0"/>
          </a:p>
        </p:txBody>
      </p:sp>
      <p:pic>
        <p:nvPicPr>
          <p:cNvPr id="29" name="cadena" descr="Cadena de ocho etapas: símbolos, RRC, canal, filtro adaptado, temporización, trama, ecualizador y PLL, con la apertura del ojo medida en cada punto">    </p:cNvPr>
          <p:cNvPicPr>
            <a:picLocks noChangeAspect="1"/>
          </p:cNvPicPr>
          <p:nvPr/>
        </p:nvPicPr>
        <p:blipFill>
          <a:blip r:embed="rId1"/>
          <a:stretch>
            <a:fillRect/>
          </a:stretch>
        </p:blipFill>
        <p:spPr>
          <a:xfrm>
            <a:off x="731520" y="4663440"/>
            <a:ext cx="10698480" cy="1196779"/>
          </a:xfrm>
          <a:prstGeom prst="rect">
            <a:avLst/>
          </a:prstGeom>
        </p:spPr>
      </p:pic>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SISTEMA · DISEÑO</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Un enlace completo, del bit a la BER</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Cadena completa</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accent1"/>
          </a:solidFill>
          <a:ln w="12700">
            <a:solidFill>
              <a:schemeClr val="accent1"/>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David</a:t>
            </a:r>
            <a:endParaRPr lang="en-US" sz="1200" dirty="0"/>
          </a:p>
        </p:txBody>
      </p:sp>
      <p:sp>
        <p:nvSpPr>
          <p:cNvPr id="17" name="bloque Secuencia digital"/>
          <p:cNvSpPr/>
          <p:nvPr/>
        </p:nvSpPr>
        <p:spPr>
          <a:xfrm>
            <a:off x="548640" y="1691640"/>
            <a:ext cx="1920240" cy="1234440"/>
          </a:xfrm>
          <a:prstGeom prst="roundRect">
            <a:avLst>
              <a:gd name="adj" fmla="val 5926"/>
            </a:avLst>
          </a:prstGeom>
          <a:solidFill>
            <a:schemeClr val="bg1"/>
          </a:solidFill>
          <a:ln w="15875">
            <a:solidFill>
              <a:schemeClr val="accent3"/>
            </a:solidFill>
            <a:prstDash val="solid"/>
          </a:ln>
        </p:spPr>
      </p:sp>
      <p:sp>
        <p:nvSpPr>
          <p:cNvPr id="18" name="Text 15"/>
          <p:cNvSpPr txBox="1"/>
          <p:nvPr/>
        </p:nvSpPr>
        <p:spPr>
          <a:xfrm>
            <a:off x="621792" y="1764792"/>
            <a:ext cx="1773936" cy="1088136"/>
          </a:xfrm>
          <a:prstGeom prst="rect">
            <a:avLst/>
          </a:prstGeom>
          <a:noFill/>
          <a:ln/>
        </p:spPr>
        <p:txBody>
          <a:bodyPr wrap="square" lIns="0" tIns="0" rIns="0" bIns="0" rtlCol="0" anchor="ctr"/>
          <a:lstStyle/>
          <a:p>
            <a:pPr algn="ctr" indent="0" marL="0">
              <a:buNone/>
            </a:pPr>
            <a:r>
              <a:rPr lang="en-US" sz="1300" b="1" dirty="0">
                <a:solidFill>
                  <a:schemeClr val="tx1"/>
                </a:solidFill>
              </a:rPr>
              <a:t>Secuencia digital</a:t>
            </a:r>
            <a:endParaRPr lang="en-US" sz="1300" dirty="0"/>
          </a:p>
          <a:p>
            <a:pPr algn="ctr" indent="0" marL="0">
              <a:buNone/>
            </a:pPr>
            <a:r>
              <a:rPr lang="en-US" sz="1100" dirty="0">
                <a:solidFill>
                  <a:schemeClr val="tx2"/>
                </a:solidFill>
              </a:rPr>
              <a:t>PRBS reproducible</a:t>
            </a:r>
            <a:endParaRPr lang="en-US" sz="1300" dirty="0"/>
          </a:p>
        </p:txBody>
      </p:sp>
      <p:sp>
        <p:nvSpPr>
          <p:cNvPr id="19" name="Shape 16"/>
          <p:cNvSpPr/>
          <p:nvPr/>
        </p:nvSpPr>
        <p:spPr>
          <a:xfrm>
            <a:off x="2505456" y="2308860"/>
            <a:ext cx="300152" cy="0"/>
          </a:xfrm>
          <a:prstGeom prst="line">
            <a:avLst/>
          </a:prstGeom>
          <a:noFill/>
          <a:ln w="19050">
            <a:solidFill>
              <a:schemeClr val="tx2"/>
            </a:solidFill>
            <a:prstDash val="solid"/>
            <a:tailEnd type="triangle"/>
          </a:ln>
        </p:spPr>
      </p:sp>
      <p:sp>
        <p:nvSpPr>
          <p:cNvPr id="20" name="bloque Trama"/>
          <p:cNvSpPr/>
          <p:nvPr/>
        </p:nvSpPr>
        <p:spPr>
          <a:xfrm>
            <a:off x="2842184" y="1691640"/>
            <a:ext cx="1920240" cy="1234440"/>
          </a:xfrm>
          <a:prstGeom prst="roundRect">
            <a:avLst>
              <a:gd name="adj" fmla="val 5926"/>
            </a:avLst>
          </a:prstGeom>
          <a:solidFill>
            <a:schemeClr val="bg1"/>
          </a:solidFill>
          <a:ln w="15875">
            <a:solidFill>
              <a:schemeClr val="accent3"/>
            </a:solidFill>
            <a:prstDash val="solid"/>
          </a:ln>
        </p:spPr>
      </p:sp>
      <p:sp>
        <p:nvSpPr>
          <p:cNvPr id="21" name="Text 18"/>
          <p:cNvSpPr txBox="1"/>
          <p:nvPr/>
        </p:nvSpPr>
        <p:spPr>
          <a:xfrm>
            <a:off x="2915336" y="1764792"/>
            <a:ext cx="1773936" cy="1088136"/>
          </a:xfrm>
          <a:prstGeom prst="rect">
            <a:avLst/>
          </a:prstGeom>
          <a:noFill/>
          <a:ln/>
        </p:spPr>
        <p:txBody>
          <a:bodyPr wrap="square" lIns="0" tIns="0" rIns="0" bIns="0" rtlCol="0" anchor="ctr"/>
          <a:lstStyle/>
          <a:p>
            <a:pPr algn="ctr" indent="0" marL="0">
              <a:buNone/>
            </a:pPr>
            <a:r>
              <a:rPr lang="en-US" sz="1300" b="1" dirty="0">
                <a:solidFill>
                  <a:schemeClr val="tx1"/>
                </a:solidFill>
              </a:rPr>
              <a:t>Trama</a:t>
            </a:r>
            <a:endParaRPr lang="en-US" sz="1300" dirty="0"/>
          </a:p>
          <a:p>
            <a:pPr algn="ctr" indent="0" marL="0">
              <a:buNone/>
            </a:pPr>
            <a:r>
              <a:rPr lang="en-US" sz="1100" dirty="0">
                <a:solidFill>
                  <a:schemeClr val="tx2"/>
                </a:solidFill>
              </a:rPr>
              <a:t>preámbulo ZC + entrenamiento</a:t>
            </a:r>
            <a:endParaRPr lang="en-US" sz="1300" dirty="0"/>
          </a:p>
        </p:txBody>
      </p:sp>
      <p:sp>
        <p:nvSpPr>
          <p:cNvPr id="22" name="Shape 19"/>
          <p:cNvSpPr/>
          <p:nvPr/>
        </p:nvSpPr>
        <p:spPr>
          <a:xfrm>
            <a:off x="4799000" y="2308860"/>
            <a:ext cx="300152" cy="0"/>
          </a:xfrm>
          <a:prstGeom prst="line">
            <a:avLst/>
          </a:prstGeom>
          <a:noFill/>
          <a:ln w="19050">
            <a:solidFill>
              <a:schemeClr val="tx2"/>
            </a:solidFill>
            <a:prstDash val="solid"/>
            <a:tailEnd type="triangle"/>
          </a:ln>
        </p:spPr>
      </p:sp>
      <p:sp>
        <p:nvSpPr>
          <p:cNvPr id="23" name="bloque Modulación"/>
          <p:cNvSpPr/>
          <p:nvPr/>
        </p:nvSpPr>
        <p:spPr>
          <a:xfrm>
            <a:off x="5135728" y="1691640"/>
            <a:ext cx="1920240" cy="1234440"/>
          </a:xfrm>
          <a:prstGeom prst="roundRect">
            <a:avLst>
              <a:gd name="adj" fmla="val 5926"/>
            </a:avLst>
          </a:prstGeom>
          <a:solidFill>
            <a:schemeClr val="bg1"/>
          </a:solidFill>
          <a:ln w="15875">
            <a:solidFill>
              <a:schemeClr val="accent3"/>
            </a:solidFill>
            <a:prstDash val="solid"/>
          </a:ln>
        </p:spPr>
      </p:sp>
      <p:sp>
        <p:nvSpPr>
          <p:cNvPr id="24" name="Text 21"/>
          <p:cNvSpPr txBox="1"/>
          <p:nvPr/>
        </p:nvSpPr>
        <p:spPr>
          <a:xfrm>
            <a:off x="5208880" y="1764792"/>
            <a:ext cx="1773936" cy="1088136"/>
          </a:xfrm>
          <a:prstGeom prst="rect">
            <a:avLst/>
          </a:prstGeom>
          <a:noFill/>
          <a:ln/>
        </p:spPr>
        <p:txBody>
          <a:bodyPr wrap="square" lIns="0" tIns="0" rIns="0" bIns="0" rtlCol="0" anchor="ctr"/>
          <a:lstStyle/>
          <a:p>
            <a:pPr algn="ctr" indent="0" marL="0">
              <a:buNone/>
            </a:pPr>
            <a:r>
              <a:rPr lang="en-US" sz="1300" b="1" dirty="0">
                <a:solidFill>
                  <a:schemeClr val="tx1"/>
                </a:solidFill>
              </a:rPr>
              <a:t>Modulación</a:t>
            </a:r>
            <a:endParaRPr lang="en-US" sz="1300" dirty="0"/>
          </a:p>
          <a:p>
            <a:pPr algn="ctr" indent="0" marL="0">
              <a:buNone/>
            </a:pPr>
            <a:r>
              <a:rPr lang="en-US" sz="1100" dirty="0">
                <a:solidFill>
                  <a:schemeClr val="tx2"/>
                </a:solidFill>
              </a:rPr>
              <a:t>QPSK y 16-QAM (Gray)</a:t>
            </a:r>
            <a:endParaRPr lang="en-US" sz="1300" dirty="0"/>
          </a:p>
        </p:txBody>
      </p:sp>
      <p:sp>
        <p:nvSpPr>
          <p:cNvPr id="25" name="Shape 22"/>
          <p:cNvSpPr/>
          <p:nvPr/>
        </p:nvSpPr>
        <p:spPr>
          <a:xfrm>
            <a:off x="7092544" y="2308860"/>
            <a:ext cx="300152" cy="0"/>
          </a:xfrm>
          <a:prstGeom prst="line">
            <a:avLst/>
          </a:prstGeom>
          <a:noFill/>
          <a:ln w="19050">
            <a:solidFill>
              <a:schemeClr val="tx2"/>
            </a:solidFill>
            <a:prstDash val="solid"/>
            <a:tailEnd type="triangle"/>
          </a:ln>
        </p:spPr>
      </p:sp>
      <p:sp>
        <p:nvSpPr>
          <p:cNvPr id="26" name="bloque Conformación"/>
          <p:cNvSpPr/>
          <p:nvPr/>
        </p:nvSpPr>
        <p:spPr>
          <a:xfrm>
            <a:off x="7429271" y="1691640"/>
            <a:ext cx="1920240" cy="1234440"/>
          </a:xfrm>
          <a:prstGeom prst="roundRect">
            <a:avLst>
              <a:gd name="adj" fmla="val 5926"/>
            </a:avLst>
          </a:prstGeom>
          <a:solidFill>
            <a:schemeClr val="bg1"/>
          </a:solidFill>
          <a:ln w="15875">
            <a:solidFill>
              <a:schemeClr val="accent3"/>
            </a:solidFill>
            <a:prstDash val="solid"/>
          </a:ln>
        </p:spPr>
      </p:sp>
      <p:sp>
        <p:nvSpPr>
          <p:cNvPr id="27" name="Text 24"/>
          <p:cNvSpPr txBox="1"/>
          <p:nvPr/>
        </p:nvSpPr>
        <p:spPr>
          <a:xfrm>
            <a:off x="7502423" y="1764792"/>
            <a:ext cx="1773936" cy="1088136"/>
          </a:xfrm>
          <a:prstGeom prst="rect">
            <a:avLst/>
          </a:prstGeom>
          <a:noFill/>
          <a:ln/>
        </p:spPr>
        <p:txBody>
          <a:bodyPr wrap="square" lIns="0" tIns="0" rIns="0" bIns="0" rtlCol="0" anchor="ctr"/>
          <a:lstStyle/>
          <a:p>
            <a:pPr algn="ctr" indent="0" marL="0">
              <a:buNone/>
            </a:pPr>
            <a:r>
              <a:rPr lang="en-US" sz="1300" b="1" dirty="0">
                <a:solidFill>
                  <a:schemeClr val="tx1"/>
                </a:solidFill>
              </a:rPr>
              <a:t>Conformación</a:t>
            </a:r>
            <a:endParaRPr lang="en-US" sz="1300" dirty="0"/>
          </a:p>
          <a:p>
            <a:pPr algn="ctr" indent="0" marL="0">
              <a:buNone/>
            </a:pPr>
            <a:r>
              <a:rPr lang="en-US" sz="1100" dirty="0">
                <a:solidFill>
                  <a:schemeClr val="tx2"/>
                </a:solidFill>
              </a:rPr>
              <a:t>RRC, β = 0,35</a:t>
            </a:r>
            <a:endParaRPr lang="en-US" sz="1300" dirty="0"/>
          </a:p>
        </p:txBody>
      </p:sp>
      <p:sp>
        <p:nvSpPr>
          <p:cNvPr id="28" name="Shape 25"/>
          <p:cNvSpPr/>
          <p:nvPr/>
        </p:nvSpPr>
        <p:spPr>
          <a:xfrm>
            <a:off x="9386087" y="2308860"/>
            <a:ext cx="300152" cy="0"/>
          </a:xfrm>
          <a:prstGeom prst="line">
            <a:avLst/>
          </a:prstGeom>
          <a:noFill/>
          <a:ln w="19050">
            <a:solidFill>
              <a:schemeClr val="tx2"/>
            </a:solidFill>
            <a:prstDash val="solid"/>
            <a:tailEnd type="triangle"/>
          </a:ln>
        </p:spPr>
      </p:sp>
      <p:sp>
        <p:nvSpPr>
          <p:cNvPr id="29" name="bloque Canal"/>
          <p:cNvSpPr/>
          <p:nvPr/>
        </p:nvSpPr>
        <p:spPr>
          <a:xfrm>
            <a:off x="9722815" y="1691640"/>
            <a:ext cx="1920240" cy="1234440"/>
          </a:xfrm>
          <a:prstGeom prst="roundRect">
            <a:avLst>
              <a:gd name="adj" fmla="val 5926"/>
            </a:avLst>
          </a:prstGeom>
          <a:solidFill>
            <a:schemeClr val="accent2"/>
          </a:solidFill>
          <a:ln w="12700">
            <a:solidFill>
              <a:schemeClr val="accent2"/>
            </a:solidFill>
            <a:prstDash val="solid"/>
          </a:ln>
        </p:spPr>
      </p:sp>
      <p:sp>
        <p:nvSpPr>
          <p:cNvPr id="30" name="Text 27"/>
          <p:cNvSpPr txBox="1"/>
          <p:nvPr/>
        </p:nvSpPr>
        <p:spPr>
          <a:xfrm>
            <a:off x="9795967" y="1764792"/>
            <a:ext cx="1773936" cy="1088136"/>
          </a:xfrm>
          <a:prstGeom prst="rect">
            <a:avLst/>
          </a:prstGeom>
          <a:noFill/>
          <a:ln/>
        </p:spPr>
        <p:txBody>
          <a:bodyPr wrap="square" lIns="0" tIns="0" rIns="0" bIns="0" rtlCol="0" anchor="ctr"/>
          <a:lstStyle/>
          <a:p>
            <a:pPr algn="ctr" indent="0" marL="0">
              <a:buNone/>
            </a:pPr>
            <a:r>
              <a:rPr lang="en-US" sz="1300" b="1" dirty="0">
                <a:solidFill>
                  <a:schemeClr val="tx1"/>
                </a:solidFill>
              </a:rPr>
              <a:t>Canal</a:t>
            </a:r>
            <a:endParaRPr lang="en-US" sz="1300" dirty="0"/>
          </a:p>
          <a:p>
            <a:pPr algn="ctr" indent="0" marL="0">
              <a:buNone/>
            </a:pPr>
            <a:r>
              <a:rPr lang="en-US" sz="1100" dirty="0">
                <a:solidFill>
                  <a:schemeClr val="tx2"/>
                </a:solidFill>
              </a:rPr>
              <a:t>AWGN, multitrayecto, CFO, fase, reloj, Rayleigh</a:t>
            </a:r>
            <a:endParaRPr lang="en-US" sz="1300" dirty="0"/>
          </a:p>
        </p:txBody>
      </p:sp>
      <p:sp>
        <p:nvSpPr>
          <p:cNvPr id="31" name="Text 28"/>
          <p:cNvSpPr txBox="1"/>
          <p:nvPr/>
        </p:nvSpPr>
        <p:spPr>
          <a:xfrm>
            <a:off x="548640" y="1417320"/>
            <a:ext cx="2743200" cy="228600"/>
          </a:xfrm>
          <a:prstGeom prst="rect">
            <a:avLst/>
          </a:prstGeom>
          <a:noFill/>
          <a:ln/>
        </p:spPr>
        <p:txBody>
          <a:bodyPr wrap="square" lIns="0" tIns="0" rIns="0" bIns="0" rtlCol="0" anchor="ctr"/>
          <a:lstStyle/>
          <a:p>
            <a:pPr indent="0" marL="0">
              <a:buNone/>
            </a:pPr>
            <a:r>
              <a:rPr lang="en-US" sz="1100" b="1" spc="200" kern="0" dirty="0">
                <a:solidFill>
                  <a:schemeClr val="accent3"/>
                </a:solidFill>
              </a:rPr>
              <a:t>TRANSMISOR</a:t>
            </a:r>
            <a:endParaRPr lang="en-US" sz="1100" dirty="0"/>
          </a:p>
        </p:txBody>
      </p:sp>
      <p:sp>
        <p:nvSpPr>
          <p:cNvPr id="32" name="Text 29"/>
          <p:cNvSpPr txBox="1"/>
          <p:nvPr/>
        </p:nvSpPr>
        <p:spPr>
          <a:xfrm>
            <a:off x="548640" y="3520440"/>
            <a:ext cx="5486400" cy="228600"/>
          </a:xfrm>
          <a:prstGeom prst="rect">
            <a:avLst/>
          </a:prstGeom>
          <a:noFill/>
          <a:ln/>
        </p:spPr>
        <p:txBody>
          <a:bodyPr wrap="square" lIns="0" tIns="0" rIns="0" bIns="0" rtlCol="0" anchor="ctr"/>
          <a:lstStyle/>
          <a:p>
            <a:pPr indent="0" marL="0">
              <a:buNone/>
            </a:pPr>
            <a:r>
              <a:rPr lang="en-US" sz="1100" b="1" spc="100" kern="0" dirty="0">
                <a:solidFill>
                  <a:schemeClr val="accent1"/>
                </a:solidFill>
              </a:rPr>
              <a:t>RECEPTOR ADAPTATIVO · de derecha a izquierda</a:t>
            </a:r>
            <a:endParaRPr lang="en-US" sz="1100" dirty="0"/>
          </a:p>
        </p:txBody>
      </p:sp>
      <p:sp>
        <p:nvSpPr>
          <p:cNvPr id="33" name="bloque Filtro adaptado"/>
          <p:cNvSpPr/>
          <p:nvPr/>
        </p:nvSpPr>
        <p:spPr>
          <a:xfrm>
            <a:off x="10271455" y="3794760"/>
            <a:ext cx="1371600" cy="1234440"/>
          </a:xfrm>
          <a:prstGeom prst="roundRect">
            <a:avLst>
              <a:gd name="adj" fmla="val 5926"/>
            </a:avLst>
          </a:prstGeom>
          <a:solidFill>
            <a:schemeClr val="accent1">
              <a:alpha val="10000"/>
            </a:schemeClr>
          </a:solidFill>
          <a:ln w="12700">
            <a:solidFill>
              <a:schemeClr val="accent1"/>
            </a:solidFill>
            <a:prstDash val="solid"/>
          </a:ln>
        </p:spPr>
      </p:sp>
      <p:sp>
        <p:nvSpPr>
          <p:cNvPr id="34" name="Text 31"/>
          <p:cNvSpPr txBox="1"/>
          <p:nvPr/>
        </p:nvSpPr>
        <p:spPr>
          <a:xfrm>
            <a:off x="10344607" y="3867912"/>
            <a:ext cx="1225296" cy="1088136"/>
          </a:xfrm>
          <a:prstGeom prst="rect">
            <a:avLst/>
          </a:prstGeom>
          <a:noFill/>
          <a:ln/>
        </p:spPr>
        <p:txBody>
          <a:bodyPr wrap="square" lIns="0" tIns="0" rIns="0" bIns="0" rtlCol="0" anchor="ctr"/>
          <a:lstStyle/>
          <a:p>
            <a:pPr algn="ctr" indent="0" marL="0">
              <a:buNone/>
            </a:pPr>
            <a:r>
              <a:rPr lang="en-US" sz="1300" b="1" dirty="0">
                <a:solidFill>
                  <a:schemeClr val="tx1"/>
                </a:solidFill>
              </a:rPr>
              <a:t>Filtro adaptado</a:t>
            </a:r>
            <a:endParaRPr lang="en-US" sz="1300" dirty="0"/>
          </a:p>
          <a:p>
            <a:pPr algn="ctr" indent="0" marL="0">
              <a:buNone/>
            </a:pPr>
            <a:r>
              <a:rPr lang="en-US" sz="1100" dirty="0">
                <a:solidFill>
                  <a:schemeClr val="tx2"/>
                </a:solidFill>
              </a:rPr>
              <a:t>RRC idéntico al TX</a:t>
            </a:r>
            <a:endParaRPr lang="en-US" sz="1300" dirty="0"/>
          </a:p>
        </p:txBody>
      </p:sp>
      <p:sp>
        <p:nvSpPr>
          <p:cNvPr id="35" name="Shape 32"/>
          <p:cNvSpPr/>
          <p:nvPr/>
        </p:nvSpPr>
        <p:spPr>
          <a:xfrm flipH="1">
            <a:off x="10059162" y="4411980"/>
            <a:ext cx="175717" cy="0"/>
          </a:xfrm>
          <a:prstGeom prst="line">
            <a:avLst/>
          </a:prstGeom>
          <a:noFill/>
          <a:ln w="19050">
            <a:solidFill>
              <a:schemeClr val="tx2"/>
            </a:solidFill>
            <a:prstDash val="solid"/>
            <a:tailEnd type="triangle"/>
          </a:ln>
        </p:spPr>
      </p:sp>
      <p:sp>
        <p:nvSpPr>
          <p:cNvPr id="36" name="bloque Schmidl-Cox"/>
          <p:cNvSpPr/>
          <p:nvPr/>
        </p:nvSpPr>
        <p:spPr>
          <a:xfrm>
            <a:off x="8650986" y="3794760"/>
            <a:ext cx="1371600" cy="1234440"/>
          </a:xfrm>
          <a:prstGeom prst="roundRect">
            <a:avLst>
              <a:gd name="adj" fmla="val 5926"/>
            </a:avLst>
          </a:prstGeom>
          <a:solidFill>
            <a:schemeClr val="accent1">
              <a:alpha val="10000"/>
            </a:schemeClr>
          </a:solidFill>
          <a:ln w="12700">
            <a:solidFill>
              <a:schemeClr val="accent1"/>
            </a:solidFill>
            <a:prstDash val="solid"/>
          </a:ln>
        </p:spPr>
      </p:sp>
      <p:sp>
        <p:nvSpPr>
          <p:cNvPr id="37" name="Text 34"/>
          <p:cNvSpPr txBox="1"/>
          <p:nvPr/>
        </p:nvSpPr>
        <p:spPr>
          <a:xfrm>
            <a:off x="8724138" y="3867912"/>
            <a:ext cx="1225296" cy="1088136"/>
          </a:xfrm>
          <a:prstGeom prst="rect">
            <a:avLst/>
          </a:prstGeom>
          <a:noFill/>
          <a:ln/>
        </p:spPr>
        <p:txBody>
          <a:bodyPr wrap="square" lIns="0" tIns="0" rIns="0" bIns="0" rtlCol="0" anchor="ctr"/>
          <a:lstStyle/>
          <a:p>
            <a:pPr algn="ctr" indent="0" marL="0">
              <a:buNone/>
            </a:pPr>
            <a:r>
              <a:rPr lang="en-US" sz="1300" b="1" dirty="0">
                <a:solidFill>
                  <a:schemeClr val="tx1"/>
                </a:solidFill>
              </a:rPr>
              <a:t>Schmidl-Cox</a:t>
            </a:r>
            <a:endParaRPr lang="en-US" sz="1300" dirty="0"/>
          </a:p>
          <a:p>
            <a:pPr algn="ctr" indent="0" marL="0">
              <a:buNone/>
            </a:pPr>
            <a:r>
              <a:rPr lang="en-US" sz="1100" dirty="0">
                <a:solidFill>
                  <a:schemeClr val="tx2"/>
                </a:solidFill>
              </a:rPr>
              <a:t>CFO grueso</a:t>
            </a:r>
            <a:endParaRPr lang="en-US" sz="1300" dirty="0"/>
          </a:p>
        </p:txBody>
      </p:sp>
      <p:sp>
        <p:nvSpPr>
          <p:cNvPr id="38" name="Shape 35"/>
          <p:cNvSpPr/>
          <p:nvPr/>
        </p:nvSpPr>
        <p:spPr>
          <a:xfrm flipH="1">
            <a:off x="8438693" y="4411980"/>
            <a:ext cx="175717" cy="0"/>
          </a:xfrm>
          <a:prstGeom prst="line">
            <a:avLst/>
          </a:prstGeom>
          <a:noFill/>
          <a:ln w="19050">
            <a:solidFill>
              <a:schemeClr val="tx2"/>
            </a:solidFill>
            <a:prstDash val="solid"/>
            <a:tailEnd type="triangle"/>
          </a:ln>
        </p:spPr>
      </p:sp>
      <p:sp>
        <p:nvSpPr>
          <p:cNvPr id="39" name="bloque Gardner"/>
          <p:cNvSpPr/>
          <p:nvPr/>
        </p:nvSpPr>
        <p:spPr>
          <a:xfrm>
            <a:off x="7030517" y="3794760"/>
            <a:ext cx="1371600" cy="1234440"/>
          </a:xfrm>
          <a:prstGeom prst="roundRect">
            <a:avLst>
              <a:gd name="adj" fmla="val 5926"/>
            </a:avLst>
          </a:prstGeom>
          <a:solidFill>
            <a:schemeClr val="accent1">
              <a:alpha val="10000"/>
            </a:schemeClr>
          </a:solidFill>
          <a:ln w="12700">
            <a:solidFill>
              <a:schemeClr val="accent1"/>
            </a:solidFill>
            <a:prstDash val="solid"/>
          </a:ln>
        </p:spPr>
      </p:sp>
      <p:sp>
        <p:nvSpPr>
          <p:cNvPr id="40" name="Text 37"/>
          <p:cNvSpPr txBox="1"/>
          <p:nvPr/>
        </p:nvSpPr>
        <p:spPr>
          <a:xfrm>
            <a:off x="7103669" y="3867912"/>
            <a:ext cx="1225296" cy="1088136"/>
          </a:xfrm>
          <a:prstGeom prst="rect">
            <a:avLst/>
          </a:prstGeom>
          <a:noFill/>
          <a:ln/>
        </p:spPr>
        <p:txBody>
          <a:bodyPr wrap="square" lIns="0" tIns="0" rIns="0" bIns="0" rtlCol="0" anchor="ctr"/>
          <a:lstStyle/>
          <a:p>
            <a:pPr algn="ctr" indent="0" marL="0">
              <a:buNone/>
            </a:pPr>
            <a:r>
              <a:rPr lang="en-US" sz="1300" b="1" dirty="0">
                <a:solidFill>
                  <a:schemeClr val="tx1"/>
                </a:solidFill>
              </a:rPr>
              <a:t>Gardner</a:t>
            </a:r>
            <a:endParaRPr lang="en-US" sz="1300" dirty="0"/>
          </a:p>
          <a:p>
            <a:pPr algn="ctr" indent="0" marL="0">
              <a:buNone/>
            </a:pPr>
            <a:r>
              <a:rPr lang="en-US" sz="1100" dirty="0">
                <a:solidFill>
                  <a:schemeClr val="tx2"/>
                </a:solidFill>
              </a:rPr>
              <a:t>temporización</a:t>
            </a:r>
            <a:endParaRPr lang="en-US" sz="1300" dirty="0"/>
          </a:p>
        </p:txBody>
      </p:sp>
      <p:sp>
        <p:nvSpPr>
          <p:cNvPr id="41" name="Shape 38"/>
          <p:cNvSpPr/>
          <p:nvPr/>
        </p:nvSpPr>
        <p:spPr>
          <a:xfrm flipH="1">
            <a:off x="6818224" y="4411980"/>
            <a:ext cx="175717" cy="0"/>
          </a:xfrm>
          <a:prstGeom prst="line">
            <a:avLst/>
          </a:prstGeom>
          <a:noFill/>
          <a:ln w="19050">
            <a:solidFill>
              <a:schemeClr val="tx2"/>
            </a:solidFill>
            <a:prstDash val="solid"/>
            <a:tailEnd type="triangle"/>
          </a:ln>
        </p:spPr>
      </p:sp>
      <p:sp>
        <p:nvSpPr>
          <p:cNvPr id="42" name="bloque Sincronismo"/>
          <p:cNvSpPr/>
          <p:nvPr/>
        </p:nvSpPr>
        <p:spPr>
          <a:xfrm>
            <a:off x="5410048" y="3794760"/>
            <a:ext cx="1371600" cy="1234440"/>
          </a:xfrm>
          <a:prstGeom prst="roundRect">
            <a:avLst>
              <a:gd name="adj" fmla="val 5926"/>
            </a:avLst>
          </a:prstGeom>
          <a:solidFill>
            <a:schemeClr val="accent1">
              <a:alpha val="10000"/>
            </a:schemeClr>
          </a:solidFill>
          <a:ln w="12700">
            <a:solidFill>
              <a:schemeClr val="accent1"/>
            </a:solidFill>
            <a:prstDash val="solid"/>
          </a:ln>
        </p:spPr>
      </p:sp>
      <p:sp>
        <p:nvSpPr>
          <p:cNvPr id="43" name="Text 40"/>
          <p:cNvSpPr txBox="1"/>
          <p:nvPr/>
        </p:nvSpPr>
        <p:spPr>
          <a:xfrm>
            <a:off x="5483200" y="3867912"/>
            <a:ext cx="1225296" cy="1088136"/>
          </a:xfrm>
          <a:prstGeom prst="rect">
            <a:avLst/>
          </a:prstGeom>
          <a:noFill/>
          <a:ln/>
        </p:spPr>
        <p:txBody>
          <a:bodyPr wrap="square" lIns="0" tIns="0" rIns="0" bIns="0" rtlCol="0" anchor="ctr"/>
          <a:lstStyle/>
          <a:p>
            <a:pPr algn="ctr" indent="0" marL="0">
              <a:buNone/>
            </a:pPr>
            <a:r>
              <a:rPr lang="en-US" sz="1300" b="1" dirty="0">
                <a:solidFill>
                  <a:schemeClr val="tx1"/>
                </a:solidFill>
              </a:rPr>
              <a:t>Sincronismo</a:t>
            </a:r>
            <a:endParaRPr lang="en-US" sz="1300" dirty="0"/>
          </a:p>
          <a:p>
            <a:pPr algn="ctr" indent="0" marL="0">
              <a:buNone/>
            </a:pPr>
            <a:r>
              <a:rPr lang="en-US" sz="1100" dirty="0">
                <a:solidFill>
                  <a:schemeClr val="tx2"/>
                </a:solidFill>
              </a:rPr>
              <a:t>correlación con entrenamiento</a:t>
            </a:r>
            <a:endParaRPr lang="en-US" sz="1300" dirty="0"/>
          </a:p>
        </p:txBody>
      </p:sp>
      <p:sp>
        <p:nvSpPr>
          <p:cNvPr id="44" name="Shape 41"/>
          <p:cNvSpPr/>
          <p:nvPr/>
        </p:nvSpPr>
        <p:spPr>
          <a:xfrm flipH="1">
            <a:off x="5197754" y="4411980"/>
            <a:ext cx="175717" cy="0"/>
          </a:xfrm>
          <a:prstGeom prst="line">
            <a:avLst/>
          </a:prstGeom>
          <a:noFill/>
          <a:ln w="19050">
            <a:solidFill>
              <a:schemeClr val="tx2"/>
            </a:solidFill>
            <a:prstDash val="solid"/>
            <a:tailEnd type="triangle"/>
          </a:ln>
        </p:spPr>
      </p:sp>
      <p:sp>
        <p:nvSpPr>
          <p:cNvPr id="45" name="bloque Ecualizador"/>
          <p:cNvSpPr/>
          <p:nvPr/>
        </p:nvSpPr>
        <p:spPr>
          <a:xfrm>
            <a:off x="3789578" y="3794760"/>
            <a:ext cx="1371600" cy="1234440"/>
          </a:xfrm>
          <a:prstGeom prst="roundRect">
            <a:avLst>
              <a:gd name="adj" fmla="val 5926"/>
            </a:avLst>
          </a:prstGeom>
          <a:solidFill>
            <a:schemeClr val="accent1"/>
          </a:solidFill>
          <a:ln w="12700">
            <a:solidFill>
              <a:schemeClr val="accent1"/>
            </a:solidFill>
            <a:prstDash val="solid"/>
          </a:ln>
        </p:spPr>
      </p:sp>
      <p:sp>
        <p:nvSpPr>
          <p:cNvPr id="46" name="Text 43"/>
          <p:cNvSpPr txBox="1"/>
          <p:nvPr/>
        </p:nvSpPr>
        <p:spPr>
          <a:xfrm>
            <a:off x="3862730" y="3867912"/>
            <a:ext cx="1225296" cy="1088136"/>
          </a:xfrm>
          <a:prstGeom prst="rect">
            <a:avLst/>
          </a:prstGeom>
          <a:noFill/>
          <a:ln/>
        </p:spPr>
        <p:txBody>
          <a:bodyPr wrap="square" lIns="0" tIns="0" rIns="0" bIns="0" rtlCol="0" anchor="ctr"/>
          <a:lstStyle/>
          <a:p>
            <a:pPr algn="ctr" indent="0" marL="0">
              <a:buNone/>
            </a:pPr>
            <a:r>
              <a:rPr lang="en-US" sz="1300" b="1" dirty="0">
                <a:solidFill>
                  <a:schemeClr val="bg1"/>
                </a:solidFill>
              </a:rPr>
              <a:t>Ecualizador</a:t>
            </a:r>
            <a:endParaRPr lang="en-US" sz="1300" dirty="0"/>
          </a:p>
          <a:p>
            <a:pPr algn="ctr" indent="0" marL="0">
              <a:buNone/>
            </a:pPr>
            <a:r>
              <a:rPr lang="en-US" sz="1100" dirty="0">
                <a:solidFill>
                  <a:schemeClr val="bg1"/>
                </a:solidFill>
              </a:rPr>
              <a:t>LMS · RLS · ZF · MMSE · CMA</a:t>
            </a:r>
            <a:endParaRPr lang="en-US" sz="1300" dirty="0"/>
          </a:p>
        </p:txBody>
      </p:sp>
      <p:sp>
        <p:nvSpPr>
          <p:cNvPr id="47" name="Shape 44"/>
          <p:cNvSpPr/>
          <p:nvPr/>
        </p:nvSpPr>
        <p:spPr>
          <a:xfrm flipH="1">
            <a:off x="3577285" y="4411980"/>
            <a:ext cx="175717" cy="0"/>
          </a:xfrm>
          <a:prstGeom prst="line">
            <a:avLst/>
          </a:prstGeom>
          <a:noFill/>
          <a:ln w="19050">
            <a:solidFill>
              <a:schemeClr val="tx2"/>
            </a:solidFill>
            <a:prstDash val="solid"/>
            <a:tailEnd type="triangle"/>
          </a:ln>
        </p:spPr>
      </p:sp>
      <p:sp>
        <p:nvSpPr>
          <p:cNvPr id="48" name="bloque PLL de fase"/>
          <p:cNvSpPr/>
          <p:nvPr/>
        </p:nvSpPr>
        <p:spPr>
          <a:xfrm>
            <a:off x="2169109" y="3794760"/>
            <a:ext cx="1371600" cy="1234440"/>
          </a:xfrm>
          <a:prstGeom prst="roundRect">
            <a:avLst>
              <a:gd name="adj" fmla="val 5926"/>
            </a:avLst>
          </a:prstGeom>
          <a:solidFill>
            <a:schemeClr val="accent1">
              <a:alpha val="10000"/>
            </a:schemeClr>
          </a:solidFill>
          <a:ln w="12700">
            <a:solidFill>
              <a:schemeClr val="accent1"/>
            </a:solidFill>
            <a:prstDash val="solid"/>
          </a:ln>
        </p:spPr>
      </p:sp>
      <p:sp>
        <p:nvSpPr>
          <p:cNvPr id="49" name="Text 46"/>
          <p:cNvSpPr txBox="1"/>
          <p:nvPr/>
        </p:nvSpPr>
        <p:spPr>
          <a:xfrm>
            <a:off x="2242261" y="3867912"/>
            <a:ext cx="1225296" cy="1088136"/>
          </a:xfrm>
          <a:prstGeom prst="rect">
            <a:avLst/>
          </a:prstGeom>
          <a:noFill/>
          <a:ln/>
        </p:spPr>
        <p:txBody>
          <a:bodyPr wrap="square" lIns="0" tIns="0" rIns="0" bIns="0" rtlCol="0" anchor="ctr"/>
          <a:lstStyle/>
          <a:p>
            <a:pPr algn="ctr" indent="0" marL="0">
              <a:buNone/>
            </a:pPr>
            <a:r>
              <a:rPr lang="en-US" sz="1300" b="1" dirty="0">
                <a:solidFill>
                  <a:schemeClr val="tx1"/>
                </a:solidFill>
              </a:rPr>
              <a:t>PLL de fase</a:t>
            </a:r>
            <a:endParaRPr lang="en-US" sz="1300" dirty="0"/>
          </a:p>
          <a:p>
            <a:pPr algn="ctr" indent="0" marL="0">
              <a:buNone/>
            </a:pPr>
            <a:r>
              <a:rPr lang="en-US" sz="1100" dirty="0">
                <a:solidFill>
                  <a:schemeClr val="tx2"/>
                </a:solidFill>
              </a:rPr>
              <a:t>dirigido por decisión</a:t>
            </a:r>
            <a:endParaRPr lang="en-US" sz="1300" dirty="0"/>
          </a:p>
        </p:txBody>
      </p:sp>
      <p:sp>
        <p:nvSpPr>
          <p:cNvPr id="50" name="Shape 47"/>
          <p:cNvSpPr/>
          <p:nvPr/>
        </p:nvSpPr>
        <p:spPr>
          <a:xfrm flipH="1">
            <a:off x="1956816" y="4411980"/>
            <a:ext cx="175717" cy="0"/>
          </a:xfrm>
          <a:prstGeom prst="line">
            <a:avLst/>
          </a:prstGeom>
          <a:noFill/>
          <a:ln w="19050">
            <a:solidFill>
              <a:schemeClr val="tx2"/>
            </a:solidFill>
            <a:prstDash val="solid"/>
            <a:tailEnd type="triangle"/>
          </a:ln>
        </p:spPr>
      </p:sp>
      <p:sp>
        <p:nvSpPr>
          <p:cNvPr id="51" name="bloque Demodulación"/>
          <p:cNvSpPr/>
          <p:nvPr/>
        </p:nvSpPr>
        <p:spPr>
          <a:xfrm>
            <a:off x="548640" y="3794760"/>
            <a:ext cx="1371600" cy="1234440"/>
          </a:xfrm>
          <a:prstGeom prst="roundRect">
            <a:avLst>
              <a:gd name="adj" fmla="val 5926"/>
            </a:avLst>
          </a:prstGeom>
          <a:solidFill>
            <a:schemeClr val="accent1">
              <a:alpha val="10000"/>
            </a:schemeClr>
          </a:solidFill>
          <a:ln w="12700">
            <a:solidFill>
              <a:schemeClr val="accent1"/>
            </a:solidFill>
            <a:prstDash val="solid"/>
          </a:ln>
        </p:spPr>
      </p:sp>
      <p:sp>
        <p:nvSpPr>
          <p:cNvPr id="52" name="Text 49"/>
          <p:cNvSpPr txBox="1"/>
          <p:nvPr/>
        </p:nvSpPr>
        <p:spPr>
          <a:xfrm>
            <a:off x="621792" y="3867912"/>
            <a:ext cx="1225296" cy="1088136"/>
          </a:xfrm>
          <a:prstGeom prst="rect">
            <a:avLst/>
          </a:prstGeom>
          <a:noFill/>
          <a:ln/>
        </p:spPr>
        <p:txBody>
          <a:bodyPr wrap="square" lIns="0" tIns="0" rIns="0" bIns="0" rtlCol="0" anchor="ctr"/>
          <a:lstStyle/>
          <a:p>
            <a:pPr algn="ctr" indent="0" marL="0">
              <a:buNone/>
            </a:pPr>
            <a:r>
              <a:rPr lang="en-US" sz="1300" b="1" dirty="0">
                <a:solidFill>
                  <a:schemeClr val="tx1"/>
                </a:solidFill>
              </a:rPr>
              <a:t>Demodulación</a:t>
            </a:r>
            <a:endParaRPr lang="en-US" sz="1300" dirty="0"/>
          </a:p>
          <a:p>
            <a:pPr algn="ctr" indent="0" marL="0">
              <a:buNone/>
            </a:pPr>
            <a:r>
              <a:rPr lang="en-US" sz="1100" dirty="0">
                <a:solidFill>
                  <a:schemeClr val="tx2"/>
                </a:solidFill>
              </a:rPr>
              <a:t>BER · SER · EVM · ojo · PSD</a:t>
            </a:r>
            <a:endParaRPr lang="en-US" sz="1300" dirty="0"/>
          </a:p>
        </p:txBody>
      </p:sp>
      <p:sp>
        <p:nvSpPr>
          <p:cNvPr id="53" name="Shape 50"/>
          <p:cNvSpPr/>
          <p:nvPr/>
        </p:nvSpPr>
        <p:spPr>
          <a:xfrm>
            <a:off x="10957255" y="2962656"/>
            <a:ext cx="0" cy="795528"/>
          </a:xfrm>
          <a:prstGeom prst="line">
            <a:avLst/>
          </a:prstGeom>
          <a:noFill/>
          <a:ln w="19050">
            <a:solidFill>
              <a:schemeClr val="tx2"/>
            </a:solidFill>
            <a:prstDash val="solid"/>
            <a:tailEnd type="triangle"/>
          </a:ln>
        </p:spPr>
      </p:sp>
      <p:sp>
        <p:nvSpPr>
          <p:cNvPr id="54" name="resumen"/>
          <p:cNvSpPr/>
          <p:nvPr/>
        </p:nvSpPr>
        <p:spPr>
          <a:xfrm>
            <a:off x="548640" y="5349240"/>
            <a:ext cx="3576218" cy="868680"/>
          </a:xfrm>
          <a:prstGeom prst="roundRect">
            <a:avLst>
              <a:gd name="adj" fmla="val 10526"/>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55" name="Text 52"/>
          <p:cNvSpPr txBox="1"/>
          <p:nvPr/>
        </p:nvSpPr>
        <p:spPr>
          <a:xfrm>
            <a:off x="731520" y="5422392"/>
            <a:ext cx="3210458" cy="731520"/>
          </a:xfrm>
          <a:prstGeom prst="rect">
            <a:avLst/>
          </a:prstGeom>
          <a:noFill/>
          <a:ln/>
        </p:spPr>
        <p:txBody>
          <a:bodyPr wrap="square" lIns="0" tIns="0" rIns="0" bIns="0" rtlCol="0" anchor="ctr"/>
          <a:lstStyle/>
          <a:p>
            <a:pPr indent="0" marL="0">
              <a:buNone/>
            </a:pPr>
            <a:r>
              <a:rPr lang="en-US" sz="1400" b="1" dirty="0">
                <a:solidFill>
                  <a:schemeClr val="tx1"/>
                </a:solidFill>
              </a:rPr>
              <a:t>Perturbaciones</a:t>
            </a:r>
            <a:endParaRPr lang="en-US" sz="1400" dirty="0"/>
          </a:p>
          <a:p>
            <a:pPr indent="0" marL="0">
              <a:buNone/>
            </a:pPr>
            <a:r>
              <a:rPr lang="en-US" sz="1200" dirty="0">
                <a:solidFill>
                  <a:schemeClr val="tx2"/>
                </a:solidFill>
              </a:rPr>
              <a:t>AWGN · multitrayecto · CFO · fase · reloj · Rayleigh</a:t>
            </a:r>
            <a:endParaRPr lang="en-US" sz="1400" dirty="0"/>
          </a:p>
        </p:txBody>
      </p:sp>
      <p:sp>
        <p:nvSpPr>
          <p:cNvPr id="56" name="resumen"/>
          <p:cNvSpPr/>
          <p:nvPr/>
        </p:nvSpPr>
        <p:spPr>
          <a:xfrm>
            <a:off x="4307738" y="5349240"/>
            <a:ext cx="3576218" cy="868680"/>
          </a:xfrm>
          <a:prstGeom prst="roundRect">
            <a:avLst>
              <a:gd name="adj" fmla="val 10526"/>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57" name="Text 54"/>
          <p:cNvSpPr txBox="1"/>
          <p:nvPr/>
        </p:nvSpPr>
        <p:spPr>
          <a:xfrm>
            <a:off x="4490618" y="5422392"/>
            <a:ext cx="3210458" cy="731520"/>
          </a:xfrm>
          <a:prstGeom prst="rect">
            <a:avLst/>
          </a:prstGeom>
          <a:noFill/>
          <a:ln/>
        </p:spPr>
        <p:txBody>
          <a:bodyPr wrap="square" lIns="0" tIns="0" rIns="0" bIns="0" rtlCol="0" anchor="ctr"/>
          <a:lstStyle/>
          <a:p>
            <a:pPr indent="0" marL="0">
              <a:buNone/>
            </a:pPr>
            <a:r>
              <a:rPr lang="en-US" sz="1400" b="1" dirty="0">
                <a:solidFill>
                  <a:schemeClr val="tx1"/>
                </a:solidFill>
              </a:rPr>
              <a:t>Modulaciones</a:t>
            </a:r>
            <a:endParaRPr lang="en-US" sz="1400" dirty="0"/>
          </a:p>
          <a:p>
            <a:pPr indent="0" marL="0">
              <a:buNone/>
            </a:pPr>
            <a:r>
              <a:rPr lang="en-US" sz="1200" dirty="0">
                <a:solidFill>
                  <a:schemeClr val="tx2"/>
                </a:solidFill>
              </a:rPr>
              <a:t>QPSK, 8PSK, 16-QAM y 64-QAM</a:t>
            </a:r>
            <a:endParaRPr lang="en-US" sz="1400" dirty="0"/>
          </a:p>
        </p:txBody>
      </p:sp>
      <p:sp>
        <p:nvSpPr>
          <p:cNvPr id="58" name="resumen"/>
          <p:cNvSpPr/>
          <p:nvPr/>
        </p:nvSpPr>
        <p:spPr>
          <a:xfrm>
            <a:off x="8066837" y="5349240"/>
            <a:ext cx="3576218" cy="868680"/>
          </a:xfrm>
          <a:prstGeom prst="roundRect">
            <a:avLst>
              <a:gd name="adj" fmla="val 10526"/>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59" name="Text 56"/>
          <p:cNvSpPr txBox="1"/>
          <p:nvPr/>
        </p:nvSpPr>
        <p:spPr>
          <a:xfrm>
            <a:off x="8249717" y="5422392"/>
            <a:ext cx="3210458" cy="731520"/>
          </a:xfrm>
          <a:prstGeom prst="rect">
            <a:avLst/>
          </a:prstGeom>
          <a:noFill/>
          <a:ln/>
        </p:spPr>
        <p:txBody>
          <a:bodyPr wrap="square" lIns="0" tIns="0" rIns="0" bIns="0" rtlCol="0" anchor="ctr"/>
          <a:lstStyle/>
          <a:p>
            <a:pPr indent="0" marL="0">
              <a:buNone/>
            </a:pPr>
            <a:r>
              <a:rPr lang="en-US" sz="1400" b="1" dirty="0">
                <a:solidFill>
                  <a:schemeClr val="tx1"/>
                </a:solidFill>
              </a:rPr>
              <a:t>Ecualizadores</a:t>
            </a:r>
            <a:endParaRPr lang="en-US" sz="1400" dirty="0"/>
          </a:p>
          <a:p>
            <a:pPr indent="0" marL="0">
              <a:buNone/>
            </a:pPr>
            <a:r>
              <a:rPr lang="en-US" sz="1200" dirty="0">
                <a:solidFill>
                  <a:schemeClr val="tx2"/>
                </a:solidFill>
              </a:rPr>
              <a:t>LMS (A) · RLS (B) · ZF · MMSE · CMA ciego</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SISTEMA · ESCENARIOS</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Cuatro escenarios: cada uno añade una degradación al anterior</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Canal</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bg1"/>
          </a:solidFill>
          <a:ln w="12700">
            <a:solidFill>
              <a:srgbClr val="C8C0E0"/>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David</a:t>
            </a:r>
            <a:endParaRPr lang="en-US" sz="1200" dirty="0"/>
          </a:p>
        </p:txBody>
      </p:sp>
      <p:sp>
        <p:nvSpPr>
          <p:cNvPr id="17" name="escenario A"/>
          <p:cNvSpPr/>
          <p:nvPr/>
        </p:nvSpPr>
        <p:spPr>
          <a:xfrm>
            <a:off x="548640" y="1645920"/>
            <a:ext cx="11094415" cy="1005840"/>
          </a:xfrm>
          <a:prstGeom prst="roundRect">
            <a:avLst>
              <a:gd name="adj" fmla="val 909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18" name="insignia A"/>
          <p:cNvSpPr/>
          <p:nvPr/>
        </p:nvSpPr>
        <p:spPr>
          <a:xfrm>
            <a:off x="777240" y="1847088"/>
            <a:ext cx="603504" cy="603504"/>
          </a:xfrm>
          <a:prstGeom prst="ellipse">
            <a:avLst/>
          </a:prstGeom>
          <a:solidFill>
            <a:schemeClr val="accent1"/>
          </a:solidFill>
          <a:ln w="12700">
            <a:solidFill>
              <a:schemeClr val="accent1"/>
            </a:solidFill>
            <a:prstDash val="solid"/>
          </a:ln>
        </p:spPr>
      </p:sp>
      <p:sp>
        <p:nvSpPr>
          <p:cNvPr id="19" name="Text 16"/>
          <p:cNvSpPr txBox="1"/>
          <p:nvPr/>
        </p:nvSpPr>
        <p:spPr>
          <a:xfrm>
            <a:off x="777240" y="1847088"/>
            <a:ext cx="603504" cy="603504"/>
          </a:xfrm>
          <a:prstGeom prst="rect">
            <a:avLst/>
          </a:prstGeom>
          <a:noFill/>
          <a:ln/>
        </p:spPr>
        <p:txBody>
          <a:bodyPr wrap="square" lIns="0" tIns="0" rIns="0" bIns="0" rtlCol="0" anchor="ctr"/>
          <a:lstStyle/>
          <a:p>
            <a:pPr algn="ctr" indent="0" marL="0">
              <a:buNone/>
            </a:pPr>
            <a:r>
              <a:rPr lang="en-US" sz="2400" b="1" dirty="0">
                <a:solidFill>
                  <a:schemeClr val="bg1"/>
                </a:solidFill>
              </a:rPr>
              <a:t>A</a:t>
            </a:r>
            <a:endParaRPr lang="en-US" sz="2400" dirty="0"/>
          </a:p>
        </p:txBody>
      </p:sp>
      <p:sp>
        <p:nvSpPr>
          <p:cNvPr id="20" name="Text 17"/>
          <p:cNvSpPr txBox="1"/>
          <p:nvPr/>
        </p:nvSpPr>
        <p:spPr>
          <a:xfrm>
            <a:off x="1645920" y="1737360"/>
            <a:ext cx="2926080" cy="822960"/>
          </a:xfrm>
          <a:prstGeom prst="rect">
            <a:avLst/>
          </a:prstGeom>
          <a:noFill/>
          <a:ln/>
        </p:spPr>
        <p:txBody>
          <a:bodyPr wrap="square" lIns="0" tIns="0" rIns="0" bIns="0" rtlCol="0" anchor="ctr"/>
          <a:lstStyle/>
          <a:p>
            <a:pPr indent="0" marL="0">
              <a:buNone/>
            </a:pPr>
            <a:r>
              <a:rPr lang="en-US" sz="1600" b="1" dirty="0">
                <a:solidFill>
                  <a:schemeClr val="tx1"/>
                </a:solidFill>
              </a:rPr>
              <a:t>AWGN únicamente</a:t>
            </a:r>
            <a:endParaRPr lang="en-US" sz="1600" dirty="0"/>
          </a:p>
        </p:txBody>
      </p:sp>
      <p:sp>
        <p:nvSpPr>
          <p:cNvPr id="21" name="Text 18"/>
          <p:cNvSpPr txBox="1"/>
          <p:nvPr/>
        </p:nvSpPr>
        <p:spPr>
          <a:xfrm>
            <a:off x="4709160" y="1737360"/>
            <a:ext cx="4023360" cy="822960"/>
          </a:xfrm>
          <a:prstGeom prst="rect">
            <a:avLst/>
          </a:prstGeom>
          <a:noFill/>
          <a:ln/>
        </p:spPr>
        <p:txBody>
          <a:bodyPr wrap="square" lIns="0" tIns="0" rIns="0" bIns="0" rtlCol="0" anchor="ctr"/>
          <a:lstStyle/>
          <a:p>
            <a:pPr indent="0" marL="0">
              <a:buNone/>
            </a:pPr>
            <a:r>
              <a:rPr lang="en-US" sz="1400" dirty="0">
                <a:solidFill>
                  <a:schemeClr val="tx1"/>
                </a:solidFill>
              </a:rPr>
              <a:t>Eb/N0 de 0 a 12 dB</a:t>
            </a:r>
            <a:endParaRPr lang="en-US" sz="1400" dirty="0"/>
          </a:p>
        </p:txBody>
      </p:sp>
      <p:sp>
        <p:nvSpPr>
          <p:cNvPr id="22" name="Text 19"/>
          <p:cNvSpPr txBox="1"/>
          <p:nvPr/>
        </p:nvSpPr>
        <p:spPr>
          <a:xfrm>
            <a:off x="8869680" y="1737360"/>
            <a:ext cx="2590495" cy="822960"/>
          </a:xfrm>
          <a:prstGeom prst="rect">
            <a:avLst/>
          </a:prstGeom>
          <a:noFill/>
          <a:ln/>
        </p:spPr>
        <p:txBody>
          <a:bodyPr wrap="square" lIns="0" tIns="0" rIns="0" bIns="0" rtlCol="0" anchor="ctr"/>
          <a:lstStyle/>
          <a:p>
            <a:pPr indent="0" marL="0">
              <a:buNone/>
            </a:pPr>
            <a:r>
              <a:rPr lang="en-US" sz="1400" dirty="0">
                <a:solidFill>
                  <a:schemeClr val="tx2"/>
                </a:solidFill>
              </a:rPr>
              <a:t>Referencia: valida la cadena contra la teoría</a:t>
            </a:r>
            <a:endParaRPr lang="en-US" sz="1400" dirty="0"/>
          </a:p>
        </p:txBody>
      </p:sp>
      <p:sp>
        <p:nvSpPr>
          <p:cNvPr id="23" name="escenario B"/>
          <p:cNvSpPr/>
          <p:nvPr/>
        </p:nvSpPr>
        <p:spPr>
          <a:xfrm>
            <a:off x="548640" y="2798064"/>
            <a:ext cx="11094415" cy="1005840"/>
          </a:xfrm>
          <a:prstGeom prst="roundRect">
            <a:avLst>
              <a:gd name="adj" fmla="val 909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4" name="insignia B"/>
          <p:cNvSpPr/>
          <p:nvPr/>
        </p:nvSpPr>
        <p:spPr>
          <a:xfrm>
            <a:off x="777240" y="2999232"/>
            <a:ext cx="603504" cy="603504"/>
          </a:xfrm>
          <a:prstGeom prst="ellipse">
            <a:avLst/>
          </a:prstGeom>
          <a:solidFill>
            <a:schemeClr val="accent1"/>
          </a:solidFill>
          <a:ln w="12700">
            <a:solidFill>
              <a:schemeClr val="accent1"/>
            </a:solidFill>
            <a:prstDash val="solid"/>
          </a:ln>
        </p:spPr>
      </p:sp>
      <p:sp>
        <p:nvSpPr>
          <p:cNvPr id="25" name="Text 22"/>
          <p:cNvSpPr txBox="1"/>
          <p:nvPr/>
        </p:nvSpPr>
        <p:spPr>
          <a:xfrm>
            <a:off x="777240" y="2999232"/>
            <a:ext cx="603504" cy="603504"/>
          </a:xfrm>
          <a:prstGeom prst="rect">
            <a:avLst/>
          </a:prstGeom>
          <a:noFill/>
          <a:ln/>
        </p:spPr>
        <p:txBody>
          <a:bodyPr wrap="square" lIns="0" tIns="0" rIns="0" bIns="0" rtlCol="0" anchor="ctr"/>
          <a:lstStyle/>
          <a:p>
            <a:pPr algn="ctr" indent="0" marL="0">
              <a:buNone/>
            </a:pPr>
            <a:r>
              <a:rPr lang="en-US" sz="2400" b="1" dirty="0">
                <a:solidFill>
                  <a:schemeClr val="bg1"/>
                </a:solidFill>
              </a:rPr>
              <a:t>B</a:t>
            </a:r>
            <a:endParaRPr lang="en-US" sz="2400" dirty="0"/>
          </a:p>
        </p:txBody>
      </p:sp>
      <p:sp>
        <p:nvSpPr>
          <p:cNvPr id="26" name="Text 23"/>
          <p:cNvSpPr txBox="1"/>
          <p:nvPr/>
        </p:nvSpPr>
        <p:spPr>
          <a:xfrm>
            <a:off x="1645920" y="2889504"/>
            <a:ext cx="2926080" cy="822960"/>
          </a:xfrm>
          <a:prstGeom prst="rect">
            <a:avLst/>
          </a:prstGeom>
          <a:noFill/>
          <a:ln/>
        </p:spPr>
        <p:txBody>
          <a:bodyPr wrap="square" lIns="0" tIns="0" rIns="0" bIns="0" rtlCol="0" anchor="ctr"/>
          <a:lstStyle/>
          <a:p>
            <a:pPr indent="0" marL="0">
              <a:buNone/>
            </a:pPr>
            <a:r>
              <a:rPr lang="en-US" sz="1600" b="1" dirty="0">
                <a:solidFill>
                  <a:schemeClr val="tx1"/>
                </a:solidFill>
              </a:rPr>
              <a:t>Multitrayecto FIR + AWGN</a:t>
            </a:r>
            <a:endParaRPr lang="en-US" sz="1600" dirty="0"/>
          </a:p>
        </p:txBody>
      </p:sp>
      <p:sp>
        <p:nvSpPr>
          <p:cNvPr id="27" name="Text 24"/>
          <p:cNvSpPr txBox="1"/>
          <p:nvPr/>
        </p:nvSpPr>
        <p:spPr>
          <a:xfrm>
            <a:off x="4709160" y="2889504"/>
            <a:ext cx="4023360" cy="822960"/>
          </a:xfrm>
          <a:prstGeom prst="rect">
            <a:avLst/>
          </a:prstGeom>
          <a:noFill/>
          <a:ln/>
        </p:spPr>
        <p:txBody>
          <a:bodyPr wrap="square" lIns="0" tIns="0" rIns="0" bIns="0" rtlCol="0" anchor="ctr"/>
          <a:lstStyle/>
          <a:p>
            <a:pPr indent="0" marL="0">
              <a:buNone/>
            </a:pPr>
            <a:r>
              <a:rPr lang="en-US" sz="1400" dirty="0">
                <a:solidFill>
                  <a:schemeClr val="tx1"/>
                </a:solidFill>
              </a:rPr>
              <a:t>Leve · moderado · severo</a:t>
            </a:r>
            <a:endParaRPr lang="en-US" sz="1400" dirty="0"/>
          </a:p>
          <a:p>
            <a:pPr indent="0" marL="0">
              <a:buNone/>
            </a:pPr>
            <a:r>
              <a:rPr lang="en-US" sz="1400" dirty="0">
                <a:solidFill>
                  <a:schemeClr val="tx1"/>
                </a:solidFill>
              </a:rPr>
              <a:t>τrms = 0,26 · 0,62 · 1,15 T</a:t>
            </a:r>
            <a:endParaRPr lang="en-US" sz="1400" dirty="0"/>
          </a:p>
        </p:txBody>
      </p:sp>
      <p:sp>
        <p:nvSpPr>
          <p:cNvPr id="28" name="Text 25"/>
          <p:cNvSpPr txBox="1"/>
          <p:nvPr/>
        </p:nvSpPr>
        <p:spPr>
          <a:xfrm>
            <a:off x="8869680" y="2889504"/>
            <a:ext cx="2590495" cy="822960"/>
          </a:xfrm>
          <a:prstGeom prst="rect">
            <a:avLst/>
          </a:prstGeom>
          <a:noFill/>
          <a:ln/>
        </p:spPr>
        <p:txBody>
          <a:bodyPr wrap="square" lIns="0" tIns="0" rIns="0" bIns="0" rtlCol="0" anchor="ctr"/>
          <a:lstStyle/>
          <a:p>
            <a:pPr indent="0" marL="0">
              <a:buNone/>
            </a:pPr>
            <a:r>
              <a:rPr lang="en-US" sz="1400" dirty="0">
                <a:solidFill>
                  <a:schemeClr val="tx2"/>
                </a:solidFill>
              </a:rPr>
              <a:t>Aísla la interferencia intersímbolo</a:t>
            </a:r>
            <a:endParaRPr lang="en-US" sz="1400" dirty="0"/>
          </a:p>
        </p:txBody>
      </p:sp>
      <p:sp>
        <p:nvSpPr>
          <p:cNvPr id="29" name="escenario C"/>
          <p:cNvSpPr/>
          <p:nvPr/>
        </p:nvSpPr>
        <p:spPr>
          <a:xfrm>
            <a:off x="548640" y="3950208"/>
            <a:ext cx="11094415" cy="1005840"/>
          </a:xfrm>
          <a:prstGeom prst="roundRect">
            <a:avLst>
              <a:gd name="adj" fmla="val 909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30" name="insignia C"/>
          <p:cNvSpPr/>
          <p:nvPr/>
        </p:nvSpPr>
        <p:spPr>
          <a:xfrm>
            <a:off x="777240" y="4151376"/>
            <a:ext cx="603504" cy="603504"/>
          </a:xfrm>
          <a:prstGeom prst="ellipse">
            <a:avLst/>
          </a:prstGeom>
          <a:solidFill>
            <a:schemeClr val="accent1"/>
          </a:solidFill>
          <a:ln w="12700">
            <a:solidFill>
              <a:schemeClr val="accent1"/>
            </a:solidFill>
            <a:prstDash val="solid"/>
          </a:ln>
        </p:spPr>
      </p:sp>
      <p:sp>
        <p:nvSpPr>
          <p:cNvPr id="31" name="Text 28"/>
          <p:cNvSpPr txBox="1"/>
          <p:nvPr/>
        </p:nvSpPr>
        <p:spPr>
          <a:xfrm>
            <a:off x="777240" y="4151376"/>
            <a:ext cx="603504" cy="603504"/>
          </a:xfrm>
          <a:prstGeom prst="rect">
            <a:avLst/>
          </a:prstGeom>
          <a:noFill/>
          <a:ln/>
        </p:spPr>
        <p:txBody>
          <a:bodyPr wrap="square" lIns="0" tIns="0" rIns="0" bIns="0" rtlCol="0" anchor="ctr"/>
          <a:lstStyle/>
          <a:p>
            <a:pPr algn="ctr" indent="0" marL="0">
              <a:buNone/>
            </a:pPr>
            <a:r>
              <a:rPr lang="en-US" sz="2400" b="1" dirty="0">
                <a:solidFill>
                  <a:schemeClr val="bg1"/>
                </a:solidFill>
              </a:rPr>
              <a:t>C</a:t>
            </a:r>
            <a:endParaRPr lang="en-US" sz="2400" dirty="0"/>
          </a:p>
        </p:txBody>
      </p:sp>
      <p:sp>
        <p:nvSpPr>
          <p:cNvPr id="32" name="Text 29"/>
          <p:cNvSpPr txBox="1"/>
          <p:nvPr/>
        </p:nvSpPr>
        <p:spPr>
          <a:xfrm>
            <a:off x="1645920" y="4041648"/>
            <a:ext cx="2926080" cy="822960"/>
          </a:xfrm>
          <a:prstGeom prst="rect">
            <a:avLst/>
          </a:prstGeom>
          <a:noFill/>
          <a:ln/>
        </p:spPr>
        <p:txBody>
          <a:bodyPr wrap="square" lIns="0" tIns="0" rIns="0" bIns="0" rtlCol="0" anchor="ctr"/>
          <a:lstStyle/>
          <a:p>
            <a:pPr indent="0" marL="0">
              <a:buNone/>
            </a:pPr>
            <a:r>
              <a:rPr lang="en-US" sz="1600" b="1" dirty="0">
                <a:solidFill>
                  <a:schemeClr val="tx1"/>
                </a:solidFill>
              </a:rPr>
              <a:t>B + CFO, fase y reloj</a:t>
            </a:r>
            <a:endParaRPr lang="en-US" sz="1600" dirty="0"/>
          </a:p>
        </p:txBody>
      </p:sp>
      <p:sp>
        <p:nvSpPr>
          <p:cNvPr id="33" name="Text 30"/>
          <p:cNvSpPr txBox="1"/>
          <p:nvPr/>
        </p:nvSpPr>
        <p:spPr>
          <a:xfrm>
            <a:off x="4709160" y="4041648"/>
            <a:ext cx="4023360" cy="822960"/>
          </a:xfrm>
          <a:prstGeom prst="rect">
            <a:avLst/>
          </a:prstGeom>
          <a:noFill/>
          <a:ln/>
        </p:spPr>
        <p:txBody>
          <a:bodyPr wrap="square" lIns="0" tIns="0" rIns="0" bIns="0" rtlCol="0" anchor="ctr"/>
          <a:lstStyle/>
          <a:p>
            <a:pPr indent="0" marL="0">
              <a:buNone/>
            </a:pPr>
            <a:r>
              <a:rPr lang="en-US" sz="1400" dirty="0">
                <a:solidFill>
                  <a:schemeClr val="tx1"/>
                </a:solidFill>
              </a:rPr>
              <a:t>CFO 0,3 % de Rs · fase 37°</a:t>
            </a:r>
            <a:endParaRPr lang="en-US" sz="1400" dirty="0"/>
          </a:p>
          <a:p>
            <a:pPr indent="0" marL="0">
              <a:buNone/>
            </a:pPr>
            <a:r>
              <a:rPr lang="en-US" sz="1400" dirty="0">
                <a:solidFill>
                  <a:schemeClr val="tx1"/>
                </a:solidFill>
              </a:rPr>
              <a:t>temporización 0,37 T · reloj 20 ppm</a:t>
            </a:r>
            <a:endParaRPr lang="en-US" sz="1400" dirty="0"/>
          </a:p>
        </p:txBody>
      </p:sp>
      <p:sp>
        <p:nvSpPr>
          <p:cNvPr id="34" name="Text 31"/>
          <p:cNvSpPr txBox="1"/>
          <p:nvPr/>
        </p:nvSpPr>
        <p:spPr>
          <a:xfrm>
            <a:off x="8869680" y="4041648"/>
            <a:ext cx="2590495" cy="822960"/>
          </a:xfrm>
          <a:prstGeom prst="rect">
            <a:avLst/>
          </a:prstGeom>
          <a:noFill/>
          <a:ln/>
        </p:spPr>
        <p:txBody>
          <a:bodyPr wrap="square" lIns="0" tIns="0" rIns="0" bIns="0" rtlCol="0" anchor="ctr"/>
          <a:lstStyle/>
          <a:p>
            <a:pPr indent="0" marL="0">
              <a:buNone/>
            </a:pPr>
            <a:r>
              <a:rPr lang="en-US" sz="1400" dirty="0">
                <a:solidFill>
                  <a:schemeClr val="tx2"/>
                </a:solidFill>
              </a:rPr>
              <a:t>Canal degradado: todas las perturbaciones juntas</a:t>
            </a:r>
            <a:endParaRPr lang="en-US" sz="1400" dirty="0"/>
          </a:p>
        </p:txBody>
      </p:sp>
      <p:sp>
        <p:nvSpPr>
          <p:cNvPr id="35" name="escenario D"/>
          <p:cNvSpPr/>
          <p:nvPr/>
        </p:nvSpPr>
        <p:spPr>
          <a:xfrm>
            <a:off x="548640" y="5102352"/>
            <a:ext cx="11094415" cy="1005840"/>
          </a:xfrm>
          <a:prstGeom prst="roundRect">
            <a:avLst>
              <a:gd name="adj" fmla="val 909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36" name="insignia D"/>
          <p:cNvSpPr/>
          <p:nvPr/>
        </p:nvSpPr>
        <p:spPr>
          <a:xfrm>
            <a:off x="777240" y="5303520"/>
            <a:ext cx="603504" cy="603504"/>
          </a:xfrm>
          <a:prstGeom prst="ellipse">
            <a:avLst/>
          </a:prstGeom>
          <a:solidFill>
            <a:schemeClr val="accent1"/>
          </a:solidFill>
          <a:ln w="12700">
            <a:solidFill>
              <a:schemeClr val="accent1"/>
            </a:solidFill>
            <a:prstDash val="solid"/>
          </a:ln>
        </p:spPr>
      </p:sp>
      <p:sp>
        <p:nvSpPr>
          <p:cNvPr id="37" name="Text 34"/>
          <p:cNvSpPr txBox="1"/>
          <p:nvPr/>
        </p:nvSpPr>
        <p:spPr>
          <a:xfrm>
            <a:off x="777240" y="5303520"/>
            <a:ext cx="603504" cy="603504"/>
          </a:xfrm>
          <a:prstGeom prst="rect">
            <a:avLst/>
          </a:prstGeom>
          <a:noFill/>
          <a:ln/>
        </p:spPr>
        <p:txBody>
          <a:bodyPr wrap="square" lIns="0" tIns="0" rIns="0" bIns="0" rtlCol="0" anchor="ctr"/>
          <a:lstStyle/>
          <a:p>
            <a:pPr algn="ctr" indent="0" marL="0">
              <a:buNone/>
            </a:pPr>
            <a:r>
              <a:rPr lang="en-US" sz="2400" b="1" dirty="0">
                <a:solidFill>
                  <a:schemeClr val="bg1"/>
                </a:solidFill>
              </a:rPr>
              <a:t>D</a:t>
            </a:r>
            <a:endParaRPr lang="en-US" sz="2400" dirty="0"/>
          </a:p>
        </p:txBody>
      </p:sp>
      <p:sp>
        <p:nvSpPr>
          <p:cNvPr id="38" name="Text 35"/>
          <p:cNvSpPr txBox="1"/>
          <p:nvPr/>
        </p:nvSpPr>
        <p:spPr>
          <a:xfrm>
            <a:off x="1645920" y="5193792"/>
            <a:ext cx="2926080" cy="822960"/>
          </a:xfrm>
          <a:prstGeom prst="rect">
            <a:avLst/>
          </a:prstGeom>
          <a:noFill/>
          <a:ln/>
        </p:spPr>
        <p:txBody>
          <a:bodyPr wrap="square" lIns="0" tIns="0" rIns="0" bIns="0" rtlCol="0" anchor="ctr"/>
          <a:lstStyle/>
          <a:p>
            <a:pPr indent="0" marL="0">
              <a:buNone/>
            </a:pPr>
            <a:r>
              <a:rPr lang="en-US" sz="1600" b="1" dirty="0">
                <a:solidFill>
                  <a:schemeClr val="tx1"/>
                </a:solidFill>
              </a:rPr>
              <a:t>C + fading de Rayleigh</a:t>
            </a:r>
            <a:endParaRPr lang="en-US" sz="1600" dirty="0"/>
          </a:p>
        </p:txBody>
      </p:sp>
      <p:sp>
        <p:nvSpPr>
          <p:cNvPr id="39" name="Text 36"/>
          <p:cNvSpPr txBox="1"/>
          <p:nvPr/>
        </p:nvSpPr>
        <p:spPr>
          <a:xfrm>
            <a:off x="4709160" y="5193792"/>
            <a:ext cx="4023360" cy="822960"/>
          </a:xfrm>
          <a:prstGeom prst="rect">
            <a:avLst/>
          </a:prstGeom>
          <a:noFill/>
          <a:ln/>
        </p:spPr>
        <p:txBody>
          <a:bodyPr wrap="square" lIns="0" tIns="0" rIns="0" bIns="0" rtlCol="0" anchor="ctr"/>
          <a:lstStyle/>
          <a:p>
            <a:pPr indent="0" marL="0">
              <a:buNone/>
            </a:pPr>
            <a:r>
              <a:rPr lang="en-US" sz="1400" dirty="0">
                <a:solidFill>
                  <a:schemeClr val="tx1"/>
                </a:solidFill>
              </a:rPr>
              <a:t>fD/Rs = 2·10⁻⁴ (≈ 25 Hz)</a:t>
            </a:r>
            <a:endParaRPr lang="en-US" sz="1400" dirty="0"/>
          </a:p>
          <a:p>
            <a:pPr indent="0" marL="0">
              <a:buNone/>
            </a:pPr>
            <a:r>
              <a:rPr lang="en-US" sz="1400" dirty="0">
                <a:solidFill>
                  <a:schemeClr val="tx1"/>
                </a:solidFill>
              </a:rPr>
              <a:t>móvil a 13 km/h en 2,1 GHz</a:t>
            </a:r>
            <a:endParaRPr lang="en-US" sz="1400" dirty="0"/>
          </a:p>
        </p:txBody>
      </p:sp>
      <p:sp>
        <p:nvSpPr>
          <p:cNvPr id="40" name="Text 37"/>
          <p:cNvSpPr txBox="1"/>
          <p:nvPr/>
        </p:nvSpPr>
        <p:spPr>
          <a:xfrm>
            <a:off x="8869680" y="5193792"/>
            <a:ext cx="2590495" cy="822960"/>
          </a:xfrm>
          <a:prstGeom prst="rect">
            <a:avLst/>
          </a:prstGeom>
          <a:noFill/>
          <a:ln/>
        </p:spPr>
        <p:txBody>
          <a:bodyPr wrap="square" lIns="0" tIns="0" rIns="0" bIns="0" rtlCol="0" anchor="ctr"/>
          <a:lstStyle/>
          <a:p>
            <a:pPr indent="0" marL="0">
              <a:buNone/>
            </a:pPr>
            <a:r>
              <a:rPr lang="en-US" sz="1400" dirty="0">
                <a:solidFill>
                  <a:schemeClr val="tx2"/>
                </a:solidFill>
              </a:rPr>
              <a:t>Canal que varía en el tiempo</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1 · BER EN AWGN</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La simulación coincide con la teoría en AWGN</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Cadena completa</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accent1"/>
          </a:solidFill>
          <a:ln w="12700">
            <a:solidFill>
              <a:schemeClr val="accent1"/>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David</a:t>
            </a:r>
            <a:endParaRPr lang="en-US" sz="1200" dirty="0"/>
          </a:p>
        </p:txBody>
      </p:sp>
      <p:sp>
        <p:nvSpPr>
          <p:cNvPr id="17" name="figura"/>
          <p:cNvSpPr/>
          <p:nvPr/>
        </p:nvSpPr>
        <p:spPr>
          <a:xfrm>
            <a:off x="548640" y="1645920"/>
            <a:ext cx="7223760" cy="4617720"/>
          </a:xfrm>
          <a:prstGeom prst="roundRect">
            <a:avLst>
              <a:gd name="adj" fmla="val 198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BER teórica vs simulada" descr="BER y SER teóricas y simuladas para QPSK y 16-QAM en AWGN, de 0 a 12 dB">    </p:cNvPr>
          <p:cNvPicPr>
            <a:picLocks noChangeAspect="1"/>
          </p:cNvPicPr>
          <p:nvPr/>
        </p:nvPicPr>
        <p:blipFill>
          <a:blip r:embed="rId1"/>
          <a:stretch>
            <a:fillRect/>
          </a:stretch>
        </p:blipFill>
        <p:spPr>
          <a:xfrm>
            <a:off x="777240" y="1920240"/>
            <a:ext cx="6766560" cy="3363021"/>
          </a:xfrm>
          <a:prstGeom prst="rect">
            <a:avLst/>
          </a:prstGeom>
        </p:spPr>
      </p:pic>
      <p:sp>
        <p:nvSpPr>
          <p:cNvPr id="19" name="Text 15"/>
          <p:cNvSpPr txBox="1"/>
          <p:nvPr/>
        </p:nvSpPr>
        <p:spPr>
          <a:xfrm>
            <a:off x="777240" y="5440680"/>
            <a:ext cx="6766560" cy="457200"/>
          </a:xfrm>
          <a:prstGeom prst="rect">
            <a:avLst/>
          </a:prstGeom>
          <a:noFill/>
          <a:ln/>
        </p:spPr>
        <p:txBody>
          <a:bodyPr wrap="square" lIns="0" tIns="0" rIns="0" bIns="0" rtlCol="0" anchor="ctr"/>
          <a:lstStyle/>
          <a:p>
            <a:pPr indent="0" marL="0">
              <a:buNone/>
            </a:pPr>
            <a:r>
              <a:rPr lang="en-US" sz="1200" dirty="0">
                <a:solidFill>
                  <a:schemeClr val="tx2"/>
                </a:solidFill>
              </a:rPr>
              <a:t>Escenario A · banda de confianza al 95 % en la curva QPSK</a:t>
            </a:r>
            <a:endParaRPr lang="en-US" sz="1200" dirty="0"/>
          </a:p>
        </p:txBody>
      </p:sp>
      <p:sp>
        <p:nvSpPr>
          <p:cNvPr id="20" name="dato"/>
          <p:cNvSpPr/>
          <p:nvPr/>
        </p:nvSpPr>
        <p:spPr>
          <a:xfrm>
            <a:off x="8001000" y="1645920"/>
            <a:ext cx="363931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1" name="Text 17"/>
          <p:cNvSpPr txBox="1"/>
          <p:nvPr/>
        </p:nvSpPr>
        <p:spPr>
          <a:xfrm>
            <a:off x="8229600" y="1755648"/>
            <a:ext cx="3182112" cy="640080"/>
          </a:xfrm>
          <a:prstGeom prst="rect">
            <a:avLst/>
          </a:prstGeom>
          <a:noFill/>
          <a:ln/>
        </p:spPr>
        <p:txBody>
          <a:bodyPr wrap="square" lIns="0" tIns="0" rIns="0" bIns="0" rtlCol="0" anchor="ctr"/>
          <a:lstStyle/>
          <a:p>
            <a:pPr indent="0" marL="0">
              <a:buNone/>
            </a:pPr>
            <a:r>
              <a:rPr lang="en-US" sz="4000" b="1" dirty="0">
                <a:solidFill>
                  <a:schemeClr val="accent1"/>
                </a:solidFill>
              </a:rPr>
              <a:t>1,10</a:t>
            </a:r>
            <a:endParaRPr lang="en-US" sz="4000" dirty="0"/>
          </a:p>
        </p:txBody>
      </p:sp>
      <p:sp>
        <p:nvSpPr>
          <p:cNvPr id="22" name="Text 18"/>
          <p:cNvSpPr txBox="1"/>
          <p:nvPr/>
        </p:nvSpPr>
        <p:spPr>
          <a:xfrm>
            <a:off x="8229600" y="2395728"/>
            <a:ext cx="3182112" cy="502920"/>
          </a:xfrm>
          <a:prstGeom prst="rect">
            <a:avLst/>
          </a:prstGeom>
          <a:noFill/>
          <a:ln/>
        </p:spPr>
        <p:txBody>
          <a:bodyPr wrap="square" lIns="0" tIns="0" rIns="0" bIns="0" rtlCol="0" anchor="t"/>
          <a:lstStyle/>
          <a:p>
            <a:pPr indent="0" marL="0">
              <a:buNone/>
            </a:pPr>
            <a:r>
              <a:rPr lang="en-US" sz="1400" dirty="0">
                <a:solidFill>
                  <a:schemeClr val="tx2"/>
                </a:solidFill>
              </a:rPr>
              <a:t>razón BER simulada / teórica, QPSK (mediana)</a:t>
            </a:r>
            <a:endParaRPr lang="en-US" sz="1400" dirty="0"/>
          </a:p>
        </p:txBody>
      </p:sp>
      <p:sp>
        <p:nvSpPr>
          <p:cNvPr id="23" name="dato"/>
          <p:cNvSpPr/>
          <p:nvPr/>
        </p:nvSpPr>
        <p:spPr>
          <a:xfrm>
            <a:off x="8001000" y="3200400"/>
            <a:ext cx="363931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4" name="Text 20"/>
          <p:cNvSpPr txBox="1"/>
          <p:nvPr/>
        </p:nvSpPr>
        <p:spPr>
          <a:xfrm>
            <a:off x="8229600" y="3310128"/>
            <a:ext cx="3182112" cy="640080"/>
          </a:xfrm>
          <a:prstGeom prst="rect">
            <a:avLst/>
          </a:prstGeom>
          <a:noFill/>
          <a:ln/>
        </p:spPr>
        <p:txBody>
          <a:bodyPr wrap="square" lIns="0" tIns="0" rIns="0" bIns="0" rtlCol="0" anchor="ctr"/>
          <a:lstStyle/>
          <a:p>
            <a:pPr indent="0" marL="0">
              <a:buNone/>
            </a:pPr>
            <a:r>
              <a:rPr lang="en-US" sz="4000" b="1" dirty="0">
                <a:solidFill>
                  <a:schemeClr val="accent1"/>
                </a:solidFill>
              </a:rPr>
              <a:t>1,15</a:t>
            </a:r>
            <a:endParaRPr lang="en-US" sz="4000" dirty="0"/>
          </a:p>
        </p:txBody>
      </p:sp>
      <p:sp>
        <p:nvSpPr>
          <p:cNvPr id="25" name="Text 21"/>
          <p:cNvSpPr txBox="1"/>
          <p:nvPr/>
        </p:nvSpPr>
        <p:spPr>
          <a:xfrm>
            <a:off x="8229600" y="3950208"/>
            <a:ext cx="3182112" cy="502920"/>
          </a:xfrm>
          <a:prstGeom prst="rect">
            <a:avLst/>
          </a:prstGeom>
          <a:noFill/>
          <a:ln/>
        </p:spPr>
        <p:txBody>
          <a:bodyPr wrap="square" lIns="0" tIns="0" rIns="0" bIns="0" rtlCol="0" anchor="t"/>
          <a:lstStyle/>
          <a:p>
            <a:pPr indent="0" marL="0">
              <a:buNone/>
            </a:pPr>
            <a:r>
              <a:rPr lang="en-US" sz="1400" dirty="0">
                <a:solidFill>
                  <a:schemeClr val="tx2"/>
                </a:solidFill>
              </a:rPr>
              <a:t>ídem para 16-QAM (mediana)</a:t>
            </a:r>
            <a:endParaRPr lang="en-US" sz="1400" dirty="0"/>
          </a:p>
        </p:txBody>
      </p:sp>
      <p:sp>
        <p:nvSpPr>
          <p:cNvPr id="26" name="referencia"/>
          <p:cNvSpPr/>
          <p:nvPr/>
        </p:nvSpPr>
        <p:spPr>
          <a:xfrm>
            <a:off x="8001000" y="4754880"/>
            <a:ext cx="3639312" cy="1508760"/>
          </a:xfrm>
          <a:prstGeom prst="roundRect">
            <a:avLst>
              <a:gd name="adj" fmla="val 606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7" name="Text 23"/>
          <p:cNvSpPr txBox="1"/>
          <p:nvPr/>
        </p:nvSpPr>
        <p:spPr>
          <a:xfrm>
            <a:off x="8229600" y="4846320"/>
            <a:ext cx="3200400" cy="1325880"/>
          </a:xfrm>
          <a:prstGeom prst="rect">
            <a:avLst/>
          </a:prstGeom>
          <a:noFill/>
          <a:ln/>
        </p:spPr>
        <p:txBody>
          <a:bodyPr wrap="square" lIns="0" tIns="0" rIns="0" bIns="0" rtlCol="0" anchor="ctr"/>
          <a:lstStyle/>
          <a:p>
            <a:pPr indent="0" marL="0">
              <a:buNone/>
            </a:pPr>
            <a:r>
              <a:rPr lang="en-US" sz="1400" b="1" dirty="0">
                <a:solidFill>
                  <a:schemeClr val="tx1"/>
                </a:solidFill>
              </a:rPr>
              <a:t>Referencia teórica</a:t>
            </a:r>
            <a:endParaRPr lang="en-US" sz="1400" dirty="0"/>
          </a:p>
          <a:p>
            <a:pPr indent="0" marL="0">
              <a:buNone/>
            </a:pPr>
            <a:r>
              <a:rPr lang="en-US" sz="1400" dirty="0">
                <a:solidFill>
                  <a:schemeClr val="tx1"/>
                </a:solidFill>
              </a:rPr>
              <a:t>QPSK con mapeo Gray:</a:t>
            </a:r>
            <a:endParaRPr lang="en-US" sz="1400" dirty="0"/>
          </a:p>
          <a:p>
            <a:pPr indent="0" marL="0">
              <a:buNone/>
            </a:pPr>
            <a:r>
              <a:rPr lang="en-US" sz="1800" b="1" dirty="0">
                <a:solidFill>
                  <a:schemeClr val="accent1"/>
                </a:solidFill>
              </a:rPr>
              <a:t>Pb = Q(√(2·Eb/N0))</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2 · EFECTO DE LA ISI</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A igual Eb/N0, la ISI cierra el ojo y dispara la BER</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Canal</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bg1"/>
          </a:solidFill>
          <a:ln w="12700">
            <a:solidFill>
              <a:srgbClr val="C8C0E0"/>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David</a:t>
            </a:r>
            <a:endParaRPr lang="en-US" sz="1200" dirty="0"/>
          </a:p>
        </p:txBody>
      </p:sp>
      <p:sp>
        <p:nvSpPr>
          <p:cNvPr id="17" name="figura"/>
          <p:cNvSpPr/>
          <p:nvPr/>
        </p:nvSpPr>
        <p:spPr>
          <a:xfrm>
            <a:off x="548640" y="1645920"/>
            <a:ext cx="11094415" cy="2834640"/>
          </a:xfrm>
          <a:prstGeom prst="roundRect">
            <a:avLst>
              <a:gd name="adj" fmla="val 3226"/>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ojo por perfil" descr="Diagrama de ojo para canal plano, leve, moderado y severo: se cierra al aumentar la dispersión">    </p:cNvPr>
          <p:cNvPicPr>
            <a:picLocks noChangeAspect="1"/>
          </p:cNvPicPr>
          <p:nvPr/>
        </p:nvPicPr>
        <p:blipFill>
          <a:blip r:embed="rId1"/>
          <a:stretch>
            <a:fillRect/>
          </a:stretch>
        </p:blipFill>
        <p:spPr>
          <a:xfrm>
            <a:off x="731520" y="1755648"/>
            <a:ext cx="10698480" cy="2663249"/>
          </a:xfrm>
          <a:prstGeom prst="rect">
            <a:avLst/>
          </a:prstGeom>
        </p:spPr>
      </p:pic>
      <p:graphicFrame>
        <p:nvGraphicFramePr>
          <p:cNvPr id="7" name="tabla ISI"/>
          <p:cNvGraphicFramePr>
            <a:graphicFrameLocks noGrp="1"/>
          </p:cNvGraphicFramePr>
          <p:nvPr>
            <p:extLst>
              <p:ext uri="{D42A27DB-BD31-4B8C-83A1-F6EECF244321}">
                <p14:modId xmlns:p14="http://schemas.microsoft.com/office/powerpoint/2010/main" val="1579011935"/>
              </p:ext>
            </p:extLst>
          </p:nvPr>
        </p:nvGraphicFramePr>
        <p:xfrm>
          <a:off x="548640" y="4663440"/>
          <a:ext cx="11094415" cy="914400"/>
        </p:xfrm>
        <a:graphic>
          <a:graphicData uri="http://schemas.openxmlformats.org/drawingml/2006/table">
            <a:tbl>
              <a:tblPr/>
              <a:tblGrid>
                <a:gridCol w="2743200"/>
                <a:gridCol w="2011680"/>
                <a:gridCol w="2377440"/>
                <a:gridCol w="1920240"/>
                <a:gridCol w="2041855"/>
              </a:tblGrid>
              <a:tr h="301752">
                <a:tc>
                  <a:txBody>
                    <a:bodyPr/>
                    <a:lstStyle/>
                    <a:p>
                      <a:pPr algn="l" indent="0" marL="0">
                        <a:buNone/>
                      </a:pPr>
                      <a:r>
                        <a:rPr lang="en-US" sz="1200" b="1" dirty="0">
                          <a:solidFill>
                            <a:schemeClr val="tx2"/>
                          </a:solidFill>
                          <a:latin typeface="Arial" pitchFamily="34" charset="0"/>
                          <a:ea typeface="Arial" pitchFamily="34" charset="-122"/>
                          <a:cs typeface="Arial" pitchFamily="34" charset="-120"/>
                        </a:rPr>
                        <a:t>Perfil</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τrms [T]</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Apertura del ojo</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EVM [%]</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BER</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r>
              <a:tr h="301752">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Plano</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0,000</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0,764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14,3</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&lt; 10⁻⁶</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301752">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Leve</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0,264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0,672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20,1</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&lt; 10⁻⁶</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301752">
                <a:tc>
                  <a:txBody>
                    <a:bodyPr/>
                    <a:lstStyle/>
                    <a:p>
                      <a:pPr algn="l" indent="0" marL="0">
                        <a:buNone/>
                      </a:pPr>
                      <a:r>
                        <a:rPr lang="en-US" sz="1300" b="1" dirty="0">
                          <a:solidFill>
                            <a:schemeClr val="tx1"/>
                          </a:solidFill>
                          <a:latin typeface="Arial" pitchFamily="34" charset="0"/>
                          <a:ea typeface="Arial" pitchFamily="34" charset="-122"/>
                          <a:cs typeface="Arial" pitchFamily="34" charset="-120"/>
                        </a:rPr>
                        <a:t>Moderado</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0,622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0,115</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63,6</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6,11·10</a:t>
                      </a:r>
                      <a:pPr algn="r" indent="0" marL="0">
                        <a:buNone/>
                      </a:pPr>
                      <a:r>
                        <a:rPr lang="en-US" sz="1300" b="1" baseline="30000" dirty="0">
                          <a:solidFill>
                            <a:schemeClr val="tx1"/>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301752">
                <a:tc>
                  <a:txBody>
                    <a:bodyPr/>
                    <a:lstStyle/>
                    <a:p>
                      <a:pPr algn="l" indent="0" marL="0">
                        <a:buNone/>
                      </a:pPr>
                      <a:r>
                        <a:rPr lang="en-US" sz="1300" b="1" dirty="0">
                          <a:solidFill>
                            <a:schemeClr val="tx1"/>
                          </a:solidFill>
                          <a:latin typeface="Arial" pitchFamily="34" charset="0"/>
                          <a:ea typeface="Arial" pitchFamily="34" charset="-122"/>
                          <a:cs typeface="Arial" pitchFamily="34" charset="-120"/>
                        </a:rPr>
                        <a:t>Severo</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1,145</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0,083</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502,4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4,64·10</a:t>
                      </a:r>
                      <a:pPr algn="r" indent="0" marL="0">
                        <a:buNone/>
                      </a:pPr>
                      <a:r>
                        <a:rPr lang="en-US" sz="1300" b="1" baseline="30000" dirty="0">
                          <a:solidFill>
                            <a:schemeClr val="tx1"/>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3 · LMS FRENTE A RLS</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RLS converge antes; LMS cuesta 44 veces menos</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Ecualizador</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bg1"/>
          </a:solidFill>
          <a:ln w="12700">
            <a:solidFill>
              <a:srgbClr val="C8C0E0"/>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David</a:t>
            </a:r>
            <a:endParaRPr lang="en-US" sz="1200" dirty="0"/>
          </a:p>
        </p:txBody>
      </p:sp>
      <p:sp>
        <p:nvSpPr>
          <p:cNvPr id="17" name="figura"/>
          <p:cNvSpPr/>
          <p:nvPr/>
        </p:nvSpPr>
        <p:spPr>
          <a:xfrm>
            <a:off x="548640" y="1645920"/>
            <a:ext cx="6309360" cy="4617720"/>
          </a:xfrm>
          <a:prstGeom prst="roundRect">
            <a:avLst>
              <a:gd name="adj" fmla="val 198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curvas de aprendizaje" descr="Curvas de aprendizaje de LMS, RLS y CMA: MSE instantáneo frente al símbolo a 14 dB">    </p:cNvPr>
          <p:cNvPicPr>
            <a:picLocks noChangeAspect="1"/>
          </p:cNvPicPr>
          <p:nvPr/>
        </p:nvPicPr>
        <p:blipFill>
          <a:blip r:embed="rId1"/>
          <a:stretch>
            <a:fillRect/>
          </a:stretch>
        </p:blipFill>
        <p:spPr>
          <a:xfrm>
            <a:off x="1097280" y="1920240"/>
            <a:ext cx="5212080" cy="3651434"/>
          </a:xfrm>
          <a:prstGeom prst="rect">
            <a:avLst/>
          </a:prstGeom>
        </p:spPr>
      </p:pic>
      <p:sp>
        <p:nvSpPr>
          <p:cNvPr id="19" name="Text 15"/>
          <p:cNvSpPr txBox="1"/>
          <p:nvPr/>
        </p:nvSpPr>
        <p:spPr>
          <a:xfrm>
            <a:off x="777240" y="5669280"/>
            <a:ext cx="5852160" cy="457200"/>
          </a:xfrm>
          <a:prstGeom prst="rect">
            <a:avLst/>
          </a:prstGeom>
          <a:noFill/>
          <a:ln/>
        </p:spPr>
        <p:txBody>
          <a:bodyPr wrap="square" lIns="0" tIns="0" rIns="0" bIns="0" rtlCol="0" anchor="ctr"/>
          <a:lstStyle/>
          <a:p>
            <a:pPr algn="ctr" indent="0" marL="0">
              <a:buNone/>
            </a:pPr>
            <a:r>
              <a:rPr lang="en-US" sz="1200" dirty="0">
                <a:solidFill>
                  <a:schemeClr val="tx2"/>
                </a:solidFill>
              </a:rPr>
              <a:t>Escenario B, canal moderado, 14 dB · el entrenamiento termina en el símbolo 512</a:t>
            </a:r>
            <a:endParaRPr lang="en-US" sz="1200" dirty="0"/>
          </a:p>
        </p:txBody>
      </p:sp>
      <p:sp>
        <p:nvSpPr>
          <p:cNvPr id="20" name="dato"/>
          <p:cNvSpPr/>
          <p:nvPr/>
        </p:nvSpPr>
        <p:spPr>
          <a:xfrm>
            <a:off x="7086600" y="1645920"/>
            <a:ext cx="455371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1" name="Text 17"/>
          <p:cNvSpPr txBox="1"/>
          <p:nvPr/>
        </p:nvSpPr>
        <p:spPr>
          <a:xfrm>
            <a:off x="7315200" y="1755648"/>
            <a:ext cx="4096512" cy="640080"/>
          </a:xfrm>
          <a:prstGeom prst="rect">
            <a:avLst/>
          </a:prstGeom>
          <a:noFill/>
          <a:ln/>
        </p:spPr>
        <p:txBody>
          <a:bodyPr wrap="square" lIns="0" tIns="0" rIns="0" bIns="0" rtlCol="0" anchor="ctr"/>
          <a:lstStyle/>
          <a:p>
            <a:pPr indent="0" marL="0">
              <a:buNone/>
            </a:pPr>
            <a:r>
              <a:rPr lang="en-US" sz="4000" b="1" dirty="0">
                <a:solidFill>
                  <a:schemeClr val="accent1"/>
                </a:solidFill>
              </a:rPr>
              <a:t>44×</a:t>
            </a:r>
            <a:endParaRPr lang="en-US" sz="4000" dirty="0"/>
          </a:p>
        </p:txBody>
      </p:sp>
      <p:sp>
        <p:nvSpPr>
          <p:cNvPr id="22" name="Text 18"/>
          <p:cNvSpPr txBox="1"/>
          <p:nvPr/>
        </p:nvSpPr>
        <p:spPr>
          <a:xfrm>
            <a:off x="7315200" y="2395728"/>
            <a:ext cx="4096512" cy="502920"/>
          </a:xfrm>
          <a:prstGeom prst="rect">
            <a:avLst/>
          </a:prstGeom>
          <a:noFill/>
          <a:ln/>
        </p:spPr>
        <p:txBody>
          <a:bodyPr wrap="square" lIns="0" tIns="0" rIns="0" bIns="0" rtlCol="0" anchor="t"/>
          <a:lstStyle/>
          <a:p>
            <a:pPr indent="0" marL="0">
              <a:buNone/>
            </a:pPr>
            <a:r>
              <a:rPr lang="en-US" sz="1400" dirty="0">
                <a:solidFill>
                  <a:schemeClr val="tx2"/>
                </a:solidFill>
              </a:rPr>
              <a:t>más multiplicaciones por símbolo: RLS 7392 frente a LMS 168 (N = 21). RLS propaga una matriz N×N</a:t>
            </a:r>
            <a:endParaRPr lang="en-US" sz="1400" dirty="0"/>
          </a:p>
        </p:txBody>
      </p:sp>
      <p:sp>
        <p:nvSpPr>
          <p:cNvPr id="23" name="dato"/>
          <p:cNvSpPr/>
          <p:nvPr/>
        </p:nvSpPr>
        <p:spPr>
          <a:xfrm>
            <a:off x="7086600" y="3223260"/>
            <a:ext cx="455371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4" name="Text 20"/>
          <p:cNvSpPr txBox="1"/>
          <p:nvPr/>
        </p:nvSpPr>
        <p:spPr>
          <a:xfrm>
            <a:off x="7315200" y="3332988"/>
            <a:ext cx="4096512" cy="640080"/>
          </a:xfrm>
          <a:prstGeom prst="rect">
            <a:avLst/>
          </a:prstGeom>
          <a:noFill/>
          <a:ln/>
        </p:spPr>
        <p:txBody>
          <a:bodyPr wrap="square" lIns="0" tIns="0" rIns="0" bIns="0" rtlCol="0" anchor="ctr"/>
          <a:lstStyle/>
          <a:p>
            <a:pPr indent="0" marL="0">
              <a:buNone/>
            </a:pPr>
            <a:r>
              <a:rPr lang="en-US" sz="4000" b="1" dirty="0">
                <a:solidFill>
                  <a:schemeClr val="accent1"/>
                </a:solidFill>
              </a:rPr>
              <a:t>60 · 78</a:t>
            </a:r>
            <a:endParaRPr lang="en-US" sz="4000" dirty="0"/>
          </a:p>
        </p:txBody>
      </p:sp>
      <p:sp>
        <p:nvSpPr>
          <p:cNvPr id="25" name="Text 21"/>
          <p:cNvSpPr txBox="1"/>
          <p:nvPr/>
        </p:nvSpPr>
        <p:spPr>
          <a:xfrm>
            <a:off x="7315200" y="3973068"/>
            <a:ext cx="4096512" cy="502920"/>
          </a:xfrm>
          <a:prstGeom prst="rect">
            <a:avLst/>
          </a:prstGeom>
          <a:noFill/>
          <a:ln/>
        </p:spPr>
        <p:txBody>
          <a:bodyPr wrap="square" lIns="0" tIns="0" rIns="0" bIns="0" rtlCol="0" anchor="t"/>
          <a:lstStyle/>
          <a:p>
            <a:pPr indent="0" marL="0">
              <a:buNone/>
            </a:pPr>
            <a:r>
              <a:rPr lang="en-US" sz="1400" dirty="0">
                <a:solidFill>
                  <a:schemeClr val="tx2"/>
                </a:solidFill>
              </a:rPr>
              <a:t>símbolos hasta −9 dB de MSE: RLS frente a LMS</a:t>
            </a:r>
            <a:endParaRPr lang="en-US" sz="1400" dirty="0"/>
          </a:p>
        </p:txBody>
      </p:sp>
      <p:sp>
        <p:nvSpPr>
          <p:cNvPr id="26" name="dato"/>
          <p:cNvSpPr/>
          <p:nvPr/>
        </p:nvSpPr>
        <p:spPr>
          <a:xfrm>
            <a:off x="7086600" y="4800600"/>
            <a:ext cx="455371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7" name="Text 23"/>
          <p:cNvSpPr txBox="1"/>
          <p:nvPr/>
        </p:nvSpPr>
        <p:spPr>
          <a:xfrm>
            <a:off x="7315200" y="4910328"/>
            <a:ext cx="4096512" cy="640080"/>
          </a:xfrm>
          <a:prstGeom prst="rect">
            <a:avLst/>
          </a:prstGeom>
          <a:noFill/>
          <a:ln/>
        </p:spPr>
        <p:txBody>
          <a:bodyPr wrap="square" lIns="0" tIns="0" rIns="0" bIns="0" rtlCol="0" anchor="ctr"/>
          <a:lstStyle/>
          <a:p>
            <a:pPr indent="0" marL="0">
              <a:buNone/>
            </a:pPr>
            <a:r>
              <a:rPr lang="en-US" sz="3000" b="1" dirty="0">
                <a:solidFill>
                  <a:schemeClr val="accent1"/>
                </a:solidFill>
              </a:rPr>
              <a:t>2,2·10</a:t>
            </a:r>
            <a:pPr indent="0" marL="0">
              <a:buNone/>
            </a:pPr>
            <a:r>
              <a:rPr lang="en-US" sz="3000" b="1" baseline="30000" dirty="0">
                <a:solidFill>
                  <a:schemeClr val="accent1"/>
                </a:solidFill>
              </a:rPr>
              <a:t>−3</a:t>
            </a:r>
            <a:pPr indent="0" marL="0">
              <a:buNone/>
            </a:pPr>
            <a:r>
              <a:rPr lang="en-US" sz="3000" b="1" dirty="0">
                <a:solidFill>
                  <a:schemeClr val="accent1"/>
                </a:solidFill>
              </a:rPr>
              <a:t> → </a:t>
            </a:r>
            <a:pPr indent="0" marL="0">
              <a:buNone/>
            </a:pPr>
            <a:r>
              <a:rPr lang="en-US" sz="3000" b="1" dirty="0">
                <a:solidFill>
                  <a:schemeClr val="accent1"/>
                </a:solidFill>
              </a:rPr>
              <a:t>2,5·10</a:t>
            </a:r>
            <a:pPr indent="0" marL="0">
              <a:buNone/>
            </a:pPr>
            <a:r>
              <a:rPr lang="en-US" sz="3000" b="1" baseline="30000" dirty="0">
                <a:solidFill>
                  <a:schemeClr val="accent1"/>
                </a:solidFill>
              </a:rPr>
              <a:t>−5</a:t>
            </a:r>
            <a:endParaRPr lang="en-US" sz="3000" dirty="0"/>
          </a:p>
        </p:txBody>
      </p:sp>
      <p:sp>
        <p:nvSpPr>
          <p:cNvPr id="28" name="Text 24"/>
          <p:cNvSpPr txBox="1"/>
          <p:nvPr/>
        </p:nvSpPr>
        <p:spPr>
          <a:xfrm>
            <a:off x="7315200" y="5550408"/>
            <a:ext cx="4096512" cy="502920"/>
          </a:xfrm>
          <a:prstGeom prst="rect">
            <a:avLst/>
          </a:prstGeom>
          <a:noFill/>
          <a:ln/>
        </p:spPr>
        <p:txBody>
          <a:bodyPr wrap="square" lIns="0" tIns="0" rIns="0" bIns="0" rtlCol="0" anchor="t"/>
          <a:lstStyle/>
          <a:p>
            <a:pPr indent="0" marL="0">
              <a:buNone/>
            </a:pPr>
            <a:r>
              <a:rPr lang="en-US" sz="1400" dirty="0">
                <a:solidFill>
                  <a:schemeClr val="tx2"/>
                </a:solidFill>
              </a:rPr>
              <a:t>BER del LMS al subir μ de 0,02 a 0,5: el paso lo decide casi todo</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3 · BER FRENTE A Eb/N0</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Sin ecualizar la BER se estanca; ecualizando cae bajo 10⁻⁵</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Ecualizador</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bg1"/>
          </a:solidFill>
          <a:ln w="12700">
            <a:solidFill>
              <a:srgbClr val="C8C0E0"/>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David</a:t>
            </a:r>
            <a:endParaRPr lang="en-US" sz="1200" dirty="0"/>
          </a:p>
        </p:txBody>
      </p:sp>
      <p:sp>
        <p:nvSpPr>
          <p:cNvPr id="17" name="gráfica"/>
          <p:cNvSpPr/>
          <p:nvPr/>
        </p:nvSpPr>
        <p:spPr>
          <a:xfrm>
            <a:off x="548640" y="1645920"/>
            <a:ext cx="7498080" cy="4617720"/>
          </a:xfrm>
          <a:prstGeom prst="roundRect">
            <a:avLst>
              <a:gd name="adj" fmla="val 198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graphicFrame>
        <p:nvGraphicFramePr>
          <p:cNvPr id="18" name="BER por ecualizador" descr=""/>
          <p:cNvGraphicFramePr/>
          <p:nvPr/>
        </p:nvGraphicFramePr>
        <p:xfrm>
          <a:off x="640080" y="1737360"/>
          <a:ext cx="7315200" cy="3886200"/>
        </p:xfrm>
        <a:graphic xmlns:a="http://schemas.openxmlformats.org/drawingml/2006/main">
          <a:graphicData uri="http://schemas.openxmlformats.org/drawingml/2006/chart">
            <c:chart xmlns:c="http://schemas.openxmlformats.org/drawingml/2006/chart" r:id="rId1"/>
          </a:graphicData>
        </a:graphic>
      </p:graphicFrame>
      <p:sp>
        <p:nvSpPr>
          <p:cNvPr id="19" name="Text 15"/>
          <p:cNvSpPr txBox="1"/>
          <p:nvPr/>
        </p:nvSpPr>
        <p:spPr>
          <a:xfrm>
            <a:off x="822960" y="5715000"/>
            <a:ext cx="6949440" cy="457200"/>
          </a:xfrm>
          <a:prstGeom prst="rect">
            <a:avLst/>
          </a:prstGeom>
          <a:noFill/>
          <a:ln/>
        </p:spPr>
        <p:txBody>
          <a:bodyPr wrap="square" lIns="0" tIns="0" rIns="0" bIns="0" rtlCol="0" anchor="t"/>
          <a:lstStyle/>
          <a:p>
            <a:pPr indent="0" marL="0">
              <a:buNone/>
            </a:pPr>
            <a:r>
              <a:rPr lang="en-US" sz="1200" dirty="0">
                <a:solidFill>
                  <a:schemeClr val="tx2"/>
                </a:solidFill>
              </a:rPr>
              <a:t>Escenario B, canal moderado, QPSK. Los puntos sobre el suelo del gráfico son cero errores observados (&lt; 10⁻⁶), no BER cero.</a:t>
            </a:r>
            <a:endParaRPr lang="en-US" sz="1200" dirty="0"/>
          </a:p>
        </p:txBody>
      </p:sp>
      <p:sp>
        <p:nvSpPr>
          <p:cNvPr id="20" name="dato"/>
          <p:cNvSpPr/>
          <p:nvPr/>
        </p:nvSpPr>
        <p:spPr>
          <a:xfrm>
            <a:off x="8229600" y="1645920"/>
            <a:ext cx="341071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1" name="Text 17"/>
          <p:cNvSpPr txBox="1"/>
          <p:nvPr/>
        </p:nvSpPr>
        <p:spPr>
          <a:xfrm>
            <a:off x="8458200" y="1755648"/>
            <a:ext cx="2953512" cy="594360"/>
          </a:xfrm>
          <a:prstGeom prst="rect">
            <a:avLst/>
          </a:prstGeom>
          <a:noFill/>
          <a:ln/>
        </p:spPr>
        <p:txBody>
          <a:bodyPr wrap="square" lIns="0" tIns="0" rIns="0" bIns="0" rtlCol="0" anchor="ctr"/>
          <a:lstStyle/>
          <a:p>
            <a:pPr indent="0" marL="0">
              <a:buNone/>
            </a:pPr>
            <a:r>
              <a:rPr lang="en-US" sz="3600" b="1" dirty="0">
                <a:solidFill>
                  <a:schemeClr val="accent1"/>
                </a:solidFill>
              </a:rPr>
              <a:t>5·10</a:t>
            </a:r>
            <a:pPr indent="0" marL="0">
              <a:buNone/>
            </a:pPr>
            <a:r>
              <a:rPr lang="en-US" sz="3600" b="1" baseline="30000" dirty="0">
                <a:solidFill>
                  <a:schemeClr val="accent1"/>
                </a:solidFill>
              </a:rPr>
              <a:t>−2</a:t>
            </a:r>
            <a:endParaRPr lang="en-US" sz="3600" dirty="0"/>
          </a:p>
        </p:txBody>
      </p:sp>
      <p:sp>
        <p:nvSpPr>
          <p:cNvPr id="22" name="Text 18"/>
          <p:cNvSpPr txBox="1"/>
          <p:nvPr/>
        </p:nvSpPr>
        <p:spPr>
          <a:xfrm>
            <a:off x="8458200" y="2350008"/>
            <a:ext cx="2953512" cy="548640"/>
          </a:xfrm>
          <a:prstGeom prst="rect">
            <a:avLst/>
          </a:prstGeom>
          <a:noFill/>
          <a:ln/>
        </p:spPr>
        <p:txBody>
          <a:bodyPr wrap="square" lIns="0" tIns="0" rIns="0" bIns="0" rtlCol="0" anchor="t"/>
          <a:lstStyle/>
          <a:p>
            <a:pPr indent="0" marL="0">
              <a:buNone/>
            </a:pPr>
            <a:r>
              <a:rPr lang="en-US" sz="1300" dirty="0">
                <a:solidFill>
                  <a:schemeClr val="tx2"/>
                </a:solidFill>
              </a:rPr>
              <a:t>BER sin ecualizar a 20 dB: la ISI deja un piso que más SNR no arregla</a:t>
            </a:r>
            <a:endParaRPr lang="en-US" sz="1300" dirty="0"/>
          </a:p>
        </p:txBody>
      </p:sp>
      <p:sp>
        <p:nvSpPr>
          <p:cNvPr id="23" name="dato"/>
          <p:cNvSpPr/>
          <p:nvPr/>
        </p:nvSpPr>
        <p:spPr>
          <a:xfrm>
            <a:off x="8229600" y="3223260"/>
            <a:ext cx="341071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4" name="Text 20"/>
          <p:cNvSpPr txBox="1"/>
          <p:nvPr/>
        </p:nvSpPr>
        <p:spPr>
          <a:xfrm>
            <a:off x="8458200" y="3332988"/>
            <a:ext cx="2953512" cy="594360"/>
          </a:xfrm>
          <a:prstGeom prst="rect">
            <a:avLst/>
          </a:prstGeom>
          <a:noFill/>
          <a:ln/>
        </p:spPr>
        <p:txBody>
          <a:bodyPr wrap="square" lIns="0" tIns="0" rIns="0" bIns="0" rtlCol="0" anchor="ctr"/>
          <a:lstStyle/>
          <a:p>
            <a:pPr indent="0" marL="0">
              <a:buNone/>
            </a:pPr>
            <a:r>
              <a:rPr lang="en-US" sz="3600" b="1" dirty="0">
                <a:solidFill>
                  <a:schemeClr val="accent1"/>
                </a:solidFill>
              </a:rPr>
              <a:t>12 dB</a:t>
            </a:r>
            <a:endParaRPr lang="en-US" sz="3600" dirty="0"/>
          </a:p>
        </p:txBody>
      </p:sp>
      <p:sp>
        <p:nvSpPr>
          <p:cNvPr id="25" name="Text 21"/>
          <p:cNvSpPr txBox="1"/>
          <p:nvPr/>
        </p:nvSpPr>
        <p:spPr>
          <a:xfrm>
            <a:off x="8458200" y="3927348"/>
            <a:ext cx="2953512" cy="548640"/>
          </a:xfrm>
          <a:prstGeom prst="rect">
            <a:avLst/>
          </a:prstGeom>
          <a:noFill/>
          <a:ln/>
        </p:spPr>
        <p:txBody>
          <a:bodyPr wrap="square" lIns="0" tIns="0" rIns="0" bIns="0" rtlCol="0" anchor="t"/>
          <a:lstStyle/>
          <a:p>
            <a:pPr indent="0" marL="0">
              <a:buNone/>
            </a:pPr>
            <a:r>
              <a:rPr lang="en-US" sz="1300" dirty="0">
                <a:solidFill>
                  <a:schemeClr val="tx2"/>
                </a:solidFill>
              </a:rPr>
              <a:t>bastan para BER &lt; 10⁻³ con los cinco métodos</a:t>
            </a:r>
            <a:endParaRPr lang="en-US" sz="1300" dirty="0"/>
          </a:p>
        </p:txBody>
      </p:sp>
      <p:sp>
        <p:nvSpPr>
          <p:cNvPr id="26" name="dato"/>
          <p:cNvSpPr/>
          <p:nvPr/>
        </p:nvSpPr>
        <p:spPr>
          <a:xfrm>
            <a:off x="8229600" y="4800600"/>
            <a:ext cx="341071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7" name="Text 23"/>
          <p:cNvSpPr txBox="1"/>
          <p:nvPr/>
        </p:nvSpPr>
        <p:spPr>
          <a:xfrm>
            <a:off x="8458200" y="4910328"/>
            <a:ext cx="2953512" cy="594360"/>
          </a:xfrm>
          <a:prstGeom prst="rect">
            <a:avLst/>
          </a:prstGeom>
          <a:noFill/>
          <a:ln/>
        </p:spPr>
        <p:txBody>
          <a:bodyPr wrap="square" lIns="0" tIns="0" rIns="0" bIns="0" rtlCol="0" anchor="ctr"/>
          <a:lstStyle/>
          <a:p>
            <a:pPr indent="0" marL="0">
              <a:buNone/>
            </a:pPr>
            <a:r>
              <a:rPr lang="en-US" sz="2800" b="1" dirty="0">
                <a:solidFill>
                  <a:schemeClr val="accent1"/>
                </a:solidFill>
              </a:rPr>
              <a:t>0,16 &gt; 0,10</a:t>
            </a:r>
            <a:endParaRPr lang="en-US" sz="2800" dirty="0"/>
          </a:p>
        </p:txBody>
      </p:sp>
      <p:sp>
        <p:nvSpPr>
          <p:cNvPr id="28" name="Text 24"/>
          <p:cNvSpPr txBox="1"/>
          <p:nvPr/>
        </p:nvSpPr>
        <p:spPr>
          <a:xfrm>
            <a:off x="8458200" y="5504688"/>
            <a:ext cx="2953512" cy="548640"/>
          </a:xfrm>
          <a:prstGeom prst="rect">
            <a:avLst/>
          </a:prstGeom>
          <a:noFill/>
          <a:ln/>
        </p:spPr>
        <p:txBody>
          <a:bodyPr wrap="square" lIns="0" tIns="0" rIns="0" bIns="0" rtlCol="0" anchor="t"/>
          <a:lstStyle/>
          <a:p>
            <a:pPr indent="0" marL="0">
              <a:buNone/>
            </a:pPr>
            <a:r>
              <a:rPr lang="en-US" sz="1300" dirty="0">
                <a:solidFill>
                  <a:schemeClr val="tx2"/>
                </a:solidFill>
              </a:rPr>
              <a:t>a 6 dB el LMS comete más errores que no ecualizar</a:t>
            </a:r>
            <a:endParaRPr lang="en-US" sz="13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3 · ZERO-FORCING FRENTE A MMSE</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MMSE gana a ZF con ruido; con SNR alta no se distinguen</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Ecualizador</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bg1"/>
          </a:solidFill>
          <a:ln w="12700">
            <a:solidFill>
              <a:srgbClr val="C8C0E0"/>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Antony</a:t>
            </a:r>
            <a:endParaRPr lang="en-US" sz="1200" dirty="0"/>
          </a:p>
        </p:txBody>
      </p:sp>
      <p:sp>
        <p:nvSpPr>
          <p:cNvPr id="17" name="gráfica"/>
          <p:cNvSpPr/>
          <p:nvPr/>
        </p:nvSpPr>
        <p:spPr>
          <a:xfrm>
            <a:off x="548640" y="1645920"/>
            <a:ext cx="6172200" cy="4617720"/>
          </a:xfrm>
          <a:prstGeom prst="roundRect">
            <a:avLst>
              <a:gd name="adj" fmla="val 198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graphicFrame>
        <p:nvGraphicFramePr>
          <p:cNvPr id="18" name="ahorro de MMSE" descr=""/>
          <p:cNvGraphicFramePr/>
          <p:nvPr/>
        </p:nvGraphicFramePr>
        <p:xfrm>
          <a:off x="640080" y="1737360"/>
          <a:ext cx="5989320" cy="3749040"/>
        </p:xfrm>
        <a:graphic xmlns:a="http://schemas.openxmlformats.org/drawingml/2006/main">
          <a:graphicData uri="http://schemas.openxmlformats.org/drawingml/2006/chart">
            <c:chart xmlns:c="http://schemas.openxmlformats.org/drawingml/2006/chart" r:id="rId1"/>
          </a:graphicData>
        </a:graphic>
      </p:graphicFrame>
      <p:sp>
        <p:nvSpPr>
          <p:cNvPr id="19" name="Text 15"/>
          <p:cNvSpPr txBox="1"/>
          <p:nvPr/>
        </p:nvSpPr>
        <p:spPr>
          <a:xfrm>
            <a:off x="822960" y="5532120"/>
            <a:ext cx="5623560" cy="640080"/>
          </a:xfrm>
          <a:prstGeom prst="rect">
            <a:avLst/>
          </a:prstGeom>
          <a:noFill/>
          <a:ln/>
        </p:spPr>
        <p:txBody>
          <a:bodyPr wrap="square" lIns="0" tIns="0" rIns="0" bIns="0" rtlCol="0" anchor="t"/>
          <a:lstStyle/>
          <a:p>
            <a:pPr indent="0" marL="0">
              <a:buNone/>
            </a:pPr>
            <a:r>
              <a:rPr lang="en-US" sz="1200" dirty="0">
                <a:solidFill>
                  <a:schemeClr val="tx2"/>
                </a:solidFill>
              </a:rPr>
              <a:t>Escenario B, canal moderado, QPSK. A 12 y 14 dB hay 124–132 y 3 errores: la diferencia queda dentro del ruido estadístico.</a:t>
            </a:r>
            <a:endParaRPr lang="en-US" sz="1200" dirty="0"/>
          </a:p>
        </p:txBody>
      </p:sp>
      <p:sp>
        <p:nvSpPr>
          <p:cNvPr id="20" name="tabla"/>
          <p:cNvSpPr/>
          <p:nvPr/>
        </p:nvSpPr>
        <p:spPr>
          <a:xfrm>
            <a:off x="6903720" y="1645920"/>
            <a:ext cx="4736592" cy="3154680"/>
          </a:xfrm>
          <a:prstGeom prst="roundRect">
            <a:avLst>
              <a:gd name="adj" fmla="val 2899"/>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graphicFrame>
        <p:nvGraphicFramePr>
          <p:cNvPr id="10" name="tabla ecualizadores"/>
          <p:cNvGraphicFramePr>
            <a:graphicFrameLocks noGrp="1"/>
          </p:cNvGraphicFramePr>
          <p:nvPr>
            <p:extLst>
              <p:ext uri="{D42A27DB-BD31-4B8C-83A1-F6EECF244321}">
                <p14:modId xmlns:p14="http://schemas.microsoft.com/office/powerpoint/2010/main" val="1579011935"/>
              </p:ext>
            </p:extLst>
          </p:nvPr>
        </p:nvGraphicFramePr>
        <p:xfrm>
          <a:off x="7040880" y="1783080"/>
          <a:ext cx="4462272" cy="914400"/>
        </p:xfrm>
        <a:graphic>
          <a:graphicData uri="http://schemas.openxmlformats.org/drawingml/2006/table">
            <a:tbl>
              <a:tblPr/>
              <a:tblGrid>
                <a:gridCol w="1371600"/>
                <a:gridCol w="1051560"/>
                <a:gridCol w="1097280"/>
                <a:gridCol w="941832"/>
              </a:tblGrid>
              <a:tr h="411480">
                <a:tc>
                  <a:txBody>
                    <a:bodyPr/>
                    <a:lstStyle/>
                    <a:p>
                      <a:pPr algn="l" indent="0" marL="0">
                        <a:buNone/>
                      </a:pPr>
                      <a:r>
                        <a:rPr lang="en-US" sz="1200" b="1" dirty="0">
                          <a:solidFill>
                            <a:schemeClr val="tx2"/>
                          </a:solidFill>
                          <a:latin typeface="Arial" pitchFamily="34" charset="0"/>
                          <a:ea typeface="Arial" pitchFamily="34" charset="-122"/>
                          <a:cs typeface="Arial" pitchFamily="34" charset="-120"/>
                        </a:rPr>
                        <a:t>Método</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BER a 6 dB</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BER a 12 dB</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Mult./sím.</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r>
              <a:tr h="411480">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Sin ecualizar</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1,1·10</a:t>
                      </a:r>
                      <a:pPr algn="r" indent="0" marL="0">
                        <a:buNone/>
                      </a:pPr>
                      <a:r>
                        <a:rPr lang="en-US" sz="1300" baseline="30000" dirty="0">
                          <a:solidFill>
                            <a:schemeClr val="tx1"/>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6,5·10</a:t>
                      </a:r>
                      <a:pPr algn="r" indent="0" marL="0">
                        <a:buNone/>
                      </a:pPr>
                      <a:r>
                        <a:rPr lang="en-US" sz="1300" baseline="30000" dirty="0">
                          <a:solidFill>
                            <a:schemeClr val="tx1"/>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11480">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LMS</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1,6·10</a:t>
                      </a:r>
                      <a:pPr algn="r" indent="0" marL="0">
                        <a:buNone/>
                      </a:pPr>
                      <a:r>
                        <a:rPr lang="en-US" sz="1300" baseline="30000" dirty="0">
                          <a:solidFill>
                            <a:schemeClr val="tx1"/>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8,4·10</a:t>
                      </a:r>
                      <a:pPr algn="r" indent="0" marL="0">
                        <a:buNone/>
                      </a:pPr>
                      <a:r>
                        <a:rPr lang="en-US" sz="1300" baseline="30000" dirty="0">
                          <a:solidFill>
                            <a:schemeClr val="tx1"/>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168</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11480">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RLS</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4,0·10</a:t>
                      </a:r>
                      <a:pPr algn="r" indent="0" marL="0">
                        <a:buNone/>
                      </a:pPr>
                      <a:r>
                        <a:rPr lang="en-US" sz="1300" baseline="30000" dirty="0">
                          <a:solidFill>
                            <a:schemeClr val="tx1"/>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4,3·10</a:t>
                      </a:r>
                      <a:pPr algn="r" indent="0" marL="0">
                        <a:buNone/>
                      </a:pPr>
                      <a:r>
                        <a:rPr lang="en-US" sz="1300" baseline="30000" dirty="0">
                          <a:solidFill>
                            <a:schemeClr val="tx1"/>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7392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11480">
                <a:tc>
                  <a:txBody>
                    <a:bodyPr/>
                    <a:lstStyle/>
                    <a:p>
                      <a:pPr algn="l" indent="0" marL="0">
                        <a:buNone/>
                      </a:pPr>
                      <a:r>
                        <a:rPr lang="en-US" sz="1300" b="1" dirty="0">
                          <a:solidFill>
                            <a:schemeClr val="tx1"/>
                          </a:solidFill>
                          <a:latin typeface="Arial" pitchFamily="34" charset="0"/>
                          <a:ea typeface="Arial" pitchFamily="34" charset="-122"/>
                          <a:cs typeface="Arial" pitchFamily="34" charset="-120"/>
                        </a:rPr>
                        <a:t>Zero-Forcing</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4,6·10</a:t>
                      </a:r>
                      <a:pPr algn="r" indent="0" marL="0">
                        <a:buNone/>
                      </a:pPr>
                      <a:r>
                        <a:rPr lang="en-US" sz="1300" baseline="30000" dirty="0">
                          <a:solidFill>
                            <a:schemeClr val="tx1"/>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4,1·10</a:t>
                      </a:r>
                      <a:pPr algn="r" indent="0" marL="0">
                        <a:buNone/>
                      </a:pPr>
                      <a:r>
                        <a:rPr lang="en-US" sz="1300" baseline="30000" dirty="0">
                          <a:solidFill>
                            <a:schemeClr val="tx1"/>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84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11480">
                <a:tc>
                  <a:txBody>
                    <a:bodyPr/>
                    <a:lstStyle/>
                    <a:p>
                      <a:pPr algn="l" indent="0" marL="0">
                        <a:buNone/>
                      </a:pPr>
                      <a:r>
                        <a:rPr lang="en-US" sz="1300" b="1" dirty="0">
                          <a:solidFill>
                            <a:schemeClr val="tx1"/>
                          </a:solidFill>
                          <a:latin typeface="Arial" pitchFamily="34" charset="0"/>
                          <a:ea typeface="Arial" pitchFamily="34" charset="-122"/>
                          <a:cs typeface="Arial" pitchFamily="34" charset="-120"/>
                        </a:rPr>
                        <a:t>MMSE</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3,6·10</a:t>
                      </a:r>
                      <a:pPr algn="r" indent="0" marL="0">
                        <a:buNone/>
                      </a:pPr>
                      <a:r>
                        <a:rPr lang="en-US" sz="1300" b="1" baseline="30000" dirty="0">
                          <a:solidFill>
                            <a:schemeClr val="tx1"/>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3,9·10</a:t>
                      </a:r>
                      <a:pPr algn="r" indent="0" marL="0">
                        <a:buNone/>
                      </a:pPr>
                      <a:r>
                        <a:rPr lang="en-US" sz="1300" b="1" baseline="30000" dirty="0">
                          <a:solidFill>
                            <a:schemeClr val="tx1"/>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84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11480">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CMA (ciego)</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4,1·10</a:t>
                      </a:r>
                      <a:pPr algn="r" indent="0" marL="0">
                        <a:buNone/>
                      </a:pPr>
                      <a:r>
                        <a:rPr lang="en-US" sz="1300" baseline="30000" dirty="0">
                          <a:solidFill>
                            <a:schemeClr val="tx1"/>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8,6·10</a:t>
                      </a:r>
                      <a:pPr algn="r" indent="0" marL="0">
                        <a:buNone/>
                      </a:pPr>
                      <a:r>
                        <a:rPr lang="en-US" sz="1300" baseline="30000" dirty="0">
                          <a:solidFill>
                            <a:schemeClr val="tx1"/>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172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bl>
          </a:graphicData>
        </a:graphic>
      </p:graphicFrame>
      <p:sp>
        <p:nvSpPr>
          <p:cNvPr id="22" name="mensaje"/>
          <p:cNvSpPr/>
          <p:nvPr/>
        </p:nvSpPr>
        <p:spPr>
          <a:xfrm>
            <a:off x="6903720" y="4937760"/>
            <a:ext cx="4736592" cy="1325880"/>
          </a:xfrm>
          <a:prstGeom prst="roundRect">
            <a:avLst>
              <a:gd name="adj" fmla="val 6897"/>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3" name="Text 18"/>
          <p:cNvSpPr txBox="1"/>
          <p:nvPr/>
        </p:nvSpPr>
        <p:spPr>
          <a:xfrm>
            <a:off x="7132320" y="5001768"/>
            <a:ext cx="4297680" cy="1188720"/>
          </a:xfrm>
          <a:prstGeom prst="rect">
            <a:avLst/>
          </a:prstGeom>
          <a:noFill/>
          <a:ln/>
        </p:spPr>
        <p:txBody>
          <a:bodyPr wrap="square" lIns="0" tIns="0" rIns="0" bIns="0" rtlCol="0" anchor="ctr"/>
          <a:lstStyle/>
          <a:p>
            <a:pPr indent="0" marL="0">
              <a:buNone/>
            </a:pPr>
            <a:r>
              <a:rPr lang="en-US" sz="1600" b="1" dirty="0">
                <a:solidFill>
                  <a:schemeClr val="accent1"/>
                </a:solidFill>
              </a:rPr>
              <a:t>ZF y MMSE usan el canal conocido</a:t>
            </a:r>
            <a:endParaRPr lang="en-US" sz="1600" dirty="0"/>
          </a:p>
          <a:p>
            <a:pPr indent="0" marL="0">
              <a:buNone/>
            </a:pPr>
            <a:r>
              <a:rPr lang="en-US" sz="1400" dirty="0">
                <a:solidFill>
                  <a:schemeClr val="tx1"/>
                </a:solidFill>
              </a:rPr>
              <a:t>LMS y RLS lo aprenden del entrenamiento: la comparación mide el límite del diseño.</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3 · MECANISMO DEL ECUALIZADOR</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El ecualizador elimina la ISI y la paga con ruido</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Ecualizador</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bg1"/>
          </a:solidFill>
          <a:ln w="12700">
            <a:solidFill>
              <a:srgbClr val="C8C0E0"/>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Antony</a:t>
            </a:r>
            <a:endParaRPr lang="en-US" sz="1200" dirty="0"/>
          </a:p>
        </p:txBody>
      </p:sp>
      <p:sp>
        <p:nvSpPr>
          <p:cNvPr id="17" name="figura"/>
          <p:cNvSpPr/>
          <p:nvPr/>
        </p:nvSpPr>
        <p:spPr>
          <a:xfrm>
            <a:off x="548640" y="1645920"/>
            <a:ext cx="11094415" cy="2697480"/>
          </a:xfrm>
          <a:prstGeom prst="roundRect">
            <a:avLst>
              <a:gd name="adj" fmla="val 339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mecanismo" descr="Canal h, ecualizador LMS, producto canal por ecualizador y respuestas en frecuencia">    </p:cNvPr>
          <p:cNvPicPr>
            <a:picLocks noChangeAspect="1"/>
          </p:cNvPicPr>
          <p:nvPr/>
        </p:nvPicPr>
        <p:blipFill>
          <a:blip r:embed="rId1"/>
          <a:stretch>
            <a:fillRect/>
          </a:stretch>
        </p:blipFill>
        <p:spPr>
          <a:xfrm>
            <a:off x="731520" y="1737360"/>
            <a:ext cx="10698480" cy="2508954"/>
          </a:xfrm>
          <a:prstGeom prst="rect">
            <a:avLst/>
          </a:prstGeom>
        </p:spPr>
      </p:pic>
      <p:sp>
        <p:nvSpPr>
          <p:cNvPr id="19" name="dato"/>
          <p:cNvSpPr/>
          <p:nvPr/>
        </p:nvSpPr>
        <p:spPr>
          <a:xfrm>
            <a:off x="548640" y="4526280"/>
            <a:ext cx="3576218" cy="1737360"/>
          </a:xfrm>
          <a:prstGeom prst="roundRect">
            <a:avLst>
              <a:gd name="adj" fmla="val 5263"/>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0" name="Text 16"/>
          <p:cNvSpPr txBox="1"/>
          <p:nvPr/>
        </p:nvSpPr>
        <p:spPr>
          <a:xfrm>
            <a:off x="777240" y="4636008"/>
            <a:ext cx="3119018" cy="685800"/>
          </a:xfrm>
          <a:prstGeom prst="rect">
            <a:avLst/>
          </a:prstGeom>
          <a:noFill/>
          <a:ln/>
        </p:spPr>
        <p:txBody>
          <a:bodyPr wrap="square" lIns="0" tIns="0" rIns="0" bIns="0" rtlCol="0" anchor="ctr"/>
          <a:lstStyle/>
          <a:p>
            <a:pPr indent="0" marL="0">
              <a:buNone/>
            </a:pPr>
            <a:r>
              <a:rPr lang="en-US" sz="2600" b="1" dirty="0">
                <a:solidFill>
                  <a:schemeClr val="accent1"/>
                </a:solidFill>
              </a:rPr>
              <a:t>−1,6 → −15,2 dB</a:t>
            </a:r>
            <a:endParaRPr lang="en-US" sz="2600" dirty="0"/>
          </a:p>
        </p:txBody>
      </p:sp>
      <p:sp>
        <p:nvSpPr>
          <p:cNvPr id="21" name="Text 17"/>
          <p:cNvSpPr txBox="1"/>
          <p:nvPr/>
        </p:nvSpPr>
        <p:spPr>
          <a:xfrm>
            <a:off x="777240" y="5321808"/>
            <a:ext cx="3119018" cy="777240"/>
          </a:xfrm>
          <a:prstGeom prst="rect">
            <a:avLst/>
          </a:prstGeom>
          <a:noFill/>
          <a:ln/>
        </p:spPr>
        <p:txBody>
          <a:bodyPr wrap="square" lIns="0" tIns="0" rIns="0" bIns="0" rtlCol="0" anchor="t"/>
          <a:lstStyle/>
          <a:p>
            <a:pPr indent="0" marL="0">
              <a:buNone/>
            </a:pPr>
            <a:r>
              <a:rPr lang="en-US" sz="1400" dirty="0">
                <a:solidFill>
                  <a:schemeClr val="tx2"/>
                </a:solidFill>
              </a:rPr>
              <a:t>ISI relativa antes y después del LMS</a:t>
            </a:r>
            <a:endParaRPr lang="en-US" sz="1400" dirty="0"/>
          </a:p>
        </p:txBody>
      </p:sp>
      <p:sp>
        <p:nvSpPr>
          <p:cNvPr id="22" name="dato"/>
          <p:cNvSpPr/>
          <p:nvPr/>
        </p:nvSpPr>
        <p:spPr>
          <a:xfrm>
            <a:off x="4307738" y="4526280"/>
            <a:ext cx="3576218" cy="1737360"/>
          </a:xfrm>
          <a:prstGeom prst="roundRect">
            <a:avLst>
              <a:gd name="adj" fmla="val 5263"/>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3" name="Text 19"/>
          <p:cNvSpPr txBox="1"/>
          <p:nvPr/>
        </p:nvSpPr>
        <p:spPr>
          <a:xfrm>
            <a:off x="4536338" y="4636008"/>
            <a:ext cx="3119018" cy="685800"/>
          </a:xfrm>
          <a:prstGeom prst="rect">
            <a:avLst/>
          </a:prstGeom>
          <a:noFill/>
          <a:ln/>
        </p:spPr>
        <p:txBody>
          <a:bodyPr wrap="square" lIns="0" tIns="0" rIns="0" bIns="0" rtlCol="0" anchor="ctr"/>
          <a:lstStyle/>
          <a:p>
            <a:pPr indent="0" marL="0">
              <a:buNone/>
            </a:pPr>
            <a:r>
              <a:rPr lang="en-US" sz="3600" b="1" dirty="0">
                <a:solidFill>
                  <a:schemeClr val="accent1"/>
                </a:solidFill>
              </a:rPr>
              <a:t>+1,0 dB</a:t>
            </a:r>
            <a:endParaRPr lang="en-US" sz="3600" dirty="0"/>
          </a:p>
        </p:txBody>
      </p:sp>
      <p:sp>
        <p:nvSpPr>
          <p:cNvPr id="24" name="Text 20"/>
          <p:cNvSpPr txBox="1"/>
          <p:nvPr/>
        </p:nvSpPr>
        <p:spPr>
          <a:xfrm>
            <a:off x="4536338" y="5321808"/>
            <a:ext cx="3119018" cy="777240"/>
          </a:xfrm>
          <a:prstGeom prst="rect">
            <a:avLst/>
          </a:prstGeom>
          <a:noFill/>
          <a:ln/>
        </p:spPr>
        <p:txBody>
          <a:bodyPr wrap="square" lIns="0" tIns="0" rIns="0" bIns="0" rtlCol="0" anchor="t"/>
          <a:lstStyle/>
          <a:p>
            <a:pPr indent="0" marL="0">
              <a:buNone/>
            </a:pPr>
            <a:r>
              <a:rPr lang="en-US" sz="1400" dirty="0">
                <a:solidFill>
                  <a:schemeClr val="tx2"/>
                </a:solidFill>
              </a:rPr>
              <a:t>ruido amplificado: invertir el canal cuesta SNR</a:t>
            </a:r>
            <a:endParaRPr lang="en-US" sz="1400" dirty="0"/>
          </a:p>
        </p:txBody>
      </p:sp>
      <p:sp>
        <p:nvSpPr>
          <p:cNvPr id="25" name="dato"/>
          <p:cNvSpPr/>
          <p:nvPr/>
        </p:nvSpPr>
        <p:spPr>
          <a:xfrm>
            <a:off x="8066837" y="4526280"/>
            <a:ext cx="3576218" cy="1737360"/>
          </a:xfrm>
          <a:prstGeom prst="roundRect">
            <a:avLst>
              <a:gd name="adj" fmla="val 5263"/>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6" name="Text 22"/>
          <p:cNvSpPr txBox="1"/>
          <p:nvPr/>
        </p:nvSpPr>
        <p:spPr>
          <a:xfrm>
            <a:off x="8295437" y="4636008"/>
            <a:ext cx="3119018" cy="685800"/>
          </a:xfrm>
          <a:prstGeom prst="rect">
            <a:avLst/>
          </a:prstGeom>
          <a:noFill/>
          <a:ln/>
        </p:spPr>
        <p:txBody>
          <a:bodyPr wrap="square" lIns="0" tIns="0" rIns="0" bIns="0" rtlCol="0" anchor="ctr"/>
          <a:lstStyle/>
          <a:p>
            <a:pPr indent="0" marL="0">
              <a:buNone/>
            </a:pPr>
            <a:r>
              <a:rPr lang="en-US" sz="2600" b="1" dirty="0">
                <a:solidFill>
                  <a:schemeClr val="accent1"/>
                </a:solidFill>
              </a:rPr>
              <a:t>1,4·10</a:t>
            </a:r>
            <a:pPr indent="0" marL="0">
              <a:buNone/>
            </a:pPr>
            <a:r>
              <a:rPr lang="en-US" sz="2600" b="1" baseline="30000" dirty="0">
                <a:solidFill>
                  <a:schemeClr val="accent1"/>
                </a:solidFill>
              </a:rPr>
              <a:t>−1</a:t>
            </a:r>
            <a:pPr indent="0" marL="0">
              <a:buNone/>
            </a:pPr>
            <a:r>
              <a:rPr lang="en-US" sz="2600" b="1" dirty="0">
                <a:solidFill>
                  <a:schemeClr val="accent1"/>
                </a:solidFill>
              </a:rPr>
              <a:t> → </a:t>
            </a:r>
            <a:pPr indent="0" marL="0">
              <a:buNone/>
            </a:pPr>
            <a:r>
              <a:rPr lang="en-US" sz="2600" b="1" dirty="0">
                <a:solidFill>
                  <a:schemeClr val="accent1"/>
                </a:solidFill>
              </a:rPr>
              <a:t>2,8·10</a:t>
            </a:r>
            <a:pPr indent="0" marL="0">
              <a:buNone/>
            </a:pPr>
            <a:r>
              <a:rPr lang="en-US" sz="2600" b="1" baseline="30000" dirty="0">
                <a:solidFill>
                  <a:schemeClr val="accent1"/>
                </a:solidFill>
              </a:rPr>
              <a:t>−4</a:t>
            </a:r>
            <a:endParaRPr lang="en-US" sz="2600" dirty="0"/>
          </a:p>
        </p:txBody>
      </p:sp>
      <p:sp>
        <p:nvSpPr>
          <p:cNvPr id="27" name="Text 23"/>
          <p:cNvSpPr txBox="1"/>
          <p:nvPr/>
        </p:nvSpPr>
        <p:spPr>
          <a:xfrm>
            <a:off x="8295437" y="5321808"/>
            <a:ext cx="3119018" cy="777240"/>
          </a:xfrm>
          <a:prstGeom prst="rect">
            <a:avLst/>
          </a:prstGeom>
          <a:noFill/>
          <a:ln/>
        </p:spPr>
        <p:txBody>
          <a:bodyPr wrap="square" lIns="0" tIns="0" rIns="0" bIns="0" rtlCol="0" anchor="t"/>
          <a:lstStyle/>
          <a:p>
            <a:pPr indent="0" marL="0">
              <a:buNone/>
            </a:pPr>
            <a:r>
              <a:rPr lang="en-US" sz="1400" dirty="0">
                <a:solidFill>
                  <a:schemeClr val="tx2"/>
                </a:solidFill>
              </a:rPr>
              <a:t>BER: 5424 → 11 errores en 40 000 bits</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4 · ROBUSTEZ</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El receptor aguanta ISI, fase y reloj; el CFO tiene un límite duro</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Temporización · Trama · PLL + decisión</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bg1"/>
          </a:solidFill>
          <a:ln w="12700">
            <a:solidFill>
              <a:srgbClr val="C8C0E0"/>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bg1"/>
          </a:solidFill>
          <a:ln w="12700">
            <a:solidFill>
              <a:srgbClr val="C8C0E0"/>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Antony</a:t>
            </a:r>
            <a:endParaRPr lang="en-US" sz="1200" dirty="0"/>
          </a:p>
        </p:txBody>
      </p:sp>
      <p:sp>
        <p:nvSpPr>
          <p:cNvPr id="17" name="figura"/>
          <p:cNvSpPr/>
          <p:nvPr/>
        </p:nvSpPr>
        <p:spPr>
          <a:xfrm>
            <a:off x="548640" y="1645920"/>
            <a:ext cx="7635240" cy="3337560"/>
          </a:xfrm>
          <a:prstGeom prst="roundRect">
            <a:avLst>
              <a:gd name="adj" fmla="val 274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severidad y CFO" descr="BER frente a la dispersión de retardo y frente al offset de frecuencia">    </p:cNvPr>
          <p:cNvPicPr>
            <a:picLocks noChangeAspect="1"/>
          </p:cNvPicPr>
          <p:nvPr/>
        </p:nvPicPr>
        <p:blipFill>
          <a:blip r:embed="rId1"/>
          <a:stretch>
            <a:fillRect/>
          </a:stretch>
        </p:blipFill>
        <p:spPr>
          <a:xfrm>
            <a:off x="731520" y="1874520"/>
            <a:ext cx="7269480" cy="3036487"/>
          </a:xfrm>
          <a:prstGeom prst="rect">
            <a:avLst/>
          </a:prstGeom>
        </p:spPr>
      </p:pic>
      <p:sp>
        <p:nvSpPr>
          <p:cNvPr id="19" name="dato"/>
          <p:cNvSpPr/>
          <p:nvPr/>
        </p:nvSpPr>
        <p:spPr>
          <a:xfrm>
            <a:off x="8412480" y="1645920"/>
            <a:ext cx="3227832" cy="1600200"/>
          </a:xfrm>
          <a:prstGeom prst="roundRect">
            <a:avLst>
              <a:gd name="adj" fmla="val 5714"/>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0" name="Text 16"/>
          <p:cNvSpPr txBox="1"/>
          <p:nvPr/>
        </p:nvSpPr>
        <p:spPr>
          <a:xfrm>
            <a:off x="8641080" y="1755648"/>
            <a:ext cx="2770632" cy="594360"/>
          </a:xfrm>
          <a:prstGeom prst="rect">
            <a:avLst/>
          </a:prstGeom>
          <a:noFill/>
          <a:ln/>
        </p:spPr>
        <p:txBody>
          <a:bodyPr wrap="square" lIns="0" tIns="0" rIns="0" bIns="0" rtlCol="0" anchor="ctr"/>
          <a:lstStyle/>
          <a:p>
            <a:pPr indent="0" marL="0">
              <a:buNone/>
            </a:pPr>
            <a:r>
              <a:rPr lang="en-US" sz="3600" b="1" dirty="0">
                <a:solidFill>
                  <a:schemeClr val="accent1"/>
                </a:solidFill>
              </a:rPr>
              <a:t>0,80 %</a:t>
            </a:r>
            <a:endParaRPr lang="en-US" sz="3600" dirty="0"/>
          </a:p>
        </p:txBody>
      </p:sp>
      <p:sp>
        <p:nvSpPr>
          <p:cNvPr id="21" name="Text 17"/>
          <p:cNvSpPr txBox="1"/>
          <p:nvPr/>
        </p:nvSpPr>
        <p:spPr>
          <a:xfrm>
            <a:off x="8641080" y="2350008"/>
            <a:ext cx="2770632" cy="731520"/>
          </a:xfrm>
          <a:prstGeom prst="rect">
            <a:avLst/>
          </a:prstGeom>
          <a:noFill/>
          <a:ln/>
        </p:spPr>
        <p:txBody>
          <a:bodyPr wrap="square" lIns="0" tIns="0" rIns="0" bIns="0" rtlCol="0" anchor="t"/>
          <a:lstStyle/>
          <a:p>
            <a:pPr indent="0" marL="0">
              <a:buNone/>
            </a:pPr>
            <a:r>
              <a:rPr lang="en-US" sz="1400" dirty="0">
                <a:solidFill>
                  <a:schemeClr val="tx2"/>
                </a:solidFill>
              </a:rPr>
              <a:t>de Rs: límite medido de CFO; el teórico Rs/(2L) es 0,78 %</a:t>
            </a:r>
            <a:endParaRPr lang="en-US" sz="1400" dirty="0"/>
          </a:p>
        </p:txBody>
      </p:sp>
      <p:sp>
        <p:nvSpPr>
          <p:cNvPr id="22" name="dato"/>
          <p:cNvSpPr/>
          <p:nvPr/>
        </p:nvSpPr>
        <p:spPr>
          <a:xfrm>
            <a:off x="8412480" y="3383280"/>
            <a:ext cx="3227832" cy="1600200"/>
          </a:xfrm>
          <a:prstGeom prst="roundRect">
            <a:avLst>
              <a:gd name="adj" fmla="val 5714"/>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3" name="Text 19"/>
          <p:cNvSpPr txBox="1"/>
          <p:nvPr/>
        </p:nvSpPr>
        <p:spPr>
          <a:xfrm>
            <a:off x="8641080" y="3493008"/>
            <a:ext cx="2770632" cy="594360"/>
          </a:xfrm>
          <a:prstGeom prst="rect">
            <a:avLst/>
          </a:prstGeom>
          <a:noFill/>
          <a:ln/>
        </p:spPr>
        <p:txBody>
          <a:bodyPr wrap="square" lIns="0" tIns="0" rIns="0" bIns="0" rtlCol="0" anchor="ctr"/>
          <a:lstStyle/>
          <a:p>
            <a:pPr indent="0" marL="0">
              <a:buNone/>
            </a:pPr>
            <a:r>
              <a:rPr lang="en-US" sz="3600" b="1" dirty="0">
                <a:solidFill>
                  <a:schemeClr val="accent1"/>
                </a:solidFill>
              </a:rPr>
              <a:t>1,15 T</a:t>
            </a:r>
            <a:endParaRPr lang="en-US" sz="3600" dirty="0"/>
          </a:p>
        </p:txBody>
      </p:sp>
      <p:sp>
        <p:nvSpPr>
          <p:cNvPr id="24" name="Text 20"/>
          <p:cNvSpPr txBox="1"/>
          <p:nvPr/>
        </p:nvSpPr>
        <p:spPr>
          <a:xfrm>
            <a:off x="8641080" y="4087368"/>
            <a:ext cx="2770632" cy="731520"/>
          </a:xfrm>
          <a:prstGeom prst="rect">
            <a:avLst/>
          </a:prstGeom>
          <a:noFill/>
          <a:ln/>
        </p:spPr>
        <p:txBody>
          <a:bodyPr wrap="square" lIns="0" tIns="0" rIns="0" bIns="0" rtlCol="0" anchor="t"/>
          <a:lstStyle/>
          <a:p>
            <a:pPr indent="0" marL="0">
              <a:buNone/>
            </a:pPr>
            <a:r>
              <a:rPr lang="en-US" sz="1400" dirty="0">
                <a:solidFill>
                  <a:schemeClr val="tx2"/>
                </a:solidFill>
              </a:rPr>
              <a:t>de dispersión de retardo con BER ≈ 2·10⁻⁵ (sin ecualizar: 0,35)</a:t>
            </a:r>
            <a:endParaRPr lang="en-US" sz="1400" dirty="0"/>
          </a:p>
        </p:txBody>
      </p:sp>
      <p:sp>
        <p:nvSpPr>
          <p:cNvPr id="25" name="chip"/>
          <p:cNvSpPr/>
          <p:nvPr/>
        </p:nvSpPr>
        <p:spPr>
          <a:xfrm>
            <a:off x="548640" y="5120640"/>
            <a:ext cx="3576218" cy="1143000"/>
          </a:xfrm>
          <a:prstGeom prst="roundRect">
            <a:avLst>
              <a:gd name="adj" fmla="val 800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6" name="Text 22"/>
          <p:cNvSpPr txBox="1"/>
          <p:nvPr/>
        </p:nvSpPr>
        <p:spPr>
          <a:xfrm>
            <a:off x="777240" y="5193792"/>
            <a:ext cx="3119018" cy="996696"/>
          </a:xfrm>
          <a:prstGeom prst="rect">
            <a:avLst/>
          </a:prstGeom>
          <a:noFill/>
          <a:ln/>
        </p:spPr>
        <p:txBody>
          <a:bodyPr wrap="square" lIns="0" tIns="0" rIns="0" bIns="0" rtlCol="0" anchor="ctr"/>
          <a:lstStyle/>
          <a:p>
            <a:pPr indent="0" marL="0">
              <a:buNone/>
            </a:pPr>
            <a:r>
              <a:rPr lang="en-US" sz="1400" b="1" dirty="0">
                <a:solidFill>
                  <a:schemeClr val="tx2"/>
                </a:solidFill>
              </a:rPr>
              <a:t>Fase</a:t>
            </a:r>
            <a:endParaRPr lang="en-US" sz="1400" dirty="0"/>
          </a:p>
          <a:p>
            <a:pPr indent="0" marL="0">
              <a:buNone/>
            </a:pPr>
            <a:r>
              <a:rPr lang="en-US" sz="1800" b="1" dirty="0">
                <a:solidFill>
                  <a:schemeClr val="tx1"/>
                </a:solidFill>
              </a:rPr>
              <a:t>0° a 180°</a:t>
            </a:r>
            <a:endParaRPr lang="en-US" sz="1400" dirty="0"/>
          </a:p>
          <a:p>
            <a:pPr indent="0" marL="0">
              <a:buNone/>
            </a:pPr>
            <a:r>
              <a:rPr lang="en-US" sz="1400" b="1" dirty="0">
                <a:solidFill>
                  <a:schemeClr val="accent1"/>
                </a:solidFill>
              </a:rPr>
              <a:t>BER &lt; 10⁻⁴</a:t>
            </a:r>
            <a:endParaRPr lang="en-US" sz="1400" dirty="0"/>
          </a:p>
        </p:txBody>
      </p:sp>
      <p:sp>
        <p:nvSpPr>
          <p:cNvPr id="27" name="chip"/>
          <p:cNvSpPr/>
          <p:nvPr/>
        </p:nvSpPr>
        <p:spPr>
          <a:xfrm>
            <a:off x="4307738" y="5120640"/>
            <a:ext cx="3576218" cy="1143000"/>
          </a:xfrm>
          <a:prstGeom prst="roundRect">
            <a:avLst>
              <a:gd name="adj" fmla="val 800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8" name="Text 24"/>
          <p:cNvSpPr txBox="1"/>
          <p:nvPr/>
        </p:nvSpPr>
        <p:spPr>
          <a:xfrm>
            <a:off x="4536338" y="5193792"/>
            <a:ext cx="3119018" cy="996696"/>
          </a:xfrm>
          <a:prstGeom prst="rect">
            <a:avLst/>
          </a:prstGeom>
          <a:noFill/>
          <a:ln/>
        </p:spPr>
        <p:txBody>
          <a:bodyPr wrap="square" lIns="0" tIns="0" rIns="0" bIns="0" rtlCol="0" anchor="ctr"/>
          <a:lstStyle/>
          <a:p>
            <a:pPr indent="0" marL="0">
              <a:buNone/>
            </a:pPr>
            <a:r>
              <a:rPr lang="en-US" sz="1400" b="1" dirty="0">
                <a:solidFill>
                  <a:schemeClr val="tx2"/>
                </a:solidFill>
              </a:rPr>
              <a:t>Reloj</a:t>
            </a:r>
            <a:endParaRPr lang="en-US" sz="1400" dirty="0"/>
          </a:p>
          <a:p>
            <a:pPr indent="0" marL="0">
              <a:buNone/>
            </a:pPr>
            <a:r>
              <a:rPr lang="en-US" sz="1800" b="1" dirty="0">
                <a:solidFill>
                  <a:schemeClr val="tx1"/>
                </a:solidFill>
              </a:rPr>
              <a:t>hasta 200 ppm</a:t>
            </a:r>
            <a:endParaRPr lang="en-US" sz="1400" dirty="0"/>
          </a:p>
          <a:p>
            <a:pPr indent="0" marL="0">
              <a:buNone/>
            </a:pPr>
            <a:r>
              <a:rPr lang="en-US" sz="1400" b="1" dirty="0">
                <a:solidFill>
                  <a:schemeClr val="accent1"/>
                </a:solidFill>
              </a:rPr>
              <a:t>BER &lt; 10⁻⁴</a:t>
            </a:r>
            <a:endParaRPr lang="en-US" sz="1400" dirty="0"/>
          </a:p>
        </p:txBody>
      </p:sp>
      <p:sp>
        <p:nvSpPr>
          <p:cNvPr id="29" name="chip"/>
          <p:cNvSpPr/>
          <p:nvPr/>
        </p:nvSpPr>
        <p:spPr>
          <a:xfrm>
            <a:off x="8066837" y="5120640"/>
            <a:ext cx="3576218" cy="1143000"/>
          </a:xfrm>
          <a:prstGeom prst="roundRect">
            <a:avLst>
              <a:gd name="adj" fmla="val 800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30" name="Text 26"/>
          <p:cNvSpPr txBox="1"/>
          <p:nvPr/>
        </p:nvSpPr>
        <p:spPr>
          <a:xfrm>
            <a:off x="8295437" y="5193792"/>
            <a:ext cx="3119018" cy="996696"/>
          </a:xfrm>
          <a:prstGeom prst="rect">
            <a:avLst/>
          </a:prstGeom>
          <a:noFill/>
          <a:ln/>
        </p:spPr>
        <p:txBody>
          <a:bodyPr wrap="square" lIns="0" tIns="0" rIns="0" bIns="0" rtlCol="0" anchor="ctr"/>
          <a:lstStyle/>
          <a:p>
            <a:pPr indent="0" marL="0">
              <a:buNone/>
            </a:pPr>
            <a:r>
              <a:rPr lang="en-US" sz="1400" b="1" dirty="0">
                <a:solidFill>
                  <a:schemeClr val="tx2"/>
                </a:solidFill>
              </a:rPr>
              <a:t>Entrenamiento</a:t>
            </a:r>
            <a:endParaRPr lang="en-US" sz="1400" dirty="0"/>
          </a:p>
          <a:p>
            <a:pPr indent="0" marL="0">
              <a:buNone/>
            </a:pPr>
            <a:r>
              <a:rPr lang="en-US" sz="1800" b="1" dirty="0">
                <a:solidFill>
                  <a:schemeClr val="tx1"/>
                </a:solidFill>
              </a:rPr>
              <a:t>desde 64 símbolos</a:t>
            </a:r>
            <a:endParaRPr lang="en-US" sz="1400" dirty="0"/>
          </a:p>
          <a:p>
            <a:pPr indent="0" marL="0">
              <a:buNone/>
            </a:pPr>
            <a:r>
              <a:rPr lang="en-US" sz="1400" b="1" dirty="0">
                <a:solidFill>
                  <a:schemeClr val="accent1"/>
                </a:solidFill>
              </a:rPr>
              <a:t>RLS &lt; 10⁻⁶</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4 · FADING DE RAYLEIGH</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Con fading, la memoria del RLS decide si sigue al canal</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Ecualizador</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bg1"/>
          </a:solidFill>
          <a:ln w="12700">
            <a:solidFill>
              <a:srgbClr val="C8C0E0"/>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Antony</a:t>
            </a:r>
            <a:endParaRPr lang="en-US" sz="1200" dirty="0"/>
          </a:p>
        </p:txBody>
      </p:sp>
      <p:sp>
        <p:nvSpPr>
          <p:cNvPr id="17" name="figura"/>
          <p:cNvSpPr/>
          <p:nvPr/>
        </p:nvSpPr>
        <p:spPr>
          <a:xfrm>
            <a:off x="548640" y="1645920"/>
            <a:ext cx="5486400" cy="4617720"/>
          </a:xfrm>
          <a:prstGeom prst="roundRect">
            <a:avLst>
              <a:gd name="adj" fmla="val 198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Rayleigh" descr="BER del RLS frente al factor de olvido para cinco valores de fD sobre Rs">    </p:cNvPr>
          <p:cNvPicPr>
            <a:picLocks noChangeAspect="1"/>
          </p:cNvPicPr>
          <p:nvPr/>
        </p:nvPicPr>
        <p:blipFill>
          <a:blip r:embed="rId1"/>
          <a:stretch>
            <a:fillRect/>
          </a:stretch>
        </p:blipFill>
        <p:spPr>
          <a:xfrm>
            <a:off x="777240" y="1965960"/>
            <a:ext cx="5029200" cy="4198856"/>
          </a:xfrm>
          <a:prstGeom prst="rect">
            <a:avLst/>
          </a:prstGeom>
        </p:spPr>
      </p:pic>
      <p:sp>
        <p:nvSpPr>
          <p:cNvPr id="19" name="dato"/>
          <p:cNvSpPr/>
          <p:nvPr/>
        </p:nvSpPr>
        <p:spPr>
          <a:xfrm>
            <a:off x="6263640" y="1645920"/>
            <a:ext cx="537667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0" name="Text 16"/>
          <p:cNvSpPr txBox="1"/>
          <p:nvPr/>
        </p:nvSpPr>
        <p:spPr>
          <a:xfrm>
            <a:off x="6492240" y="1755648"/>
            <a:ext cx="4919472" cy="640080"/>
          </a:xfrm>
          <a:prstGeom prst="rect">
            <a:avLst/>
          </a:prstGeom>
          <a:noFill/>
          <a:ln/>
        </p:spPr>
        <p:txBody>
          <a:bodyPr wrap="square" lIns="0" tIns="0" rIns="0" bIns="0" rtlCol="0" anchor="ctr"/>
          <a:lstStyle/>
          <a:p>
            <a:pPr indent="0" marL="0">
              <a:buNone/>
            </a:pPr>
            <a:r>
              <a:rPr lang="en-US" sz="4000" b="1" dirty="0">
                <a:solidFill>
                  <a:schemeClr val="accent1"/>
                </a:solidFill>
              </a:rPr>
              <a:t>52×</a:t>
            </a:r>
            <a:endParaRPr lang="en-US" sz="4000" dirty="0"/>
          </a:p>
        </p:txBody>
      </p:sp>
      <p:sp>
        <p:nvSpPr>
          <p:cNvPr id="21" name="Text 17"/>
          <p:cNvSpPr txBox="1"/>
          <p:nvPr/>
        </p:nvSpPr>
        <p:spPr>
          <a:xfrm>
            <a:off x="6492240" y="2395728"/>
            <a:ext cx="4919472" cy="502920"/>
          </a:xfrm>
          <a:prstGeom prst="rect">
            <a:avLst/>
          </a:prstGeom>
          <a:noFill/>
          <a:ln/>
        </p:spPr>
        <p:txBody>
          <a:bodyPr wrap="square" lIns="0" tIns="0" rIns="0" bIns="0" rtlCol="0" anchor="t"/>
          <a:lstStyle/>
          <a:p>
            <a:pPr indent="0" marL="0">
              <a:buNone/>
            </a:pPr>
            <a:r>
              <a:rPr lang="en-US" sz="1400" dirty="0">
                <a:solidFill>
                  <a:schemeClr val="tx2"/>
                </a:solidFill>
              </a:rPr>
              <a:t>menos errores con λ = 0,99 que con λ = 0,9999, a fD/Rs = 5·10⁻⁵</a:t>
            </a:r>
            <a:endParaRPr lang="en-US" sz="1400" dirty="0"/>
          </a:p>
        </p:txBody>
      </p:sp>
      <p:sp>
        <p:nvSpPr>
          <p:cNvPr id="22" name="dato"/>
          <p:cNvSpPr/>
          <p:nvPr/>
        </p:nvSpPr>
        <p:spPr>
          <a:xfrm>
            <a:off x="6263640" y="3200400"/>
            <a:ext cx="5376672" cy="1417320"/>
          </a:xfrm>
          <a:prstGeom prst="roundRect">
            <a:avLst>
              <a:gd name="adj" fmla="val 645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3" name="Text 19"/>
          <p:cNvSpPr txBox="1"/>
          <p:nvPr/>
        </p:nvSpPr>
        <p:spPr>
          <a:xfrm>
            <a:off x="6492240" y="3310128"/>
            <a:ext cx="4919472" cy="640080"/>
          </a:xfrm>
          <a:prstGeom prst="rect">
            <a:avLst/>
          </a:prstGeom>
          <a:noFill/>
          <a:ln/>
        </p:spPr>
        <p:txBody>
          <a:bodyPr wrap="square" lIns="0" tIns="0" rIns="0" bIns="0" rtlCol="0" anchor="ctr"/>
          <a:lstStyle/>
          <a:p>
            <a:pPr indent="0" marL="0">
              <a:buNone/>
            </a:pPr>
            <a:r>
              <a:rPr lang="en-US" sz="4000" b="1" dirty="0">
                <a:solidFill>
                  <a:schemeClr val="accent1"/>
                </a:solidFill>
              </a:rPr>
              <a:t>≈ 0,5</a:t>
            </a:r>
            <a:endParaRPr lang="en-US" sz="4000" dirty="0"/>
          </a:p>
        </p:txBody>
      </p:sp>
      <p:sp>
        <p:nvSpPr>
          <p:cNvPr id="24" name="Text 20"/>
          <p:cNvSpPr txBox="1"/>
          <p:nvPr/>
        </p:nvSpPr>
        <p:spPr>
          <a:xfrm>
            <a:off x="6492240" y="3950208"/>
            <a:ext cx="4919472" cy="502920"/>
          </a:xfrm>
          <a:prstGeom prst="rect">
            <a:avLst/>
          </a:prstGeom>
          <a:noFill/>
          <a:ln/>
        </p:spPr>
        <p:txBody>
          <a:bodyPr wrap="square" lIns="0" tIns="0" rIns="0" bIns="0" rtlCol="0" anchor="t"/>
          <a:lstStyle/>
          <a:p>
            <a:pPr indent="0" marL="0">
              <a:buNone/>
            </a:pPr>
            <a:r>
              <a:rPr lang="en-US" sz="1400" dirty="0">
                <a:solidFill>
                  <a:schemeClr val="tx2"/>
                </a:solidFill>
              </a:rPr>
              <a:t>BER con fD/Rs ≥ 10⁻³ y cualquier λ: el ecualizador ya no sigue al canal</a:t>
            </a:r>
            <a:endParaRPr lang="en-US" sz="1400" dirty="0"/>
          </a:p>
        </p:txBody>
      </p:sp>
      <p:sp>
        <p:nvSpPr>
          <p:cNvPr id="25" name="regla"/>
          <p:cNvSpPr/>
          <p:nvPr/>
        </p:nvSpPr>
        <p:spPr>
          <a:xfrm>
            <a:off x="6263640" y="4754880"/>
            <a:ext cx="5376672" cy="1508760"/>
          </a:xfrm>
          <a:prstGeom prst="roundRect">
            <a:avLst>
              <a:gd name="adj" fmla="val 6061"/>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6" name="Text 22"/>
          <p:cNvSpPr txBox="1"/>
          <p:nvPr/>
        </p:nvSpPr>
        <p:spPr>
          <a:xfrm>
            <a:off x="6492240" y="4846320"/>
            <a:ext cx="4919472" cy="1325880"/>
          </a:xfrm>
          <a:prstGeom prst="rect">
            <a:avLst/>
          </a:prstGeom>
          <a:noFill/>
          <a:ln/>
        </p:spPr>
        <p:txBody>
          <a:bodyPr wrap="square" lIns="0" tIns="0" rIns="0" bIns="0" rtlCol="0" anchor="ctr"/>
          <a:lstStyle/>
          <a:p>
            <a:pPr indent="0" marL="0">
              <a:buNone/>
            </a:pPr>
            <a:r>
              <a:rPr lang="en-US" sz="1600" b="1" dirty="0">
                <a:solidFill>
                  <a:schemeClr val="tx1"/>
                </a:solidFill>
              </a:rPr>
              <a:t>Memoria efectiva del RLS ≈ 1/(1−λ)</a:t>
            </a:r>
            <a:endParaRPr lang="en-US" sz="1600" dirty="0"/>
          </a:p>
          <a:p>
            <a:pPr indent="0" marL="0">
              <a:buNone/>
            </a:pPr>
            <a:r>
              <a:rPr lang="en-US" sz="1400" dirty="0">
                <a:solidFill>
                  <a:schemeClr val="tx2"/>
                </a:solidFill>
              </a:rPr>
              <a:t>100 símbolos con λ = 0,99; 10 000 con λ = 0,9999. Recordar más es ruido menos, pero seguir peor.</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EXPERIMENTO 5 · MODULACIÓN</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Más orden de modulación, más potencia; el canal real, aún más</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Símbolos</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bg1"/>
          </a:solidFill>
          <a:ln w="12700">
            <a:solidFill>
              <a:srgbClr val="C8C0E0"/>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bg1"/>
          </a:solidFill>
          <a:ln w="12700">
            <a:solidFill>
              <a:srgbClr val="C8C0E0"/>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Antony</a:t>
            </a:r>
            <a:endParaRPr lang="en-US" sz="1200" dirty="0"/>
          </a:p>
        </p:txBody>
      </p:sp>
      <p:sp>
        <p:nvSpPr>
          <p:cNvPr id="17" name="figura"/>
          <p:cNvSpPr/>
          <p:nvPr/>
        </p:nvSpPr>
        <p:spPr>
          <a:xfrm>
            <a:off x="548640" y="1645920"/>
            <a:ext cx="11094415" cy="3200400"/>
          </a:xfrm>
          <a:prstGeom prst="roundRect">
            <a:avLst>
              <a:gd name="adj" fmla="val 2857"/>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modulaciones" descr="BER de las cuatro modulaciones en los escenarios A y C, y compromiso entre potencia y eficiencia espectral">    </p:cNvPr>
          <p:cNvPicPr>
            <a:picLocks noChangeAspect="1"/>
          </p:cNvPicPr>
          <p:nvPr/>
        </p:nvPicPr>
        <p:blipFill>
          <a:blip r:embed="rId1"/>
          <a:stretch>
            <a:fillRect/>
          </a:stretch>
        </p:blipFill>
        <p:spPr>
          <a:xfrm>
            <a:off x="1158088" y="1737360"/>
            <a:ext cx="9875520" cy="3018168"/>
          </a:xfrm>
          <a:prstGeom prst="rect">
            <a:avLst/>
          </a:prstGeom>
        </p:spPr>
      </p:pic>
      <p:sp>
        <p:nvSpPr>
          <p:cNvPr id="19" name="chip"/>
          <p:cNvSpPr/>
          <p:nvPr/>
        </p:nvSpPr>
        <p:spPr>
          <a:xfrm>
            <a:off x="548640" y="4983480"/>
            <a:ext cx="2636444" cy="1280160"/>
          </a:xfrm>
          <a:prstGeom prst="roundRect">
            <a:avLst>
              <a:gd name="adj" fmla="val 7143"/>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0" name="Text 16"/>
          <p:cNvSpPr txBox="1"/>
          <p:nvPr/>
        </p:nvSpPr>
        <p:spPr>
          <a:xfrm>
            <a:off x="731520" y="5029200"/>
            <a:ext cx="2362124" cy="1188720"/>
          </a:xfrm>
          <a:prstGeom prst="rect">
            <a:avLst/>
          </a:prstGeom>
          <a:noFill/>
          <a:ln/>
        </p:spPr>
        <p:txBody>
          <a:bodyPr wrap="square" lIns="0" tIns="0" rIns="0" bIns="0" rtlCol="0" anchor="ctr"/>
          <a:lstStyle/>
          <a:p>
            <a:pPr indent="0" marL="0">
              <a:buNone/>
            </a:pPr>
            <a:r>
              <a:rPr lang="en-US" sz="1600" b="1" dirty="0">
                <a:solidFill>
                  <a:schemeClr val="tx1"/>
                </a:solidFill>
              </a:rPr>
              <a:t>QPSK</a:t>
            </a:r>
            <a:endParaRPr lang="en-US" sz="1600" dirty="0"/>
          </a:p>
          <a:p>
            <a:pPr indent="0" marL="0">
              <a:buNone/>
            </a:pPr>
            <a:r>
              <a:rPr lang="en-US" sz="1300" dirty="0">
                <a:solidFill>
                  <a:schemeClr val="tx2"/>
                </a:solidFill>
              </a:rPr>
              <a:t>η = 1,48 b/s/Hz</a:t>
            </a:r>
            <a:endParaRPr lang="en-US" sz="1600" dirty="0"/>
          </a:p>
          <a:p>
            <a:pPr indent="0" marL="0">
              <a:buNone/>
            </a:pPr>
            <a:r>
              <a:rPr lang="en-US" sz="1400" b="1" dirty="0">
                <a:solidFill>
                  <a:schemeClr val="accent1"/>
                </a:solidFill>
              </a:rPr>
              <a:t>A 6,7 · C 11,2 dB</a:t>
            </a:r>
            <a:endParaRPr lang="en-US" sz="1600" dirty="0"/>
          </a:p>
          <a:p>
            <a:pPr indent="0" marL="0">
              <a:buNone/>
            </a:pPr>
            <a:r>
              <a:rPr lang="en-US" sz="1200" dirty="0">
                <a:solidFill>
                  <a:schemeClr val="tx2"/>
                </a:solidFill>
              </a:rPr>
              <a:t>+4,4 dB sobre la teoría en C</a:t>
            </a:r>
            <a:endParaRPr lang="en-US" sz="1600" dirty="0"/>
          </a:p>
        </p:txBody>
      </p:sp>
      <p:sp>
        <p:nvSpPr>
          <p:cNvPr id="21" name="chip"/>
          <p:cNvSpPr/>
          <p:nvPr/>
        </p:nvSpPr>
        <p:spPr>
          <a:xfrm>
            <a:off x="3367964" y="4983480"/>
            <a:ext cx="2636444" cy="1280160"/>
          </a:xfrm>
          <a:prstGeom prst="roundRect">
            <a:avLst>
              <a:gd name="adj" fmla="val 7143"/>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2" name="Text 18"/>
          <p:cNvSpPr txBox="1"/>
          <p:nvPr/>
        </p:nvSpPr>
        <p:spPr>
          <a:xfrm>
            <a:off x="3550844" y="5029200"/>
            <a:ext cx="2362124" cy="1188720"/>
          </a:xfrm>
          <a:prstGeom prst="rect">
            <a:avLst/>
          </a:prstGeom>
          <a:noFill/>
          <a:ln/>
        </p:spPr>
        <p:txBody>
          <a:bodyPr wrap="square" lIns="0" tIns="0" rIns="0" bIns="0" rtlCol="0" anchor="ctr"/>
          <a:lstStyle/>
          <a:p>
            <a:pPr indent="0" marL="0">
              <a:buNone/>
            </a:pPr>
            <a:r>
              <a:rPr lang="en-US" sz="1600" b="1" dirty="0">
                <a:solidFill>
                  <a:schemeClr val="tx1"/>
                </a:solidFill>
              </a:rPr>
              <a:t>8PSK</a:t>
            </a:r>
            <a:endParaRPr lang="en-US" sz="1600" dirty="0"/>
          </a:p>
          <a:p>
            <a:pPr indent="0" marL="0">
              <a:buNone/>
            </a:pPr>
            <a:r>
              <a:rPr lang="en-US" sz="1300" dirty="0">
                <a:solidFill>
                  <a:schemeClr val="tx2"/>
                </a:solidFill>
              </a:rPr>
              <a:t>η = 2,22 b/s/Hz</a:t>
            </a:r>
            <a:endParaRPr lang="en-US" sz="1600" dirty="0"/>
          </a:p>
          <a:p>
            <a:pPr indent="0" marL="0">
              <a:buNone/>
            </a:pPr>
            <a:r>
              <a:rPr lang="en-US" sz="1400" b="1" dirty="0">
                <a:solidFill>
                  <a:schemeClr val="accent1"/>
                </a:solidFill>
              </a:rPr>
              <a:t>A 10,2 · C 14,6 dB</a:t>
            </a:r>
            <a:endParaRPr lang="en-US" sz="1600" dirty="0"/>
          </a:p>
          <a:p>
            <a:pPr indent="0" marL="0">
              <a:buNone/>
            </a:pPr>
            <a:r>
              <a:rPr lang="en-US" sz="1200" dirty="0">
                <a:solidFill>
                  <a:schemeClr val="tx2"/>
                </a:solidFill>
              </a:rPr>
              <a:t>+4,6 dB sobre la teoría en C</a:t>
            </a:r>
            <a:endParaRPr lang="en-US" sz="1600" dirty="0"/>
          </a:p>
        </p:txBody>
      </p:sp>
      <p:sp>
        <p:nvSpPr>
          <p:cNvPr id="23" name="chip"/>
          <p:cNvSpPr/>
          <p:nvPr/>
        </p:nvSpPr>
        <p:spPr>
          <a:xfrm>
            <a:off x="6187288" y="4983480"/>
            <a:ext cx="2636444" cy="1280160"/>
          </a:xfrm>
          <a:prstGeom prst="roundRect">
            <a:avLst>
              <a:gd name="adj" fmla="val 7143"/>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4" name="Text 20"/>
          <p:cNvSpPr txBox="1"/>
          <p:nvPr/>
        </p:nvSpPr>
        <p:spPr>
          <a:xfrm>
            <a:off x="6370168" y="5029200"/>
            <a:ext cx="2362124" cy="1188720"/>
          </a:xfrm>
          <a:prstGeom prst="rect">
            <a:avLst/>
          </a:prstGeom>
          <a:noFill/>
          <a:ln/>
        </p:spPr>
        <p:txBody>
          <a:bodyPr wrap="square" lIns="0" tIns="0" rIns="0" bIns="0" rtlCol="0" anchor="ctr"/>
          <a:lstStyle/>
          <a:p>
            <a:pPr indent="0" marL="0">
              <a:buNone/>
            </a:pPr>
            <a:r>
              <a:rPr lang="en-US" sz="1600" b="1" dirty="0">
                <a:solidFill>
                  <a:schemeClr val="tx1"/>
                </a:solidFill>
              </a:rPr>
              <a:t>16-QAM</a:t>
            </a:r>
            <a:endParaRPr lang="en-US" sz="1600" dirty="0"/>
          </a:p>
          <a:p>
            <a:pPr indent="0" marL="0">
              <a:buNone/>
            </a:pPr>
            <a:r>
              <a:rPr lang="en-US" sz="1300" dirty="0">
                <a:solidFill>
                  <a:schemeClr val="tx2"/>
                </a:solidFill>
              </a:rPr>
              <a:t>η = 2,96 b/s/Hz</a:t>
            </a:r>
            <a:endParaRPr lang="en-US" sz="1600" dirty="0"/>
          </a:p>
          <a:p>
            <a:pPr indent="0" marL="0">
              <a:buNone/>
            </a:pPr>
            <a:r>
              <a:rPr lang="en-US" sz="1400" b="1" dirty="0">
                <a:solidFill>
                  <a:schemeClr val="accent1"/>
                </a:solidFill>
              </a:rPr>
              <a:t>A 10,7 · C 18,1 dB</a:t>
            </a:r>
            <a:endParaRPr lang="en-US" sz="1600" dirty="0"/>
          </a:p>
          <a:p>
            <a:pPr indent="0" marL="0">
              <a:buNone/>
            </a:pPr>
            <a:r>
              <a:rPr lang="en-US" sz="1200" dirty="0">
                <a:solidFill>
                  <a:schemeClr val="tx2"/>
                </a:solidFill>
              </a:rPr>
              <a:t>+7,6 dB sobre la teoría en C</a:t>
            </a:r>
            <a:endParaRPr lang="en-US" sz="1600" dirty="0"/>
          </a:p>
        </p:txBody>
      </p:sp>
      <p:sp>
        <p:nvSpPr>
          <p:cNvPr id="25" name="chip"/>
          <p:cNvSpPr/>
          <p:nvPr/>
        </p:nvSpPr>
        <p:spPr>
          <a:xfrm>
            <a:off x="9006611" y="4983480"/>
            <a:ext cx="2636444" cy="1280160"/>
          </a:xfrm>
          <a:prstGeom prst="roundRect">
            <a:avLst>
              <a:gd name="adj" fmla="val 7143"/>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6" name="Text 22"/>
          <p:cNvSpPr txBox="1"/>
          <p:nvPr/>
        </p:nvSpPr>
        <p:spPr>
          <a:xfrm>
            <a:off x="9189491" y="5029200"/>
            <a:ext cx="2362124" cy="1188720"/>
          </a:xfrm>
          <a:prstGeom prst="rect">
            <a:avLst/>
          </a:prstGeom>
          <a:noFill/>
          <a:ln/>
        </p:spPr>
        <p:txBody>
          <a:bodyPr wrap="square" lIns="0" tIns="0" rIns="0" bIns="0" rtlCol="0" anchor="ctr"/>
          <a:lstStyle/>
          <a:p>
            <a:pPr indent="0" marL="0">
              <a:buNone/>
            </a:pPr>
            <a:r>
              <a:rPr lang="en-US" sz="1600" b="1" dirty="0">
                <a:solidFill>
                  <a:schemeClr val="tx1"/>
                </a:solidFill>
              </a:rPr>
              <a:t>64-QAM</a:t>
            </a:r>
            <a:endParaRPr lang="en-US" sz="1600" dirty="0"/>
          </a:p>
          <a:p>
            <a:pPr indent="0" marL="0">
              <a:buNone/>
            </a:pPr>
            <a:r>
              <a:rPr lang="en-US" sz="1300" dirty="0">
                <a:solidFill>
                  <a:schemeClr val="tx2"/>
                </a:solidFill>
              </a:rPr>
              <a:t>η = 4,44 b/s/Hz</a:t>
            </a:r>
            <a:endParaRPr lang="en-US" sz="1600" dirty="0"/>
          </a:p>
          <a:p>
            <a:pPr indent="0" marL="0">
              <a:buNone/>
            </a:pPr>
            <a:r>
              <a:rPr lang="en-US" sz="1400" b="1" dirty="0">
                <a:solidFill>
                  <a:schemeClr val="accent1"/>
                </a:solidFill>
              </a:rPr>
              <a:t>A 15,0 dB · C no llega</a:t>
            </a:r>
            <a:endParaRPr lang="en-US" sz="1600" dirty="0"/>
          </a:p>
          <a:p>
            <a:pPr indent="0" marL="0">
              <a:buNone/>
            </a:pPr>
            <a:r>
              <a:rPr lang="en-US" sz="1200" dirty="0">
                <a:solidFill>
                  <a:schemeClr val="tx2"/>
                </a:solidFill>
              </a:rPr>
              <a:t>ISI residual −12 dB; exige −20</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PREGUNTA CENTRAL</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No hay un receptor único: el mejor compromiso depende de la SNR y de si el canal cambia</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Ecualizador</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bg1"/>
          </a:solidFill>
          <a:ln w="12700">
            <a:solidFill>
              <a:srgbClr val="C8C0E0"/>
            </a:solidFill>
            <a:prstDash val="solid"/>
          </a:ln>
        </p:spPr>
      </p:sp>
      <p:sp>
        <p:nvSpPr>
          <p:cNvPr id="7" name="etapa 2"/>
          <p:cNvSpPr/>
          <p:nvPr/>
        </p:nvSpPr>
        <p:spPr>
          <a:xfrm>
            <a:off x="9742932" y="6478524"/>
            <a:ext cx="118872" cy="118872"/>
          </a:xfrm>
          <a:prstGeom prst="ellipse">
            <a:avLst/>
          </a:prstGeom>
          <a:solidFill>
            <a:schemeClr val="bg1"/>
          </a:solidFill>
          <a:ln w="12700">
            <a:solidFill>
              <a:srgbClr val="C8C0E0"/>
            </a:solidFill>
            <a:prstDash val="solid"/>
          </a:ln>
        </p:spPr>
      </p:sp>
      <p:sp>
        <p:nvSpPr>
          <p:cNvPr id="8" name="etapa 3"/>
          <p:cNvSpPr/>
          <p:nvPr/>
        </p:nvSpPr>
        <p:spPr>
          <a:xfrm>
            <a:off x="9976104" y="6478524"/>
            <a:ext cx="118872" cy="118872"/>
          </a:xfrm>
          <a:prstGeom prst="ellipse">
            <a:avLst/>
          </a:prstGeom>
          <a:solidFill>
            <a:schemeClr val="bg1"/>
          </a:solidFill>
          <a:ln w="12700">
            <a:solidFill>
              <a:srgbClr val="C8C0E0"/>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Luis</a:t>
            </a:r>
            <a:endParaRPr lang="en-US" sz="1200" dirty="0"/>
          </a:p>
        </p:txBody>
      </p:sp>
      <p:graphicFrame>
        <p:nvGraphicFramePr>
          <p:cNvPr id="15" name="tabla de compromiso"/>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743200"/>
                <a:gridCol w="1673352"/>
                <a:gridCol w="1673352"/>
                <a:gridCol w="1673352"/>
                <a:gridCol w="1673352"/>
                <a:gridCol w="1676095"/>
              </a:tblGrid>
              <a:tr h="457200">
                <a:tc>
                  <a:txBody>
                    <a:bodyPr/>
                    <a:lstStyle/>
                    <a:p>
                      <a:pPr algn="l" indent="0" marL="0">
                        <a:buNone/>
                      </a:pPr>
                      <a:r>
                        <a:rPr lang="en-US" sz="1200" b="1" dirty="0">
                          <a:solidFill>
                            <a:schemeClr val="tx2"/>
                          </a:solidFill>
                          <a:latin typeface="Arial" pitchFamily="34" charset="0"/>
                          <a:ea typeface="Arial" pitchFamily="34" charset="-122"/>
                          <a:cs typeface="Arial" pitchFamily="34" charset="-120"/>
                        </a:rPr>
                        <a:t>Criterio</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2"/>
                          </a:solidFill>
                          <a:latin typeface="Arial" pitchFamily="34" charset="0"/>
                          <a:ea typeface="Arial" pitchFamily="34" charset="-122"/>
                          <a:cs typeface="Arial" pitchFamily="34" charset="-120"/>
                        </a:rPr>
                        <a:t>LMS</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2"/>
                          </a:solidFill>
                          <a:latin typeface="Arial" pitchFamily="34" charset="0"/>
                          <a:ea typeface="Arial" pitchFamily="34" charset="-122"/>
                          <a:cs typeface="Arial" pitchFamily="34" charset="-120"/>
                        </a:rPr>
                        <a:t>RLS</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2"/>
                          </a:solidFill>
                          <a:latin typeface="Arial" pitchFamily="34" charset="0"/>
                          <a:ea typeface="Arial" pitchFamily="34" charset="-122"/>
                          <a:cs typeface="Arial" pitchFamily="34" charset="-120"/>
                        </a:rPr>
                        <a:t>ZF</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2"/>
                          </a:solidFill>
                          <a:latin typeface="Arial" pitchFamily="34" charset="0"/>
                          <a:ea typeface="Arial" pitchFamily="34" charset="-122"/>
                          <a:cs typeface="Arial" pitchFamily="34" charset="-120"/>
                        </a:rPr>
                        <a:t>MMSE</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2"/>
                          </a:solidFill>
                          <a:latin typeface="Arial" pitchFamily="34" charset="0"/>
                          <a:ea typeface="Arial" pitchFamily="34" charset="-122"/>
                          <a:cs typeface="Arial" pitchFamily="34" charset="-120"/>
                        </a:rPr>
                        <a:t>CMA</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r>
              <a:tr h="457200">
                <a:tc>
                  <a:txBody>
                    <a:bodyPr/>
                    <a:lstStyle/>
                    <a:p>
                      <a:pPr algn="l" indent="0" marL="0">
                        <a:buNone/>
                      </a:pPr>
                      <a:r>
                        <a:rPr lang="en-US" sz="1400" b="1" dirty="0">
                          <a:solidFill>
                            <a:schemeClr val="tx1"/>
                          </a:solidFill>
                          <a:latin typeface="Arial" pitchFamily="34" charset="0"/>
                          <a:ea typeface="Arial" pitchFamily="34" charset="-122"/>
                          <a:cs typeface="Arial" pitchFamily="34" charset="-120"/>
                        </a:rPr>
                        <a:t>BER a 8 dB</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3,3·10</a:t>
                      </a:r>
                      <a:pPr algn="ctr" indent="0" marL="0">
                        <a:buNone/>
                      </a:pPr>
                      <a:r>
                        <a:rPr lang="en-US" sz="1400" baseline="30000" dirty="0">
                          <a:solidFill>
                            <a:schemeClr val="tx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1,5·10</a:t>
                      </a:r>
                      <a:pPr algn="ctr" indent="0" marL="0">
                        <a:buNone/>
                      </a:pPr>
                      <a:r>
                        <a:rPr lang="en-US" sz="1400" baseline="30000" dirty="0">
                          <a:solidFill>
                            <a:schemeClr val="tx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1,6·10</a:t>
                      </a:r>
                      <a:pPr algn="ctr" indent="0" marL="0">
                        <a:buNone/>
                      </a:pPr>
                      <a:r>
                        <a:rPr lang="en-US" sz="1400" baseline="30000" dirty="0">
                          <a:solidFill>
                            <a:schemeClr val="tx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Arial" pitchFamily="34" charset="0"/>
                          <a:ea typeface="Arial" pitchFamily="34" charset="-122"/>
                          <a:cs typeface="Arial" pitchFamily="34" charset="-120"/>
                        </a:rPr>
                        <a:t>1,3·10</a:t>
                      </a:r>
                      <a:pPr algn="ctr" indent="0" marL="0">
                        <a:buNone/>
                      </a:pPr>
                      <a:r>
                        <a:rPr lang="en-US" sz="1400" b="1" baseline="30000" dirty="0">
                          <a:solidFill>
                            <a:schemeClr val="tx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1,6·10</a:t>
                      </a:r>
                      <a:pPr algn="ctr" indent="0" marL="0">
                        <a:buNone/>
                      </a:pPr>
                      <a:r>
                        <a:rPr lang="en-US" sz="1400" baseline="30000" dirty="0">
                          <a:solidFill>
                            <a:schemeClr val="tx1"/>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latin typeface="Arial" pitchFamily="34" charset="0"/>
                          <a:ea typeface="Arial" pitchFamily="34" charset="-122"/>
                          <a:cs typeface="Arial" pitchFamily="34" charset="-120"/>
                        </a:rPr>
                        <a:t>BER a 14 dB</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4,4·10</a:t>
                      </a:r>
                      <a:pPr algn="ctr" indent="0" marL="0">
                        <a:buNone/>
                      </a:pPr>
                      <a:r>
                        <a:rPr lang="en-US" sz="1400" baseline="30000" dirty="0">
                          <a:solidFill>
                            <a:schemeClr val="tx1"/>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9,4·10</a:t>
                      </a:r>
                      <a:pPr algn="ctr" indent="0" marL="0">
                        <a:buNone/>
                      </a:pPr>
                      <a:r>
                        <a:rPr lang="en-US" sz="1400" baseline="30000" dirty="0">
                          <a:solidFill>
                            <a:schemeClr val="tx1"/>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9,4·10</a:t>
                      </a:r>
                      <a:pPr algn="ctr" indent="0" marL="0">
                        <a:buNone/>
                      </a:pPr>
                      <a:r>
                        <a:rPr lang="en-US" sz="1400" baseline="30000" dirty="0">
                          <a:solidFill>
                            <a:schemeClr val="tx1"/>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9,4·10</a:t>
                      </a:r>
                      <a:pPr algn="ctr" indent="0" marL="0">
                        <a:buNone/>
                      </a:pPr>
                      <a:r>
                        <a:rPr lang="en-US" sz="1400" baseline="30000" dirty="0">
                          <a:solidFill>
                            <a:schemeClr val="tx1"/>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1,6·10</a:t>
                      </a:r>
                      <a:pPr algn="ctr" indent="0" marL="0">
                        <a:buNone/>
                      </a:pPr>
                      <a:r>
                        <a:rPr lang="en-US" sz="1400" baseline="30000" dirty="0">
                          <a:solidFill>
                            <a:schemeClr val="tx1"/>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latin typeface="Arial" pitchFamily="34" charset="0"/>
                          <a:ea typeface="Arial" pitchFamily="34" charset="-122"/>
                          <a:cs typeface="Arial" pitchFamily="34" charset="-120"/>
                        </a:rPr>
                        <a:t>Convergencia [símb.]</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78</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Arial" pitchFamily="34" charset="0"/>
                          <a:ea typeface="Arial" pitchFamily="34" charset="-122"/>
                          <a:cs typeface="Arial" pitchFamily="34" charset="-120"/>
                        </a:rPr>
                        <a:t>60</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1310</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latin typeface="Arial" pitchFamily="34" charset="0"/>
                          <a:ea typeface="Arial" pitchFamily="34" charset="-122"/>
                          <a:cs typeface="Arial" pitchFamily="34" charset="-120"/>
                        </a:rPr>
                        <a:t>Mult. reales / símbolo</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168</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7392</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Arial" pitchFamily="34" charset="0"/>
                          <a:ea typeface="Arial" pitchFamily="34" charset="-122"/>
                          <a:cs typeface="Arial" pitchFamily="34" charset="-120"/>
                        </a:rPr>
                        <a:t>84</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1"/>
                          </a:solidFill>
                          <a:latin typeface="Arial" pitchFamily="34" charset="0"/>
                          <a:ea typeface="Arial" pitchFamily="34" charset="-122"/>
                          <a:cs typeface="Arial" pitchFamily="34" charset="-120"/>
                        </a:rPr>
                        <a:t>84</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172</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57200">
                <a:tc>
                  <a:txBody>
                    <a:bodyPr/>
                    <a:lstStyle/>
                    <a:p>
                      <a:pPr algn="l" indent="0" marL="0">
                        <a:buNone/>
                      </a:pPr>
                      <a:r>
                        <a:rPr lang="en-US" sz="1400" b="1" dirty="0">
                          <a:solidFill>
                            <a:schemeClr val="tx1"/>
                          </a:solidFill>
                          <a:latin typeface="Arial" pitchFamily="34" charset="0"/>
                          <a:ea typeface="Arial" pitchFamily="34" charset="-122"/>
                          <a:cs typeface="Arial" pitchFamily="34" charset="-120"/>
                        </a:rPr>
                        <a:t>Necesita</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entrenamiento</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entrenamiento</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canal conocido</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canal y σ²</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latin typeface="Arial" pitchFamily="34" charset="0"/>
                          <a:ea typeface="Arial" pitchFamily="34" charset="-122"/>
                          <a:cs typeface="Arial" pitchFamily="34" charset="-120"/>
                        </a:rPr>
                        <a:t>nada (ciego)</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bl>
          </a:graphicData>
        </a:graphic>
      </p:graphicFrame>
      <p:sp>
        <p:nvSpPr>
          <p:cNvPr id="18" name="receta"/>
          <p:cNvSpPr/>
          <p:nvPr/>
        </p:nvSpPr>
        <p:spPr>
          <a:xfrm>
            <a:off x="548640" y="4572000"/>
            <a:ext cx="3576218" cy="1691640"/>
          </a:xfrm>
          <a:prstGeom prst="roundRect">
            <a:avLst>
              <a:gd name="adj" fmla="val 5405"/>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19" name="Text 15"/>
          <p:cNvSpPr txBox="1"/>
          <p:nvPr/>
        </p:nvSpPr>
        <p:spPr>
          <a:xfrm>
            <a:off x="777240" y="4681728"/>
            <a:ext cx="3119018" cy="1472184"/>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LMS: el diseño base</a:t>
            </a:r>
            <a:endParaRPr lang="en-US" sz="1600" dirty="0"/>
          </a:p>
          <a:p>
            <a:pPr indent="0" marL="0">
              <a:buNone/>
            </a:pPr>
            <a:r>
              <a:rPr lang="en-US" sz="1400" dirty="0">
                <a:solidFill>
                  <a:schemeClr val="tx1"/>
                </a:solidFill>
              </a:rPr>
              <a:t>Con entrenamiento y Eb/N0 ≥ 12 dB: BER 8,4·10⁻⁴ con 168 mult/símbolo</a:t>
            </a:r>
            <a:endParaRPr lang="en-US" sz="1600" dirty="0"/>
          </a:p>
        </p:txBody>
      </p:sp>
      <p:sp>
        <p:nvSpPr>
          <p:cNvPr id="20" name="receta"/>
          <p:cNvSpPr/>
          <p:nvPr/>
        </p:nvSpPr>
        <p:spPr>
          <a:xfrm>
            <a:off x="4307738" y="4572000"/>
            <a:ext cx="3576218" cy="1691640"/>
          </a:xfrm>
          <a:prstGeom prst="roundRect">
            <a:avLst>
              <a:gd name="adj" fmla="val 5405"/>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1" name="Text 17"/>
          <p:cNvSpPr txBox="1"/>
          <p:nvPr/>
        </p:nvSpPr>
        <p:spPr>
          <a:xfrm>
            <a:off x="4536338" y="4681728"/>
            <a:ext cx="3119018" cy="1472184"/>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RLS: SNR baja o canal que varía</a:t>
            </a:r>
            <a:endParaRPr lang="en-US" sz="1600" dirty="0"/>
          </a:p>
          <a:p>
            <a:pPr indent="0" marL="0">
              <a:buNone/>
            </a:pPr>
            <a:r>
              <a:rPr lang="en-US" sz="1400" dirty="0">
                <a:solidFill>
                  <a:schemeClr val="tx1"/>
                </a:solidFill>
              </a:rPr>
              <a:t>A 8 dB comete menos de la mitad de errores que LMS; con λ corto sigue un Rayleigh lento. Cuesta 44×</a:t>
            </a:r>
            <a:endParaRPr lang="en-US" sz="1600" dirty="0"/>
          </a:p>
        </p:txBody>
      </p:sp>
      <p:sp>
        <p:nvSpPr>
          <p:cNvPr id="22" name="receta"/>
          <p:cNvSpPr/>
          <p:nvPr/>
        </p:nvSpPr>
        <p:spPr>
          <a:xfrm>
            <a:off x="8066837" y="4572000"/>
            <a:ext cx="3576218" cy="1691640"/>
          </a:xfrm>
          <a:prstGeom prst="roundRect">
            <a:avLst>
              <a:gd name="adj" fmla="val 5405"/>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3" name="Text 19"/>
          <p:cNvSpPr txBox="1"/>
          <p:nvPr/>
        </p:nvSpPr>
        <p:spPr>
          <a:xfrm>
            <a:off x="8295437" y="4681728"/>
            <a:ext cx="3119018" cy="1472184"/>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MMSE: si el canal se conoce</a:t>
            </a:r>
            <a:endParaRPr lang="en-US" sz="1600" dirty="0"/>
          </a:p>
          <a:p>
            <a:pPr indent="0" marL="0">
              <a:buNone/>
            </a:pPr>
            <a:r>
              <a:rPr lang="en-US" sz="1400" dirty="0">
                <a:solidFill>
                  <a:schemeClr val="tx1"/>
                </a:solidFill>
              </a:rPr>
              <a:t>Mejor BER con 84 mult/símbolo. ZF solo lo iguala a SNR alta</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LO QUE APORTAMOS · 1 DE 2</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Cada etapa del receptor se puede mirar por dentro</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Cadena completa</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accent1"/>
          </a:solidFill>
          <a:ln w="12700">
            <a:solidFill>
              <a:schemeClr val="accent1"/>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Luis</a:t>
            </a:r>
            <a:endParaRPr lang="en-US" sz="1200" dirty="0"/>
          </a:p>
        </p:txBody>
      </p:sp>
      <p:sp>
        <p:nvSpPr>
          <p:cNvPr id="17" name="camino"/>
          <p:cNvSpPr/>
          <p:nvPr/>
        </p:nvSpPr>
        <p:spPr>
          <a:xfrm>
            <a:off x="548640" y="1645920"/>
            <a:ext cx="11094415" cy="1463040"/>
          </a:xfrm>
          <a:prstGeom prst="roundRect">
            <a:avLst>
              <a:gd name="adj" fmla="val 625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cadena" descr="Cadena de ocho etapas con la apertura del ojo medida en cada una">    </p:cNvPr>
          <p:cNvPicPr>
            <a:picLocks noChangeAspect="1"/>
          </p:cNvPicPr>
          <p:nvPr/>
        </p:nvPicPr>
        <p:blipFill>
          <a:blip r:embed="rId1"/>
          <a:stretch>
            <a:fillRect/>
          </a:stretch>
        </p:blipFill>
        <p:spPr>
          <a:xfrm>
            <a:off x="731520" y="1773936"/>
            <a:ext cx="10698480" cy="1196779"/>
          </a:xfrm>
          <a:prstGeom prst="rect">
            <a:avLst/>
          </a:prstGeom>
        </p:spPr>
      </p:pic>
      <p:sp>
        <p:nvSpPr>
          <p:cNvPr id="19" name="par"/>
          <p:cNvSpPr/>
          <p:nvPr/>
        </p:nvSpPr>
        <p:spPr>
          <a:xfrm>
            <a:off x="548640" y="3246120"/>
            <a:ext cx="5455768" cy="3017520"/>
          </a:xfrm>
          <a:prstGeom prst="roundRect">
            <a:avLst>
              <a:gd name="adj" fmla="val 303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0" name="Text 16"/>
          <p:cNvSpPr txBox="1"/>
          <p:nvPr/>
        </p:nvSpPr>
        <p:spPr>
          <a:xfrm>
            <a:off x="777240" y="3319272"/>
            <a:ext cx="4998568" cy="292608"/>
          </a:xfrm>
          <a:prstGeom prst="rect">
            <a:avLst/>
          </a:prstGeom>
          <a:noFill/>
          <a:ln/>
        </p:spPr>
        <p:txBody>
          <a:bodyPr wrap="square" lIns="0" tIns="0" rIns="0" bIns="0" rtlCol="0" anchor="ctr"/>
          <a:lstStyle/>
          <a:p>
            <a:pPr indent="0" marL="0">
              <a:buNone/>
            </a:pPr>
            <a:r>
              <a:rPr lang="en-US" sz="1400" b="1" dirty="0">
                <a:solidFill>
                  <a:schemeClr val="tx1"/>
                </a:solidFill>
              </a:rPr>
              <a:t>Constelación antes y después del ecualizador</a:t>
            </a:r>
            <a:endParaRPr lang="en-US" sz="1400" dirty="0"/>
          </a:p>
        </p:txBody>
      </p:sp>
      <p:sp>
        <p:nvSpPr>
          <p:cNvPr id="21" name="Text 17"/>
          <p:cNvSpPr txBox="1"/>
          <p:nvPr/>
        </p:nvSpPr>
        <p:spPr>
          <a:xfrm>
            <a:off x="883882" y="3657600"/>
            <a:ext cx="2331720" cy="228600"/>
          </a:xfrm>
          <a:prstGeom prst="rect">
            <a:avLst/>
          </a:prstGeom>
          <a:noFill/>
          <a:ln/>
        </p:spPr>
        <p:txBody>
          <a:bodyPr wrap="square" lIns="0" tIns="0" rIns="0" bIns="0" rtlCol="0" anchor="ctr"/>
          <a:lstStyle/>
          <a:p>
            <a:pPr algn="ctr" indent="0" marL="0">
              <a:buNone/>
            </a:pPr>
            <a:r>
              <a:rPr lang="en-US" sz="1200" b="1" dirty="0">
                <a:solidFill>
                  <a:schemeClr val="tx2"/>
                </a:solidFill>
              </a:rPr>
              <a:t>Antes (trama)</a:t>
            </a:r>
            <a:endParaRPr lang="en-US" sz="1200" dirty="0"/>
          </a:p>
        </p:txBody>
      </p:sp>
      <p:sp>
        <p:nvSpPr>
          <p:cNvPr id="22" name="Text 18"/>
          <p:cNvSpPr txBox="1"/>
          <p:nvPr/>
        </p:nvSpPr>
        <p:spPr>
          <a:xfrm>
            <a:off x="3337446" y="3657600"/>
            <a:ext cx="2331720" cy="228600"/>
          </a:xfrm>
          <a:prstGeom prst="rect">
            <a:avLst/>
          </a:prstGeom>
          <a:noFill/>
          <a:ln/>
        </p:spPr>
        <p:txBody>
          <a:bodyPr wrap="square" lIns="0" tIns="0" rIns="0" bIns="0" rtlCol="0" anchor="ctr"/>
          <a:lstStyle/>
          <a:p>
            <a:pPr algn="ctr" indent="0" marL="0">
              <a:buNone/>
            </a:pPr>
            <a:r>
              <a:rPr lang="en-US" sz="1200" b="1" dirty="0">
                <a:solidFill>
                  <a:schemeClr val="tx2"/>
                </a:solidFill>
              </a:rPr>
              <a:t>Después (ecualizador)</a:t>
            </a:r>
            <a:endParaRPr lang="en-US" sz="1200" dirty="0"/>
          </a:p>
        </p:txBody>
      </p:sp>
      <p:pic>
        <p:nvPicPr>
          <p:cNvPr id="23" name="Image 1" descr="Constelación antes y después del ecualizador (antes)">    </p:cNvPr>
          <p:cNvPicPr>
            <a:picLocks noChangeAspect="1"/>
          </p:cNvPicPr>
          <p:nvPr/>
        </p:nvPicPr>
        <p:blipFill>
          <a:blip r:embed="rId2"/>
          <a:stretch>
            <a:fillRect/>
          </a:stretch>
        </p:blipFill>
        <p:spPr>
          <a:xfrm>
            <a:off x="883882" y="3904488"/>
            <a:ext cx="2331720" cy="1902193"/>
          </a:xfrm>
          <a:prstGeom prst="rect">
            <a:avLst/>
          </a:prstGeom>
        </p:spPr>
      </p:pic>
      <p:pic>
        <p:nvPicPr>
          <p:cNvPr id="24" name="Image 2" descr="Constelación antes y después del ecualizador (después)">    </p:cNvPr>
          <p:cNvPicPr>
            <a:picLocks noChangeAspect="1"/>
          </p:cNvPicPr>
          <p:nvPr/>
        </p:nvPicPr>
        <p:blipFill>
          <a:blip r:embed="rId3"/>
          <a:stretch>
            <a:fillRect/>
          </a:stretch>
        </p:blipFill>
        <p:spPr>
          <a:xfrm>
            <a:off x="3337446" y="3904488"/>
            <a:ext cx="2331720" cy="1902193"/>
          </a:xfrm>
          <a:prstGeom prst="rect">
            <a:avLst/>
          </a:prstGeom>
        </p:spPr>
      </p:pic>
      <p:sp>
        <p:nvSpPr>
          <p:cNvPr id="25" name="Text 19"/>
          <p:cNvSpPr txBox="1"/>
          <p:nvPr/>
        </p:nvSpPr>
        <p:spPr>
          <a:xfrm>
            <a:off x="777240" y="5870689"/>
            <a:ext cx="4998568" cy="365760"/>
          </a:xfrm>
          <a:prstGeom prst="rect">
            <a:avLst/>
          </a:prstGeom>
          <a:noFill/>
          <a:ln/>
        </p:spPr>
        <p:txBody>
          <a:bodyPr wrap="square" lIns="0" tIns="0" rIns="0" bIns="0" rtlCol="0" anchor="ctr"/>
          <a:lstStyle/>
          <a:p>
            <a:pPr algn="ctr" indent="0" marL="0">
              <a:buNone/>
            </a:pPr>
            <a:r>
              <a:rPr lang="en-US" sz="1800" b="1" dirty="0">
                <a:solidFill>
                  <a:schemeClr val="accent1"/>
                </a:solidFill>
              </a:rPr>
              <a:t>EVM 77,1 % → 31,1 %</a:t>
            </a:r>
            <a:endParaRPr lang="en-US" sz="1800" dirty="0"/>
          </a:p>
        </p:txBody>
      </p:sp>
      <p:sp>
        <p:nvSpPr>
          <p:cNvPr id="26" name="par"/>
          <p:cNvSpPr/>
          <p:nvPr/>
        </p:nvSpPr>
        <p:spPr>
          <a:xfrm>
            <a:off x="6187288" y="3246120"/>
            <a:ext cx="5455768" cy="3017520"/>
          </a:xfrm>
          <a:prstGeom prst="roundRect">
            <a:avLst>
              <a:gd name="adj" fmla="val 303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7" name="Text 21"/>
          <p:cNvSpPr txBox="1"/>
          <p:nvPr/>
        </p:nvSpPr>
        <p:spPr>
          <a:xfrm>
            <a:off x="6415888" y="3319272"/>
            <a:ext cx="4998568" cy="292608"/>
          </a:xfrm>
          <a:prstGeom prst="rect">
            <a:avLst/>
          </a:prstGeom>
          <a:noFill/>
          <a:ln/>
        </p:spPr>
        <p:txBody>
          <a:bodyPr wrap="square" lIns="0" tIns="0" rIns="0" bIns="0" rtlCol="0" anchor="ctr"/>
          <a:lstStyle/>
          <a:p>
            <a:pPr indent="0" marL="0">
              <a:buNone/>
            </a:pPr>
            <a:r>
              <a:rPr lang="en-US" sz="1400" b="1" dirty="0">
                <a:solidFill>
                  <a:schemeClr val="tx1"/>
                </a:solidFill>
              </a:rPr>
              <a:t>Ojo antes y después del ecualizador</a:t>
            </a:r>
            <a:endParaRPr lang="en-US" sz="1400" dirty="0"/>
          </a:p>
        </p:txBody>
      </p:sp>
      <p:sp>
        <p:nvSpPr>
          <p:cNvPr id="28" name="Text 22"/>
          <p:cNvSpPr txBox="1"/>
          <p:nvPr/>
        </p:nvSpPr>
        <p:spPr>
          <a:xfrm>
            <a:off x="6522530" y="3657600"/>
            <a:ext cx="2331720" cy="228600"/>
          </a:xfrm>
          <a:prstGeom prst="rect">
            <a:avLst/>
          </a:prstGeom>
          <a:noFill/>
          <a:ln/>
        </p:spPr>
        <p:txBody>
          <a:bodyPr wrap="square" lIns="0" tIns="0" rIns="0" bIns="0" rtlCol="0" anchor="ctr"/>
          <a:lstStyle/>
          <a:p>
            <a:pPr algn="ctr" indent="0" marL="0">
              <a:buNone/>
            </a:pPr>
            <a:r>
              <a:rPr lang="en-US" sz="1200" b="1" dirty="0">
                <a:solidFill>
                  <a:schemeClr val="tx2"/>
                </a:solidFill>
              </a:rPr>
              <a:t>Antes (filtro adaptado)</a:t>
            </a:r>
            <a:endParaRPr lang="en-US" sz="1200" dirty="0"/>
          </a:p>
        </p:txBody>
      </p:sp>
      <p:sp>
        <p:nvSpPr>
          <p:cNvPr id="29" name="Text 23"/>
          <p:cNvSpPr txBox="1"/>
          <p:nvPr/>
        </p:nvSpPr>
        <p:spPr>
          <a:xfrm>
            <a:off x="8976093" y="3657600"/>
            <a:ext cx="2331720" cy="228600"/>
          </a:xfrm>
          <a:prstGeom prst="rect">
            <a:avLst/>
          </a:prstGeom>
          <a:noFill/>
          <a:ln/>
        </p:spPr>
        <p:txBody>
          <a:bodyPr wrap="square" lIns="0" tIns="0" rIns="0" bIns="0" rtlCol="0" anchor="ctr"/>
          <a:lstStyle/>
          <a:p>
            <a:pPr algn="ctr" indent="0" marL="0">
              <a:buNone/>
            </a:pPr>
            <a:r>
              <a:rPr lang="en-US" sz="1200" b="1" dirty="0">
                <a:solidFill>
                  <a:schemeClr val="tx2"/>
                </a:solidFill>
              </a:rPr>
              <a:t>Después (LMS)</a:t>
            </a:r>
            <a:endParaRPr lang="en-US" sz="1200" dirty="0"/>
          </a:p>
        </p:txBody>
      </p:sp>
      <p:pic>
        <p:nvPicPr>
          <p:cNvPr id="30" name="Image 3" descr="Ojo antes y después del ecualizador (antes)">    </p:cNvPr>
          <p:cNvPicPr>
            <a:picLocks noChangeAspect="1"/>
          </p:cNvPicPr>
          <p:nvPr/>
        </p:nvPicPr>
        <p:blipFill>
          <a:blip r:embed="rId4"/>
          <a:stretch>
            <a:fillRect/>
          </a:stretch>
        </p:blipFill>
        <p:spPr>
          <a:xfrm>
            <a:off x="6522530" y="3904488"/>
            <a:ext cx="2331720" cy="1902193"/>
          </a:xfrm>
          <a:prstGeom prst="rect">
            <a:avLst/>
          </a:prstGeom>
        </p:spPr>
      </p:pic>
      <p:pic>
        <p:nvPicPr>
          <p:cNvPr id="31" name="Image 4" descr="Ojo antes y después del ecualizador (después)">    </p:cNvPr>
          <p:cNvPicPr>
            <a:picLocks noChangeAspect="1"/>
          </p:cNvPicPr>
          <p:nvPr/>
        </p:nvPicPr>
        <p:blipFill>
          <a:blip r:embed="rId5"/>
          <a:stretch>
            <a:fillRect/>
          </a:stretch>
        </p:blipFill>
        <p:spPr>
          <a:xfrm>
            <a:off x="8976093" y="3904488"/>
            <a:ext cx="2331720" cy="1902193"/>
          </a:xfrm>
          <a:prstGeom prst="rect">
            <a:avLst/>
          </a:prstGeom>
        </p:spPr>
      </p:pic>
      <p:sp>
        <p:nvSpPr>
          <p:cNvPr id="32" name="Text 24"/>
          <p:cNvSpPr txBox="1"/>
          <p:nvPr/>
        </p:nvSpPr>
        <p:spPr>
          <a:xfrm>
            <a:off x="6415888" y="5870689"/>
            <a:ext cx="4998568" cy="365760"/>
          </a:xfrm>
          <a:prstGeom prst="rect">
            <a:avLst/>
          </a:prstGeom>
          <a:noFill/>
          <a:ln/>
        </p:spPr>
        <p:txBody>
          <a:bodyPr wrap="square" lIns="0" tIns="0" rIns="0" bIns="0" rtlCol="0" anchor="ctr"/>
          <a:lstStyle/>
          <a:p>
            <a:pPr algn="ctr" indent="0" marL="0">
              <a:buNone/>
            </a:pPr>
            <a:r>
              <a:rPr lang="en-US" sz="1800" b="1" dirty="0">
                <a:solidFill>
                  <a:schemeClr val="accent1"/>
                </a:solidFill>
              </a:rPr>
              <a:t>Apertura 0,118 → 0,365</a:t>
            </a:r>
            <a:endParaRPr lang="en-US" sz="18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LO QUE APORTAMOS · 2 DE 2</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Seis cosas que van más allá de lo pedido</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Cadena completa</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accent1"/>
          </a:solidFill>
          <a:ln w="12700">
            <a:solidFill>
              <a:schemeClr val="accent1"/>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Luis</a:t>
            </a:r>
            <a:endParaRPr lang="en-US" sz="1200" dirty="0"/>
          </a:p>
        </p:txBody>
      </p:sp>
      <p:sp>
        <p:nvSpPr>
          <p:cNvPr id="17" name="aporte"/>
          <p:cNvSpPr/>
          <p:nvPr/>
        </p:nvSpPr>
        <p:spPr>
          <a:xfrm>
            <a:off x="548640" y="1645920"/>
            <a:ext cx="3576218" cy="2240280"/>
          </a:xfrm>
          <a:prstGeom prst="roundRect">
            <a:avLst>
              <a:gd name="adj" fmla="val 408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18" name="círculo de icono"/>
          <p:cNvSpPr/>
          <p:nvPr/>
        </p:nvSpPr>
        <p:spPr>
          <a:xfrm>
            <a:off x="822960" y="1920240"/>
            <a:ext cx="640080" cy="640080"/>
          </a:xfrm>
          <a:prstGeom prst="ellipse">
            <a:avLst/>
          </a:prstGeom>
          <a:solidFill>
            <a:schemeClr val="accent1"/>
          </a:solidFill>
          <a:ln w="12700">
            <a:solidFill>
              <a:schemeClr val="accent1"/>
            </a:solidFill>
            <a:prstDash val="solid"/>
          </a:ln>
        </p:spPr>
      </p:sp>
      <p:pic>
        <p:nvPicPr>
          <p:cNvPr id="19" name="Image 0" descr="C:\Users\Luisr\AppData\Local\Temp\claude\C--comunicacion\985d9d34-eaec-495e-aa8a-9b8a575d1482\scratchpad\assets\FiSliders.png">    </p:cNvPr>
          <p:cNvPicPr>
            <a:picLocks noChangeAspect="1"/>
          </p:cNvPicPr>
          <p:nvPr/>
        </p:nvPicPr>
        <p:blipFill>
          <a:blip r:embed="rId1"/>
          <a:stretch>
            <a:fillRect/>
          </a:stretch>
        </p:blipFill>
        <p:spPr>
          <a:xfrm>
            <a:off x="969264" y="2066544"/>
            <a:ext cx="347472" cy="347472"/>
          </a:xfrm>
          <a:prstGeom prst="rect">
            <a:avLst/>
          </a:prstGeom>
        </p:spPr>
      </p:pic>
      <p:sp>
        <p:nvSpPr>
          <p:cNvPr id="20" name="Text 16"/>
          <p:cNvSpPr txBox="1"/>
          <p:nvPr/>
        </p:nvSpPr>
        <p:spPr>
          <a:xfrm>
            <a:off x="822960" y="2697480"/>
            <a:ext cx="3027578" cy="365760"/>
          </a:xfrm>
          <a:prstGeom prst="rect">
            <a:avLst/>
          </a:prstGeom>
          <a:noFill/>
          <a:ln/>
        </p:spPr>
        <p:txBody>
          <a:bodyPr wrap="square" lIns="0" tIns="0" rIns="0" bIns="0" rtlCol="0" anchor="t"/>
          <a:lstStyle/>
          <a:p>
            <a:pPr indent="0" marL="0">
              <a:buNone/>
            </a:pPr>
            <a:r>
              <a:rPr lang="en-US" sz="1600" b="1" dirty="0">
                <a:solidFill>
                  <a:schemeClr val="tx1"/>
                </a:solidFill>
              </a:rPr>
              <a:t>Cinco ecualizadores</a:t>
            </a:r>
            <a:endParaRPr lang="en-US" sz="1600" dirty="0"/>
          </a:p>
        </p:txBody>
      </p:sp>
      <p:sp>
        <p:nvSpPr>
          <p:cNvPr id="21" name="Text 17"/>
          <p:cNvSpPr txBox="1"/>
          <p:nvPr/>
        </p:nvSpPr>
        <p:spPr>
          <a:xfrm>
            <a:off x="822960" y="3063240"/>
            <a:ext cx="3027578" cy="731520"/>
          </a:xfrm>
          <a:prstGeom prst="rect">
            <a:avLst/>
          </a:prstGeom>
          <a:noFill/>
          <a:ln/>
        </p:spPr>
        <p:txBody>
          <a:bodyPr wrap="square" lIns="0" tIns="0" rIns="0" bIns="0" rtlCol="0" anchor="t"/>
          <a:lstStyle/>
          <a:p>
            <a:pPr indent="0" marL="0">
              <a:buNone/>
            </a:pPr>
            <a:r>
              <a:rPr lang="en-US" sz="1400" dirty="0">
                <a:solidFill>
                  <a:schemeClr val="tx2"/>
                </a:solidFill>
              </a:rPr>
              <a:t>LMS, RLS, ZF, MMSE y CMA ciego; la guía pedía dos.</a:t>
            </a:r>
            <a:endParaRPr lang="en-US" sz="1400" dirty="0"/>
          </a:p>
        </p:txBody>
      </p:sp>
      <p:sp>
        <p:nvSpPr>
          <p:cNvPr id="22" name="aporte"/>
          <p:cNvSpPr/>
          <p:nvPr/>
        </p:nvSpPr>
        <p:spPr>
          <a:xfrm>
            <a:off x="4307738" y="1645920"/>
            <a:ext cx="3576218" cy="2240280"/>
          </a:xfrm>
          <a:prstGeom prst="roundRect">
            <a:avLst>
              <a:gd name="adj" fmla="val 408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3" name="círculo de icono"/>
          <p:cNvSpPr/>
          <p:nvPr/>
        </p:nvSpPr>
        <p:spPr>
          <a:xfrm>
            <a:off x="4582058" y="1920240"/>
            <a:ext cx="640080" cy="640080"/>
          </a:xfrm>
          <a:prstGeom prst="ellipse">
            <a:avLst/>
          </a:prstGeom>
          <a:solidFill>
            <a:schemeClr val="accent1"/>
          </a:solidFill>
          <a:ln w="12700">
            <a:solidFill>
              <a:schemeClr val="accent1"/>
            </a:solidFill>
            <a:prstDash val="solid"/>
          </a:ln>
        </p:spPr>
      </p:sp>
      <p:pic>
        <p:nvPicPr>
          <p:cNvPr id="24" name="Image 1" descr="C:\Users\Luisr\AppData\Local\Temp\claude\C--comunicacion\985d9d34-eaec-495e-aa8a-9b8a575d1482\scratchpad\assets\FiEdit3.png">    </p:cNvPr>
          <p:cNvPicPr>
            <a:picLocks noChangeAspect="1"/>
          </p:cNvPicPr>
          <p:nvPr/>
        </p:nvPicPr>
        <p:blipFill>
          <a:blip r:embed="rId2"/>
          <a:stretch>
            <a:fillRect/>
          </a:stretch>
        </p:blipFill>
        <p:spPr>
          <a:xfrm>
            <a:off x="4728362" y="2066544"/>
            <a:ext cx="347472" cy="347472"/>
          </a:xfrm>
          <a:prstGeom prst="rect">
            <a:avLst/>
          </a:prstGeom>
        </p:spPr>
      </p:pic>
      <p:sp>
        <p:nvSpPr>
          <p:cNvPr id="25" name="Text 20"/>
          <p:cNvSpPr txBox="1"/>
          <p:nvPr/>
        </p:nvSpPr>
        <p:spPr>
          <a:xfrm>
            <a:off x="4582058" y="2697480"/>
            <a:ext cx="3027578" cy="365760"/>
          </a:xfrm>
          <a:prstGeom prst="rect">
            <a:avLst/>
          </a:prstGeom>
          <a:noFill/>
          <a:ln/>
        </p:spPr>
        <p:txBody>
          <a:bodyPr wrap="square" lIns="0" tIns="0" rIns="0" bIns="0" rtlCol="0" anchor="t"/>
          <a:lstStyle/>
          <a:p>
            <a:pPr indent="0" marL="0">
              <a:buNone/>
            </a:pPr>
            <a:r>
              <a:rPr lang="en-US" sz="1600" b="1" dirty="0">
                <a:solidFill>
                  <a:schemeClr val="tx1"/>
                </a:solidFill>
              </a:rPr>
              <a:t>Canal h a mano o con semilla</a:t>
            </a:r>
            <a:endParaRPr lang="en-US" sz="1600" dirty="0"/>
          </a:p>
        </p:txBody>
      </p:sp>
      <p:sp>
        <p:nvSpPr>
          <p:cNvPr id="26" name="Text 21"/>
          <p:cNvSpPr txBox="1"/>
          <p:nvPr/>
        </p:nvSpPr>
        <p:spPr>
          <a:xfrm>
            <a:off x="4582058" y="3063240"/>
            <a:ext cx="3027578" cy="731520"/>
          </a:xfrm>
          <a:prstGeom prst="rect">
            <a:avLst/>
          </a:prstGeom>
          <a:noFill/>
          <a:ln/>
        </p:spPr>
        <p:txBody>
          <a:bodyPr wrap="square" lIns="0" tIns="0" rIns="0" bIns="0" rtlCol="0" anchor="t"/>
          <a:lstStyle/>
          <a:p>
            <a:pPr indent="0" marL="0">
              <a:buNone/>
            </a:pPr>
            <a:r>
              <a:rPr lang="en-US" sz="1400" dirty="0">
                <a:solidFill>
                  <a:schemeClr val="tx2"/>
                </a:solidFill>
              </a:rPr>
              <a:t>SIR, distorsión de pico y ojo para cualquier h (Exp. 7 y 8).</a:t>
            </a:r>
            <a:endParaRPr lang="en-US" sz="1400" dirty="0"/>
          </a:p>
        </p:txBody>
      </p:sp>
      <p:sp>
        <p:nvSpPr>
          <p:cNvPr id="27" name="aporte"/>
          <p:cNvSpPr/>
          <p:nvPr/>
        </p:nvSpPr>
        <p:spPr>
          <a:xfrm>
            <a:off x="8066837" y="1645920"/>
            <a:ext cx="3576218" cy="2240280"/>
          </a:xfrm>
          <a:prstGeom prst="roundRect">
            <a:avLst>
              <a:gd name="adj" fmla="val 408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8" name="círculo de icono"/>
          <p:cNvSpPr/>
          <p:nvPr/>
        </p:nvSpPr>
        <p:spPr>
          <a:xfrm>
            <a:off x="8341157" y="1920240"/>
            <a:ext cx="640080" cy="640080"/>
          </a:xfrm>
          <a:prstGeom prst="ellipse">
            <a:avLst/>
          </a:prstGeom>
          <a:solidFill>
            <a:schemeClr val="accent1"/>
          </a:solidFill>
          <a:ln w="12700">
            <a:solidFill>
              <a:schemeClr val="accent1"/>
            </a:solidFill>
            <a:prstDash val="solid"/>
          </a:ln>
        </p:spPr>
      </p:sp>
      <p:pic>
        <p:nvPicPr>
          <p:cNvPr id="29" name="Image 2" descr="C:\Users\Luisr\AppData\Local\Temp\claude\C--comunicacion\985d9d34-eaec-495e-aa8a-9b8a575d1482\scratchpad\assets\FiActivity.png">    </p:cNvPr>
          <p:cNvPicPr>
            <a:picLocks noChangeAspect="1"/>
          </p:cNvPicPr>
          <p:nvPr/>
        </p:nvPicPr>
        <p:blipFill>
          <a:blip r:embed="rId3"/>
          <a:stretch>
            <a:fillRect/>
          </a:stretch>
        </p:blipFill>
        <p:spPr>
          <a:xfrm>
            <a:off x="8487461" y="2066544"/>
            <a:ext cx="347472" cy="347472"/>
          </a:xfrm>
          <a:prstGeom prst="rect">
            <a:avLst/>
          </a:prstGeom>
        </p:spPr>
      </p:pic>
      <p:sp>
        <p:nvSpPr>
          <p:cNvPr id="30" name="Text 24"/>
          <p:cNvSpPr txBox="1"/>
          <p:nvPr/>
        </p:nvSpPr>
        <p:spPr>
          <a:xfrm>
            <a:off x="8341157" y="2697480"/>
            <a:ext cx="3027578" cy="365760"/>
          </a:xfrm>
          <a:prstGeom prst="rect">
            <a:avLst/>
          </a:prstGeom>
          <a:noFill/>
          <a:ln/>
        </p:spPr>
        <p:txBody>
          <a:bodyPr wrap="square" lIns="0" tIns="0" rIns="0" bIns="0" rtlCol="0" anchor="t"/>
          <a:lstStyle/>
          <a:p>
            <a:pPr indent="0" marL="0">
              <a:buNone/>
            </a:pPr>
            <a:r>
              <a:rPr lang="en-US" sz="1600" b="1" dirty="0">
                <a:solidFill>
                  <a:schemeClr val="tx1"/>
                </a:solidFill>
              </a:rPr>
              <a:t>Fading de Rayleigh</a:t>
            </a:r>
            <a:endParaRPr lang="en-US" sz="1600" dirty="0"/>
          </a:p>
        </p:txBody>
      </p:sp>
      <p:sp>
        <p:nvSpPr>
          <p:cNvPr id="31" name="Text 25"/>
          <p:cNvSpPr txBox="1"/>
          <p:nvPr/>
        </p:nvSpPr>
        <p:spPr>
          <a:xfrm>
            <a:off x="8341157" y="3063240"/>
            <a:ext cx="3027578" cy="731520"/>
          </a:xfrm>
          <a:prstGeom prst="rect">
            <a:avLst/>
          </a:prstGeom>
          <a:noFill/>
          <a:ln/>
        </p:spPr>
        <p:txBody>
          <a:bodyPr wrap="square" lIns="0" tIns="0" rIns="0" bIns="0" rtlCol="0" anchor="t"/>
          <a:lstStyle/>
          <a:p>
            <a:pPr indent="0" marL="0">
              <a:buNone/>
            </a:pPr>
            <a:r>
              <a:rPr lang="en-US" sz="1400" dirty="0">
                <a:solidFill>
                  <a:schemeClr val="tx2"/>
                </a:solidFill>
              </a:rPr>
              <a:t>Memoria del RLS frente a la velocidad del canal (Exp. 4.7).</a:t>
            </a:r>
            <a:endParaRPr lang="en-US" sz="1400" dirty="0"/>
          </a:p>
        </p:txBody>
      </p:sp>
      <p:sp>
        <p:nvSpPr>
          <p:cNvPr id="32" name="aporte"/>
          <p:cNvSpPr/>
          <p:nvPr/>
        </p:nvSpPr>
        <p:spPr>
          <a:xfrm>
            <a:off x="548640" y="4023360"/>
            <a:ext cx="3576218" cy="2240280"/>
          </a:xfrm>
          <a:prstGeom prst="roundRect">
            <a:avLst>
              <a:gd name="adj" fmla="val 408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33" name="círculo de icono"/>
          <p:cNvSpPr/>
          <p:nvPr/>
        </p:nvSpPr>
        <p:spPr>
          <a:xfrm>
            <a:off x="822960" y="4297680"/>
            <a:ext cx="640080" cy="640080"/>
          </a:xfrm>
          <a:prstGeom prst="ellipse">
            <a:avLst/>
          </a:prstGeom>
          <a:solidFill>
            <a:schemeClr val="accent1"/>
          </a:solidFill>
          <a:ln w="12700">
            <a:solidFill>
              <a:schemeClr val="accent1"/>
            </a:solidFill>
            <a:prstDash val="solid"/>
          </a:ln>
        </p:spPr>
      </p:sp>
      <p:pic>
        <p:nvPicPr>
          <p:cNvPr id="34" name="Image 3" descr="C:\Users\Luisr\AppData\Local\Temp\claude\C--comunicacion\985d9d34-eaec-495e-aa8a-9b8a575d1482\scratchpad\assets\FiShield.png">    </p:cNvPr>
          <p:cNvPicPr>
            <a:picLocks noChangeAspect="1"/>
          </p:cNvPicPr>
          <p:nvPr/>
        </p:nvPicPr>
        <p:blipFill>
          <a:blip r:embed="rId4"/>
          <a:stretch>
            <a:fillRect/>
          </a:stretch>
        </p:blipFill>
        <p:spPr>
          <a:xfrm>
            <a:off x="969264" y="4443984"/>
            <a:ext cx="347472" cy="347472"/>
          </a:xfrm>
          <a:prstGeom prst="rect">
            <a:avLst/>
          </a:prstGeom>
        </p:spPr>
      </p:pic>
      <p:sp>
        <p:nvSpPr>
          <p:cNvPr id="35" name="Text 28"/>
          <p:cNvSpPr txBox="1"/>
          <p:nvPr/>
        </p:nvSpPr>
        <p:spPr>
          <a:xfrm>
            <a:off x="822960" y="5074920"/>
            <a:ext cx="3027578" cy="365760"/>
          </a:xfrm>
          <a:prstGeom prst="rect">
            <a:avLst/>
          </a:prstGeom>
          <a:noFill/>
          <a:ln/>
        </p:spPr>
        <p:txBody>
          <a:bodyPr wrap="square" lIns="0" tIns="0" rIns="0" bIns="0" rtlCol="0" anchor="t"/>
          <a:lstStyle/>
          <a:p>
            <a:pPr indent="0" marL="0">
              <a:buNone/>
            </a:pPr>
            <a:r>
              <a:rPr lang="en-US" sz="1600" b="1" dirty="0">
                <a:solidFill>
                  <a:schemeClr val="tx1"/>
                </a:solidFill>
              </a:rPr>
              <a:t>BER sin trampas</a:t>
            </a:r>
            <a:endParaRPr lang="en-US" sz="1600" dirty="0"/>
          </a:p>
        </p:txBody>
      </p:sp>
      <p:sp>
        <p:nvSpPr>
          <p:cNvPr id="36" name="Text 29"/>
          <p:cNvSpPr txBox="1"/>
          <p:nvPr/>
        </p:nvSpPr>
        <p:spPr>
          <a:xfrm>
            <a:off x="822960" y="5440680"/>
            <a:ext cx="3027578" cy="731520"/>
          </a:xfrm>
          <a:prstGeom prst="rect">
            <a:avLst/>
          </a:prstGeom>
          <a:noFill/>
          <a:ln/>
        </p:spPr>
        <p:txBody>
          <a:bodyPr wrap="square" lIns="0" tIns="0" rIns="0" bIns="0" rtlCol="0" anchor="t"/>
          <a:lstStyle/>
          <a:p>
            <a:pPr indent="0" marL="0">
              <a:buNone/>
            </a:pPr>
            <a:r>
              <a:rPr lang="en-US" sz="1400" dirty="0">
                <a:solidFill>
                  <a:schemeClr val="tx2"/>
                </a:solidFill>
              </a:rPr>
              <a:t>Sin errores se muestra la cota 1/(k·N), nunca «0».</a:t>
            </a:r>
            <a:endParaRPr lang="en-US" sz="1400" dirty="0"/>
          </a:p>
        </p:txBody>
      </p:sp>
      <p:sp>
        <p:nvSpPr>
          <p:cNvPr id="37" name="aporte"/>
          <p:cNvSpPr/>
          <p:nvPr/>
        </p:nvSpPr>
        <p:spPr>
          <a:xfrm>
            <a:off x="4307738" y="4023360"/>
            <a:ext cx="3576218" cy="2240280"/>
          </a:xfrm>
          <a:prstGeom prst="roundRect">
            <a:avLst>
              <a:gd name="adj" fmla="val 408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38" name="círculo de icono"/>
          <p:cNvSpPr/>
          <p:nvPr/>
        </p:nvSpPr>
        <p:spPr>
          <a:xfrm>
            <a:off x="4582058" y="4297680"/>
            <a:ext cx="640080" cy="640080"/>
          </a:xfrm>
          <a:prstGeom prst="ellipse">
            <a:avLst/>
          </a:prstGeom>
          <a:solidFill>
            <a:schemeClr val="accent1"/>
          </a:solidFill>
          <a:ln w="12700">
            <a:solidFill>
              <a:schemeClr val="accent1"/>
            </a:solidFill>
            <a:prstDash val="solid"/>
          </a:ln>
        </p:spPr>
      </p:sp>
      <p:pic>
        <p:nvPicPr>
          <p:cNvPr id="39" name="Image 4" descr="C:\Users\Luisr\AppData\Local\Temp\claude\C--comunicacion\985d9d34-eaec-495e-aa8a-9b8a575d1482\scratchpad\assets\FiLayers.png">    </p:cNvPr>
          <p:cNvPicPr>
            <a:picLocks noChangeAspect="1"/>
          </p:cNvPicPr>
          <p:nvPr/>
        </p:nvPicPr>
        <p:blipFill>
          <a:blip r:embed="rId5"/>
          <a:stretch>
            <a:fillRect/>
          </a:stretch>
        </p:blipFill>
        <p:spPr>
          <a:xfrm>
            <a:off x="4728362" y="4443984"/>
            <a:ext cx="347472" cy="347472"/>
          </a:xfrm>
          <a:prstGeom prst="rect">
            <a:avLst/>
          </a:prstGeom>
        </p:spPr>
      </p:pic>
      <p:sp>
        <p:nvSpPr>
          <p:cNvPr id="40" name="Text 32"/>
          <p:cNvSpPr txBox="1"/>
          <p:nvPr/>
        </p:nvSpPr>
        <p:spPr>
          <a:xfrm>
            <a:off x="4582058" y="5074920"/>
            <a:ext cx="3027578" cy="365760"/>
          </a:xfrm>
          <a:prstGeom prst="rect">
            <a:avLst/>
          </a:prstGeom>
          <a:noFill/>
          <a:ln/>
        </p:spPr>
        <p:txBody>
          <a:bodyPr wrap="square" lIns="0" tIns="0" rIns="0" bIns="0" rtlCol="0" anchor="t"/>
          <a:lstStyle/>
          <a:p>
            <a:pPr indent="0" marL="0">
              <a:buNone/>
            </a:pPr>
            <a:r>
              <a:rPr lang="en-US" sz="1600" b="1" dirty="0">
                <a:solidFill>
                  <a:schemeClr val="tx1"/>
                </a:solidFill>
              </a:rPr>
              <a:t>Una sola física</a:t>
            </a:r>
            <a:endParaRPr lang="en-US" sz="1600" dirty="0"/>
          </a:p>
        </p:txBody>
      </p:sp>
      <p:sp>
        <p:nvSpPr>
          <p:cNvPr id="41" name="Text 33"/>
          <p:cNvSpPr txBox="1"/>
          <p:nvPr/>
        </p:nvSpPr>
        <p:spPr>
          <a:xfrm>
            <a:off x="4582058" y="5440680"/>
            <a:ext cx="3027578" cy="731520"/>
          </a:xfrm>
          <a:prstGeom prst="rect">
            <a:avLst/>
          </a:prstGeom>
          <a:noFill/>
          <a:ln/>
        </p:spPr>
        <p:txBody>
          <a:bodyPr wrap="square" lIns="0" tIns="0" rIns="0" bIns="0" rtlCol="0" anchor="t"/>
          <a:lstStyle/>
          <a:p>
            <a:pPr indent="0" marL="0">
              <a:buNone/>
            </a:pPr>
            <a:r>
              <a:rPr lang="en-US" sz="1400" dirty="0">
                <a:solidFill>
                  <a:schemeClr val="tx2"/>
                </a:solidFill>
              </a:rPr>
              <a:t>La app llama a la misma run_link() que los experimentos.</a:t>
            </a:r>
            <a:endParaRPr lang="en-US" sz="1400" dirty="0"/>
          </a:p>
        </p:txBody>
      </p:sp>
      <p:sp>
        <p:nvSpPr>
          <p:cNvPr id="42" name="aporte"/>
          <p:cNvSpPr/>
          <p:nvPr/>
        </p:nvSpPr>
        <p:spPr>
          <a:xfrm>
            <a:off x="8066837" y="4023360"/>
            <a:ext cx="3576218" cy="2240280"/>
          </a:xfrm>
          <a:prstGeom prst="roundRect">
            <a:avLst>
              <a:gd name="adj" fmla="val 4082"/>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43" name="círculo de icono"/>
          <p:cNvSpPr/>
          <p:nvPr/>
        </p:nvSpPr>
        <p:spPr>
          <a:xfrm>
            <a:off x="8341157" y="4297680"/>
            <a:ext cx="640080" cy="640080"/>
          </a:xfrm>
          <a:prstGeom prst="ellipse">
            <a:avLst/>
          </a:prstGeom>
          <a:solidFill>
            <a:schemeClr val="accent1"/>
          </a:solidFill>
          <a:ln w="12700">
            <a:solidFill>
              <a:schemeClr val="accent1"/>
            </a:solidFill>
            <a:prstDash val="solid"/>
          </a:ln>
        </p:spPr>
      </p:sp>
      <p:pic>
        <p:nvPicPr>
          <p:cNvPr id="44" name="Image 5" descr="C:\Users\Luisr\AppData\Local\Temp\claude\C--comunicacion\985d9d34-eaec-495e-aa8a-9b8a575d1482\scratchpad\assets\FiLink.png">    </p:cNvPr>
          <p:cNvPicPr>
            <a:picLocks noChangeAspect="1"/>
          </p:cNvPicPr>
          <p:nvPr/>
        </p:nvPicPr>
        <p:blipFill>
          <a:blip r:embed="rId6"/>
          <a:stretch>
            <a:fillRect/>
          </a:stretch>
        </p:blipFill>
        <p:spPr>
          <a:xfrm>
            <a:off x="8487461" y="4443984"/>
            <a:ext cx="347472" cy="347472"/>
          </a:xfrm>
          <a:prstGeom prst="rect">
            <a:avLst/>
          </a:prstGeom>
        </p:spPr>
      </p:pic>
      <p:sp>
        <p:nvSpPr>
          <p:cNvPr id="45" name="Text 36"/>
          <p:cNvSpPr txBox="1"/>
          <p:nvPr/>
        </p:nvSpPr>
        <p:spPr>
          <a:xfrm>
            <a:off x="8341157" y="5074920"/>
            <a:ext cx="3027578" cy="365760"/>
          </a:xfrm>
          <a:prstGeom prst="rect">
            <a:avLst/>
          </a:prstGeom>
          <a:noFill/>
          <a:ln/>
        </p:spPr>
        <p:txBody>
          <a:bodyPr wrap="square" lIns="0" tIns="0" rIns="0" bIns="0" rtlCol="0" anchor="t"/>
          <a:lstStyle/>
          <a:p>
            <a:pPr indent="0" marL="0">
              <a:buNone/>
            </a:pPr>
            <a:r>
              <a:rPr lang="en-US" sz="1600" b="1" dirty="0">
                <a:solidFill>
                  <a:schemeClr val="tx1"/>
                </a:solidFill>
              </a:rPr>
              <a:t>GNU Radio, por ficheros</a:t>
            </a:r>
            <a:endParaRPr lang="en-US" sz="1600" dirty="0"/>
          </a:p>
        </p:txBody>
      </p:sp>
      <p:sp>
        <p:nvSpPr>
          <p:cNvPr id="46" name="Text 37"/>
          <p:cNvSpPr txBox="1"/>
          <p:nvPr/>
        </p:nvSpPr>
        <p:spPr>
          <a:xfrm>
            <a:off x="8341157" y="5440680"/>
            <a:ext cx="3027578" cy="731520"/>
          </a:xfrm>
          <a:prstGeom prst="rect">
            <a:avLst/>
          </a:prstGeom>
          <a:noFill/>
          <a:ln/>
        </p:spPr>
        <p:txBody>
          <a:bodyPr wrap="square" lIns="0" tIns="0" rIns="0" bIns="0" rtlCol="0" anchor="t"/>
          <a:lstStyle/>
          <a:p>
            <a:pPr indent="0" marL="0">
              <a:buNone/>
            </a:pPr>
            <a:r>
              <a:rPr lang="en-US" sz="1400" dirty="0">
                <a:solidFill>
                  <a:schemeClr val="tx2"/>
                </a:solidFill>
              </a:rPr>
              <a:t>La «corrida» (parametros.txt y señales .cf32) separa los dos entornos.</a:t>
            </a:r>
            <a:endParaRPr lang="en-US" sz="14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VALIDACIÓN CRUZADA · GNU RADIO</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El transmisor coincide a −143 dB; el receptor de GNU Radio, no</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Símbolos · RRC · Canal</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bg1"/>
          </a:solidFill>
          <a:ln w="12700">
            <a:solidFill>
              <a:srgbClr val="C8C0E0"/>
            </a:solidFill>
            <a:prstDash val="solid"/>
          </a:ln>
        </p:spPr>
      </p:sp>
      <p:sp>
        <p:nvSpPr>
          <p:cNvPr id="10" name="etapa 5"/>
          <p:cNvSpPr/>
          <p:nvPr/>
        </p:nvSpPr>
        <p:spPr>
          <a:xfrm>
            <a:off x="10442448" y="6478524"/>
            <a:ext cx="118872" cy="118872"/>
          </a:xfrm>
          <a:prstGeom prst="ellipse">
            <a:avLst/>
          </a:prstGeom>
          <a:solidFill>
            <a:schemeClr val="bg1"/>
          </a:solidFill>
          <a:ln w="12700">
            <a:solidFill>
              <a:srgbClr val="C8C0E0"/>
            </a:solidFill>
            <a:prstDash val="solid"/>
          </a:ln>
        </p:spPr>
      </p:sp>
      <p:sp>
        <p:nvSpPr>
          <p:cNvPr id="11" name="etapa 6"/>
          <p:cNvSpPr/>
          <p:nvPr/>
        </p:nvSpPr>
        <p:spPr>
          <a:xfrm>
            <a:off x="10675620" y="6478524"/>
            <a:ext cx="118872" cy="118872"/>
          </a:xfrm>
          <a:prstGeom prst="ellipse">
            <a:avLst/>
          </a:prstGeom>
          <a:solidFill>
            <a:schemeClr val="bg1"/>
          </a:solidFill>
          <a:ln w="12700">
            <a:solidFill>
              <a:srgbClr val="C8C0E0"/>
            </a:solidFill>
            <a:prstDash val="solid"/>
          </a:ln>
        </p:spPr>
      </p:sp>
      <p:sp>
        <p:nvSpPr>
          <p:cNvPr id="12" name="etapa 7"/>
          <p:cNvSpPr/>
          <p:nvPr/>
        </p:nvSpPr>
        <p:spPr>
          <a:xfrm>
            <a:off x="10908792" y="6478524"/>
            <a:ext cx="118872" cy="118872"/>
          </a:xfrm>
          <a:prstGeom prst="ellipse">
            <a:avLst/>
          </a:prstGeom>
          <a:solidFill>
            <a:schemeClr val="bg1"/>
          </a:solidFill>
          <a:ln w="12700">
            <a:solidFill>
              <a:srgbClr val="C8C0E0"/>
            </a:solidFill>
            <a:prstDash val="solid"/>
          </a:ln>
        </p:spPr>
      </p:sp>
      <p:sp>
        <p:nvSpPr>
          <p:cNvPr id="13" name="etapa 8"/>
          <p:cNvSpPr/>
          <p:nvPr/>
        </p:nvSpPr>
        <p:spPr>
          <a:xfrm>
            <a:off x="11141964" y="6478524"/>
            <a:ext cx="118872" cy="118872"/>
          </a:xfrm>
          <a:prstGeom prst="ellipse">
            <a:avLst/>
          </a:prstGeom>
          <a:solidFill>
            <a:schemeClr val="bg1"/>
          </a:solidFill>
          <a:ln w="12700">
            <a:solidFill>
              <a:srgbClr val="C8C0E0"/>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Luis</a:t>
            </a:r>
            <a:endParaRPr lang="en-US" sz="1200" dirty="0"/>
          </a:p>
        </p:txBody>
      </p:sp>
      <p:sp>
        <p:nvSpPr>
          <p:cNvPr id="17" name="figura"/>
          <p:cNvSpPr/>
          <p:nvPr/>
        </p:nvSpPr>
        <p:spPr>
          <a:xfrm>
            <a:off x="548640" y="1645920"/>
            <a:ext cx="5394960" cy="4617720"/>
          </a:xfrm>
          <a:prstGeom prst="roundRect">
            <a:avLst>
              <a:gd name="adj" fmla="val 198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pic>
        <p:nvPicPr>
          <p:cNvPr id="18" name="validación" descr="Espectro, señal en el tiempo y constelación de Python y GNU Radio superpuestos">    </p:cNvPr>
          <p:cNvPicPr>
            <a:picLocks noChangeAspect="1"/>
          </p:cNvPicPr>
          <p:nvPr/>
        </p:nvPicPr>
        <p:blipFill>
          <a:blip r:embed="rId1"/>
          <a:stretch>
            <a:fillRect/>
          </a:stretch>
        </p:blipFill>
        <p:spPr>
          <a:xfrm>
            <a:off x="777240" y="1920240"/>
            <a:ext cx="4937760" cy="3382677"/>
          </a:xfrm>
          <a:prstGeom prst="rect">
            <a:avLst/>
          </a:prstGeom>
        </p:spPr>
      </p:pic>
      <p:sp>
        <p:nvSpPr>
          <p:cNvPr id="19" name="Text 15"/>
          <p:cNvSpPr txBox="1"/>
          <p:nvPr/>
        </p:nvSpPr>
        <p:spPr>
          <a:xfrm>
            <a:off x="777240" y="5394357"/>
            <a:ext cx="4937760" cy="502920"/>
          </a:xfrm>
          <a:prstGeom prst="rect">
            <a:avLst/>
          </a:prstGeom>
          <a:noFill/>
          <a:ln/>
        </p:spPr>
        <p:txBody>
          <a:bodyPr wrap="square" lIns="0" tIns="0" rIns="0" bIns="0" rtlCol="0" anchor="ctr"/>
          <a:lstStyle/>
          <a:p>
            <a:pPr indent="0" marL="0">
              <a:buNone/>
            </a:pPr>
            <a:r>
              <a:rPr lang="en-US" sz="1200" dirty="0">
                <a:solidFill>
                  <a:schemeClr val="tx2"/>
                </a:solidFill>
              </a:rPr>
              <a:t>Escenario B, canal moderado, QPSK, 12 dB: azul Python, rojo GNU Radio</a:t>
            </a:r>
            <a:endParaRPr lang="en-US" sz="1200" dirty="0"/>
          </a:p>
        </p:txBody>
      </p:sp>
      <p:sp>
        <p:nvSpPr>
          <p:cNvPr id="20" name="Text 16"/>
          <p:cNvSpPr txBox="1"/>
          <p:nvPr/>
        </p:nvSpPr>
        <p:spPr>
          <a:xfrm>
            <a:off x="6172200" y="1627632"/>
            <a:ext cx="5470855"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COINCIDEN</a:t>
            </a:r>
            <a:endParaRPr lang="en-US" sz="1200" dirty="0"/>
          </a:p>
        </p:txBody>
      </p:sp>
      <p:graphicFrame>
        <p:nvGraphicFramePr>
          <p:cNvPr id="18" name="coinciden"/>
          <p:cNvGraphicFramePr>
            <a:graphicFrameLocks noGrp="1"/>
          </p:cNvGraphicFramePr>
          <p:nvPr>
            <p:extLst>
              <p:ext uri="{D42A27DB-BD31-4B8C-83A1-F6EECF244321}">
                <p14:modId xmlns:p14="http://schemas.microsoft.com/office/powerpoint/2010/main" val="1579011935"/>
              </p:ext>
            </p:extLst>
          </p:nvPr>
        </p:nvGraphicFramePr>
        <p:xfrm>
          <a:off x="6172200" y="1920240"/>
          <a:ext cx="5470855" cy="914400"/>
        </p:xfrm>
        <a:graphic>
          <a:graphicData uri="http://schemas.openxmlformats.org/drawingml/2006/table">
            <a:tbl>
              <a:tblPr/>
              <a:tblGrid>
                <a:gridCol w="2377440"/>
                <a:gridCol w="1554480"/>
                <a:gridCol w="1538935"/>
              </a:tblGrid>
              <a:tr h="338328">
                <a:tc>
                  <a:txBody>
                    <a:bodyPr/>
                    <a:lstStyle/>
                    <a:p>
                      <a:pPr algn="l" indent="0" marL="0">
                        <a:buNone/>
                      </a:pPr>
                      <a:r>
                        <a:rPr lang="en-US" sz="1200" b="1" dirty="0">
                          <a:solidFill>
                            <a:schemeClr val="tx2"/>
                          </a:solidFill>
                          <a:latin typeface="Arial" pitchFamily="34" charset="0"/>
                          <a:ea typeface="Arial" pitchFamily="34" charset="-122"/>
                          <a:cs typeface="Arial" pitchFamily="34" charset="-120"/>
                        </a:rPr>
                        <a:t>Magnitud</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Python</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GNU Radio</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r>
              <a:tr h="338328">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Diferencia del TX</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−142,9 dB</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338328">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Ancho de banda 99 %</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145,51 kHz</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145,51 kHz</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338328">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BER</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6,25·10</a:t>
                      </a:r>
                      <a:pPr algn="r" indent="0" marL="0">
                        <a:buNone/>
                      </a:pPr>
                      <a:r>
                        <a:rPr lang="en-US" sz="1300" baseline="30000" dirty="0">
                          <a:solidFill>
                            <a:schemeClr val="tx1"/>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6,25·10</a:t>
                      </a:r>
                      <a:pPr algn="r" indent="0" marL="0">
                        <a:buNone/>
                      </a:pPr>
                      <a:r>
                        <a:rPr lang="en-US" sz="1300" baseline="30000" dirty="0">
                          <a:solidFill>
                            <a:schemeClr val="tx1"/>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338328">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EVM</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30,8 %</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31,5 %</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bl>
          </a:graphicData>
        </a:graphic>
      </p:graphicFrame>
      <p:sp>
        <p:nvSpPr>
          <p:cNvPr id="22" name="Text 17"/>
          <p:cNvSpPr txBox="1"/>
          <p:nvPr/>
        </p:nvSpPr>
        <p:spPr>
          <a:xfrm>
            <a:off x="6172200" y="3840480"/>
            <a:ext cx="5470855" cy="274320"/>
          </a:xfrm>
          <a:prstGeom prst="rect">
            <a:avLst/>
          </a:prstGeom>
          <a:noFill/>
          <a:ln/>
        </p:spPr>
        <p:txBody>
          <a:bodyPr wrap="square" lIns="0" tIns="0" rIns="0" bIns="0" rtlCol="0" anchor="ctr"/>
          <a:lstStyle/>
          <a:p>
            <a:pPr indent="0" marL="0">
              <a:buNone/>
            </a:pPr>
            <a:r>
              <a:rPr lang="en-US" sz="1200" b="1" spc="200" kern="0" dirty="0">
                <a:solidFill>
                  <a:schemeClr val="tx2"/>
                </a:solidFill>
              </a:rPr>
              <a:t>NO COINCIDEN · RECEPTOR</a:t>
            </a:r>
            <a:endParaRPr lang="en-US" sz="1200" dirty="0"/>
          </a:p>
        </p:txBody>
      </p:sp>
      <p:graphicFrame>
        <p:nvGraphicFramePr>
          <p:cNvPr id="35" name="no coinciden"/>
          <p:cNvGraphicFramePr>
            <a:graphicFrameLocks noGrp="1"/>
          </p:cNvGraphicFramePr>
          <p:nvPr>
            <p:extLst>
              <p:ext uri="{D42A27DB-BD31-4B8C-83A1-F6EECF244321}">
                <p14:modId xmlns:p14="http://schemas.microsoft.com/office/powerpoint/2010/main" val="1579011935"/>
              </p:ext>
            </p:extLst>
          </p:nvPr>
        </p:nvGraphicFramePr>
        <p:xfrm>
          <a:off x="6172200" y="4160520"/>
          <a:ext cx="5470855" cy="914400"/>
        </p:xfrm>
        <a:graphic>
          <a:graphicData uri="http://schemas.openxmlformats.org/drawingml/2006/table">
            <a:tbl>
              <a:tblPr/>
              <a:tblGrid>
                <a:gridCol w="2377440"/>
                <a:gridCol w="1554480"/>
                <a:gridCol w="1538935"/>
              </a:tblGrid>
              <a:tr h="338328">
                <a:tc>
                  <a:txBody>
                    <a:bodyPr/>
                    <a:lstStyle/>
                    <a:p>
                      <a:pPr algn="l" indent="0" marL="0">
                        <a:buNone/>
                      </a:pPr>
                      <a:r>
                        <a:rPr lang="en-US" sz="1200" b="1" dirty="0">
                          <a:solidFill>
                            <a:schemeClr val="tx2"/>
                          </a:solidFill>
                          <a:latin typeface="Arial" pitchFamily="34" charset="0"/>
                          <a:ea typeface="Arial" pitchFamily="34" charset="-122"/>
                          <a:cs typeface="Arial" pitchFamily="34" charset="-120"/>
                        </a:rPr>
                        <a:t>Corrida</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Python</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GNU Radio</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r>
              <a:tr h="338328">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A, QPSK, 8 dB</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1,3·10</a:t>
                      </a:r>
                      <a:pPr algn="r" indent="0" marL="0">
                        <a:buNone/>
                      </a:pPr>
                      <a:r>
                        <a:rPr lang="en-US" sz="1300" baseline="30000" dirty="0">
                          <a:solidFill>
                            <a:schemeClr val="tx1"/>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2,5·10</a:t>
                      </a:r>
                      <a:pPr algn="r" indent="0" marL="0">
                        <a:buNone/>
                      </a:pPr>
                      <a:r>
                        <a:rPr lang="en-US" sz="1300" b="1" baseline="30000" dirty="0">
                          <a:solidFill>
                            <a:schemeClr val="tx1"/>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338328">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B, 16-QAM, 18 dB</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&lt; 6,3·10⁻⁵</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6,2·10</a:t>
                      </a:r>
                      <a:pPr algn="r" indent="0" marL="0">
                        <a:buNone/>
                      </a:pPr>
                      <a:r>
                        <a:rPr lang="en-US" sz="1300" b="1" baseline="30000" dirty="0">
                          <a:solidFill>
                            <a:schemeClr val="tx1"/>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338328">
                <a:tc>
                  <a:txBody>
                    <a:bodyPr/>
                    <a:lstStyle/>
                    <a:p>
                      <a:pPr algn="l" indent="0" marL="0">
                        <a:buNone/>
                      </a:pPr>
                      <a:r>
                        <a:rPr lang="en-US" sz="1300" dirty="0">
                          <a:solidFill>
                            <a:schemeClr val="tx1"/>
                          </a:solidFill>
                          <a:latin typeface="Arial" pitchFamily="34" charset="0"/>
                          <a:ea typeface="Arial" pitchFamily="34" charset="-122"/>
                          <a:cs typeface="Arial" pitchFamily="34" charset="-120"/>
                        </a:rPr>
                        <a:t>C, QPSK, 14 dB</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latin typeface="Arial" pitchFamily="34" charset="0"/>
                          <a:ea typeface="Arial" pitchFamily="34" charset="-122"/>
                          <a:cs typeface="Arial" pitchFamily="34" charset="-120"/>
                        </a:rPr>
                        <a:t>&lt; 1,3·10⁻⁴</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300" b="1" dirty="0">
                          <a:solidFill>
                            <a:schemeClr val="tx1"/>
                          </a:solidFill>
                          <a:latin typeface="Arial" pitchFamily="34" charset="0"/>
                          <a:ea typeface="Arial" pitchFamily="34" charset="-122"/>
                          <a:cs typeface="Arial" pitchFamily="34" charset="-120"/>
                        </a:rPr>
                        <a:t>no engancha</a:t>
                      </a:r>
                      <a:endParaRPr lang="en-US" sz="13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bl>
          </a:graphicData>
        </a:graphic>
      </p:graphicFrame>
      <p:sp>
        <p:nvSpPr>
          <p:cNvPr id="24" name="Text 18"/>
          <p:cNvSpPr txBox="1"/>
          <p:nvPr/>
        </p:nvSpPr>
        <p:spPr>
          <a:xfrm>
            <a:off x="6172200" y="5577840"/>
            <a:ext cx="5470855" cy="548640"/>
          </a:xfrm>
          <a:prstGeom prst="rect">
            <a:avLst/>
          </a:prstGeom>
          <a:noFill/>
          <a:ln/>
        </p:spPr>
        <p:txBody>
          <a:bodyPr wrap="square" lIns="0" tIns="0" rIns="0" bIns="0" rtlCol="0" anchor="t"/>
          <a:lstStyle/>
          <a:p>
            <a:pPr indent="0" marL="0">
              <a:buNone/>
            </a:pPr>
            <a:r>
              <a:rPr lang="en-US" sz="1300" dirty="0">
                <a:solidFill>
                  <a:schemeClr val="tx2"/>
                </a:solidFill>
              </a:rPr>
              <a:t>En C falta la corrección gruesa de CFO (Schmidl-Cox) en el receptor de GNU Radio.</a:t>
            </a:r>
            <a:endParaRPr lang="en-US" sz="13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DEMOSTRACIÓN</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Demostración en vivo: cinco pasos</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Cadena completa</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accent1"/>
          </a:solidFill>
          <a:ln w="12700">
            <a:solidFill>
              <a:schemeClr val="accent1"/>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Luis</a:t>
            </a:r>
            <a:endParaRPr lang="en-US" sz="1200" dirty="0"/>
          </a:p>
        </p:txBody>
      </p:sp>
      <p:sp>
        <p:nvSpPr>
          <p:cNvPr id="17" name="paso 1"/>
          <p:cNvSpPr/>
          <p:nvPr/>
        </p:nvSpPr>
        <p:spPr>
          <a:xfrm>
            <a:off x="548640" y="1645920"/>
            <a:ext cx="7406640" cy="841248"/>
          </a:xfrm>
          <a:prstGeom prst="roundRect">
            <a:avLst>
              <a:gd name="adj" fmla="val 1087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18" name="número 1"/>
          <p:cNvSpPr/>
          <p:nvPr/>
        </p:nvSpPr>
        <p:spPr>
          <a:xfrm>
            <a:off x="731520" y="1819656"/>
            <a:ext cx="493776" cy="493776"/>
          </a:xfrm>
          <a:prstGeom prst="ellipse">
            <a:avLst/>
          </a:prstGeom>
          <a:solidFill>
            <a:schemeClr val="accent1"/>
          </a:solidFill>
          <a:ln w="12700">
            <a:solidFill>
              <a:schemeClr val="accent1"/>
            </a:solidFill>
            <a:prstDash val="solid"/>
          </a:ln>
        </p:spPr>
      </p:sp>
      <p:sp>
        <p:nvSpPr>
          <p:cNvPr id="19" name="Text 16"/>
          <p:cNvSpPr txBox="1"/>
          <p:nvPr/>
        </p:nvSpPr>
        <p:spPr>
          <a:xfrm>
            <a:off x="731520" y="1819656"/>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20" name="Text 17"/>
          <p:cNvSpPr txBox="1"/>
          <p:nvPr/>
        </p:nvSpPr>
        <p:spPr>
          <a:xfrm>
            <a:off x="1417320" y="1700784"/>
            <a:ext cx="5486400" cy="731520"/>
          </a:xfrm>
          <a:prstGeom prst="rect">
            <a:avLst/>
          </a:prstGeom>
          <a:noFill/>
          <a:ln/>
        </p:spPr>
        <p:txBody>
          <a:bodyPr wrap="square" lIns="0" tIns="0" rIns="0" bIns="0" rtlCol="0" anchor="ctr"/>
          <a:lstStyle/>
          <a:p>
            <a:pPr indent="0" marL="0">
              <a:buNone/>
            </a:pPr>
            <a:r>
              <a:rPr lang="en-US" sz="1600" b="1" dirty="0">
                <a:solidFill>
                  <a:schemeClr val="tx1"/>
                </a:solidFill>
              </a:rPr>
              <a:t>Escenario A, 12 dB</a:t>
            </a:r>
            <a:endParaRPr lang="en-US" sz="1600" dirty="0"/>
          </a:p>
          <a:p>
            <a:pPr indent="0" marL="0">
              <a:buNone/>
            </a:pPr>
            <a:r>
              <a:rPr lang="en-US" sz="1400" dirty="0">
                <a:solidFill>
                  <a:schemeClr val="tx2"/>
                </a:solidFill>
              </a:rPr>
              <a:t>Enlace limpio: cuatro nubes en la constelación</a:t>
            </a:r>
            <a:endParaRPr lang="en-US" sz="1600" dirty="0"/>
          </a:p>
        </p:txBody>
      </p:sp>
      <p:sp>
        <p:nvSpPr>
          <p:cNvPr id="21" name="Text 18"/>
          <p:cNvSpPr txBox="1"/>
          <p:nvPr/>
        </p:nvSpPr>
        <p:spPr>
          <a:xfrm>
            <a:off x="6949440" y="1700784"/>
            <a:ext cx="822960" cy="731520"/>
          </a:xfrm>
          <a:prstGeom prst="rect">
            <a:avLst/>
          </a:prstGeom>
          <a:noFill/>
          <a:ln/>
        </p:spPr>
        <p:txBody>
          <a:bodyPr wrap="square" lIns="0" tIns="0" rIns="0" bIns="0" rtlCol="0" anchor="ctr"/>
          <a:lstStyle/>
          <a:p>
            <a:pPr algn="r" indent="0" marL="0">
              <a:buNone/>
            </a:pPr>
            <a:r>
              <a:rPr lang="en-US" sz="1600" b="1" dirty="0">
                <a:solidFill>
                  <a:schemeClr val="accent1"/>
                </a:solidFill>
              </a:rPr>
              <a:t>0:20</a:t>
            </a:r>
            <a:endParaRPr lang="en-US" sz="1600" dirty="0"/>
          </a:p>
        </p:txBody>
      </p:sp>
      <p:sp>
        <p:nvSpPr>
          <p:cNvPr id="22" name="paso 2"/>
          <p:cNvSpPr/>
          <p:nvPr/>
        </p:nvSpPr>
        <p:spPr>
          <a:xfrm>
            <a:off x="548640" y="2578608"/>
            <a:ext cx="7406640" cy="841248"/>
          </a:xfrm>
          <a:prstGeom prst="roundRect">
            <a:avLst>
              <a:gd name="adj" fmla="val 1087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3" name="número 2"/>
          <p:cNvSpPr/>
          <p:nvPr/>
        </p:nvSpPr>
        <p:spPr>
          <a:xfrm>
            <a:off x="731520" y="2752344"/>
            <a:ext cx="493776" cy="493776"/>
          </a:xfrm>
          <a:prstGeom prst="ellipse">
            <a:avLst/>
          </a:prstGeom>
          <a:solidFill>
            <a:schemeClr val="accent1"/>
          </a:solidFill>
          <a:ln w="12700">
            <a:solidFill>
              <a:schemeClr val="accent1"/>
            </a:solidFill>
            <a:prstDash val="solid"/>
          </a:ln>
        </p:spPr>
      </p:sp>
      <p:sp>
        <p:nvSpPr>
          <p:cNvPr id="24" name="Text 21"/>
          <p:cNvSpPr txBox="1"/>
          <p:nvPr/>
        </p:nvSpPr>
        <p:spPr>
          <a:xfrm>
            <a:off x="731520" y="2752344"/>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5" name="Text 22"/>
          <p:cNvSpPr txBox="1"/>
          <p:nvPr/>
        </p:nvSpPr>
        <p:spPr>
          <a:xfrm>
            <a:off x="1417320" y="2633472"/>
            <a:ext cx="5486400" cy="731520"/>
          </a:xfrm>
          <a:prstGeom prst="rect">
            <a:avLst/>
          </a:prstGeom>
          <a:noFill/>
          <a:ln/>
        </p:spPr>
        <p:txBody>
          <a:bodyPr wrap="square" lIns="0" tIns="0" rIns="0" bIns="0" rtlCol="0" anchor="ctr"/>
          <a:lstStyle/>
          <a:p>
            <a:pPr indent="0" marL="0">
              <a:buNone/>
            </a:pPr>
            <a:r>
              <a:rPr lang="en-US" sz="1600" b="1" dirty="0">
                <a:solidFill>
                  <a:schemeClr val="tx1"/>
                </a:solidFill>
              </a:rPr>
              <a:t>Pasar a B y luego a C</a:t>
            </a:r>
            <a:endParaRPr lang="en-US" sz="1600" dirty="0"/>
          </a:p>
          <a:p>
            <a:pPr indent="0" marL="0">
              <a:buNone/>
            </a:pPr>
            <a:r>
              <a:rPr lang="en-US" sz="1400" dirty="0">
                <a:solidFill>
                  <a:schemeClr val="tx2"/>
                </a:solidFill>
              </a:rPr>
              <a:t>La constelación se abre y el ojo se cierra</a:t>
            </a:r>
            <a:endParaRPr lang="en-US" sz="1600" dirty="0"/>
          </a:p>
        </p:txBody>
      </p:sp>
      <p:sp>
        <p:nvSpPr>
          <p:cNvPr id="26" name="Text 23"/>
          <p:cNvSpPr txBox="1"/>
          <p:nvPr/>
        </p:nvSpPr>
        <p:spPr>
          <a:xfrm>
            <a:off x="6949440" y="2633472"/>
            <a:ext cx="822960" cy="731520"/>
          </a:xfrm>
          <a:prstGeom prst="rect">
            <a:avLst/>
          </a:prstGeom>
          <a:noFill/>
          <a:ln/>
        </p:spPr>
        <p:txBody>
          <a:bodyPr wrap="square" lIns="0" tIns="0" rIns="0" bIns="0" rtlCol="0" anchor="ctr"/>
          <a:lstStyle/>
          <a:p>
            <a:pPr algn="r" indent="0" marL="0">
              <a:buNone/>
            </a:pPr>
            <a:r>
              <a:rPr lang="en-US" sz="1600" b="1" dirty="0">
                <a:solidFill>
                  <a:schemeClr val="accent1"/>
                </a:solidFill>
              </a:rPr>
              <a:t>0:40</a:t>
            </a:r>
            <a:endParaRPr lang="en-US" sz="1600" dirty="0"/>
          </a:p>
        </p:txBody>
      </p:sp>
      <p:sp>
        <p:nvSpPr>
          <p:cNvPr id="27" name="paso 3"/>
          <p:cNvSpPr/>
          <p:nvPr/>
        </p:nvSpPr>
        <p:spPr>
          <a:xfrm>
            <a:off x="548640" y="3511296"/>
            <a:ext cx="7406640" cy="841248"/>
          </a:xfrm>
          <a:prstGeom prst="roundRect">
            <a:avLst>
              <a:gd name="adj" fmla="val 1087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8" name="número 3"/>
          <p:cNvSpPr/>
          <p:nvPr/>
        </p:nvSpPr>
        <p:spPr>
          <a:xfrm>
            <a:off x="731520" y="3685032"/>
            <a:ext cx="493776" cy="493776"/>
          </a:xfrm>
          <a:prstGeom prst="ellipse">
            <a:avLst/>
          </a:prstGeom>
          <a:solidFill>
            <a:schemeClr val="accent1"/>
          </a:solidFill>
          <a:ln w="12700">
            <a:solidFill>
              <a:schemeClr val="accent1"/>
            </a:solidFill>
            <a:prstDash val="solid"/>
          </a:ln>
        </p:spPr>
      </p:sp>
      <p:sp>
        <p:nvSpPr>
          <p:cNvPr id="29" name="Text 26"/>
          <p:cNvSpPr txBox="1"/>
          <p:nvPr/>
        </p:nvSpPr>
        <p:spPr>
          <a:xfrm>
            <a:off x="731520" y="368503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0" name="Text 27"/>
          <p:cNvSpPr txBox="1"/>
          <p:nvPr/>
        </p:nvSpPr>
        <p:spPr>
          <a:xfrm>
            <a:off x="1417320" y="3566160"/>
            <a:ext cx="5486400" cy="731520"/>
          </a:xfrm>
          <a:prstGeom prst="rect">
            <a:avLst/>
          </a:prstGeom>
          <a:noFill/>
          <a:ln/>
        </p:spPr>
        <p:txBody>
          <a:bodyPr wrap="square" lIns="0" tIns="0" rIns="0" bIns="0" rtlCol="0" anchor="ctr"/>
          <a:lstStyle/>
          <a:p>
            <a:pPr indent="0" marL="0">
              <a:buNone/>
            </a:pPr>
            <a:r>
              <a:rPr lang="en-US" sz="1600" b="1" dirty="0">
                <a:solidFill>
                  <a:schemeClr val="tx1"/>
                </a:solidFill>
              </a:rPr>
              <a:t>Recorrer las 8 etapas</a:t>
            </a:r>
            <a:endParaRPr lang="en-US" sz="1600" dirty="0"/>
          </a:p>
          <a:p>
            <a:pPr indent="0" marL="0">
              <a:buNone/>
            </a:pPr>
            <a:r>
              <a:rPr lang="en-US" sz="1400" dirty="0">
                <a:solidFill>
                  <a:schemeClr val="tx2"/>
                </a:solidFill>
              </a:rPr>
              <a:t>Ver dónde se degrada y dónde se recupera</a:t>
            </a:r>
            <a:endParaRPr lang="en-US" sz="1600" dirty="0"/>
          </a:p>
        </p:txBody>
      </p:sp>
      <p:sp>
        <p:nvSpPr>
          <p:cNvPr id="31" name="Text 28"/>
          <p:cNvSpPr txBox="1"/>
          <p:nvPr/>
        </p:nvSpPr>
        <p:spPr>
          <a:xfrm>
            <a:off x="6949440" y="3566160"/>
            <a:ext cx="822960" cy="731520"/>
          </a:xfrm>
          <a:prstGeom prst="rect">
            <a:avLst/>
          </a:prstGeom>
          <a:noFill/>
          <a:ln/>
        </p:spPr>
        <p:txBody>
          <a:bodyPr wrap="square" lIns="0" tIns="0" rIns="0" bIns="0" rtlCol="0" anchor="ctr"/>
          <a:lstStyle/>
          <a:p>
            <a:pPr algn="r" indent="0" marL="0">
              <a:buNone/>
            </a:pPr>
            <a:r>
              <a:rPr lang="en-US" sz="1600" b="1" dirty="0">
                <a:solidFill>
                  <a:schemeClr val="accent1"/>
                </a:solidFill>
              </a:rPr>
              <a:t>1:00</a:t>
            </a:r>
            <a:endParaRPr lang="en-US" sz="1600" dirty="0"/>
          </a:p>
        </p:txBody>
      </p:sp>
      <p:sp>
        <p:nvSpPr>
          <p:cNvPr id="32" name="paso 4"/>
          <p:cNvSpPr/>
          <p:nvPr/>
        </p:nvSpPr>
        <p:spPr>
          <a:xfrm>
            <a:off x="548640" y="4443984"/>
            <a:ext cx="7406640" cy="841248"/>
          </a:xfrm>
          <a:prstGeom prst="roundRect">
            <a:avLst>
              <a:gd name="adj" fmla="val 1087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33" name="número 4"/>
          <p:cNvSpPr/>
          <p:nvPr/>
        </p:nvSpPr>
        <p:spPr>
          <a:xfrm>
            <a:off x="731520" y="4617720"/>
            <a:ext cx="493776" cy="493776"/>
          </a:xfrm>
          <a:prstGeom prst="ellipse">
            <a:avLst/>
          </a:prstGeom>
          <a:solidFill>
            <a:schemeClr val="accent1"/>
          </a:solidFill>
          <a:ln w="12700">
            <a:solidFill>
              <a:schemeClr val="accent1"/>
            </a:solidFill>
            <a:prstDash val="solid"/>
          </a:ln>
        </p:spPr>
      </p:sp>
      <p:sp>
        <p:nvSpPr>
          <p:cNvPr id="34" name="Text 31"/>
          <p:cNvSpPr txBox="1"/>
          <p:nvPr/>
        </p:nvSpPr>
        <p:spPr>
          <a:xfrm>
            <a:off x="731520" y="4617720"/>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5" name="Text 32"/>
          <p:cNvSpPr txBox="1"/>
          <p:nvPr/>
        </p:nvSpPr>
        <p:spPr>
          <a:xfrm>
            <a:off x="1417320" y="4498848"/>
            <a:ext cx="5486400" cy="731520"/>
          </a:xfrm>
          <a:prstGeom prst="rect">
            <a:avLst/>
          </a:prstGeom>
          <a:noFill/>
          <a:ln/>
        </p:spPr>
        <p:txBody>
          <a:bodyPr wrap="square" lIns="0" tIns="0" rIns="0" bIns="0" rtlCol="0" anchor="ctr"/>
          <a:lstStyle/>
          <a:p>
            <a:pPr indent="0" marL="0">
              <a:buNone/>
            </a:pPr>
            <a:r>
              <a:rPr lang="en-US" sz="1600" b="1" dirty="0">
                <a:solidFill>
                  <a:schemeClr val="tx1"/>
                </a:solidFill>
              </a:rPr>
              <a:t>Alternar LMS y RLS</a:t>
            </a:r>
            <a:endParaRPr lang="en-US" sz="1600" dirty="0"/>
          </a:p>
          <a:p>
            <a:pPr indent="0" marL="0">
              <a:buNone/>
            </a:pPr>
            <a:r>
              <a:rPr lang="en-US" sz="1400" dirty="0">
                <a:solidFill>
                  <a:schemeClr val="tx2"/>
                </a:solidFill>
              </a:rPr>
              <a:t>Convergencia y coste: 168 frente a 7392 mult/símbolo</a:t>
            </a:r>
            <a:endParaRPr lang="en-US" sz="1600" dirty="0"/>
          </a:p>
        </p:txBody>
      </p:sp>
      <p:sp>
        <p:nvSpPr>
          <p:cNvPr id="36" name="Text 33"/>
          <p:cNvSpPr txBox="1"/>
          <p:nvPr/>
        </p:nvSpPr>
        <p:spPr>
          <a:xfrm>
            <a:off x="6949440" y="4498848"/>
            <a:ext cx="822960" cy="731520"/>
          </a:xfrm>
          <a:prstGeom prst="rect">
            <a:avLst/>
          </a:prstGeom>
          <a:noFill/>
          <a:ln/>
        </p:spPr>
        <p:txBody>
          <a:bodyPr wrap="square" lIns="0" tIns="0" rIns="0" bIns="0" rtlCol="0" anchor="ctr"/>
          <a:lstStyle/>
          <a:p>
            <a:pPr algn="r" indent="0" marL="0">
              <a:buNone/>
            </a:pPr>
            <a:r>
              <a:rPr lang="en-US" sz="1600" b="1" dirty="0">
                <a:solidFill>
                  <a:schemeClr val="accent1"/>
                </a:solidFill>
              </a:rPr>
              <a:t>0:50</a:t>
            </a:r>
            <a:endParaRPr lang="en-US" sz="1600" dirty="0"/>
          </a:p>
        </p:txBody>
      </p:sp>
      <p:sp>
        <p:nvSpPr>
          <p:cNvPr id="37" name="paso 5"/>
          <p:cNvSpPr/>
          <p:nvPr/>
        </p:nvSpPr>
        <p:spPr>
          <a:xfrm>
            <a:off x="548640" y="5376672"/>
            <a:ext cx="7406640" cy="841248"/>
          </a:xfrm>
          <a:prstGeom prst="roundRect">
            <a:avLst>
              <a:gd name="adj" fmla="val 1087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38" name="número 5"/>
          <p:cNvSpPr/>
          <p:nvPr/>
        </p:nvSpPr>
        <p:spPr>
          <a:xfrm>
            <a:off x="731520" y="5550408"/>
            <a:ext cx="493776" cy="493776"/>
          </a:xfrm>
          <a:prstGeom prst="ellipse">
            <a:avLst/>
          </a:prstGeom>
          <a:solidFill>
            <a:schemeClr val="accent1"/>
          </a:solidFill>
          <a:ln w="12700">
            <a:solidFill>
              <a:schemeClr val="accent1"/>
            </a:solidFill>
            <a:prstDash val="solid"/>
          </a:ln>
        </p:spPr>
      </p:sp>
      <p:sp>
        <p:nvSpPr>
          <p:cNvPr id="39" name="Text 36"/>
          <p:cNvSpPr txBox="1"/>
          <p:nvPr/>
        </p:nvSpPr>
        <p:spPr>
          <a:xfrm>
            <a:off x="731520" y="5550408"/>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40" name="Text 37"/>
          <p:cNvSpPr txBox="1"/>
          <p:nvPr/>
        </p:nvSpPr>
        <p:spPr>
          <a:xfrm>
            <a:off x="1417320" y="5431536"/>
            <a:ext cx="5486400" cy="731520"/>
          </a:xfrm>
          <a:prstGeom prst="rect">
            <a:avLst/>
          </a:prstGeom>
          <a:noFill/>
          <a:ln/>
        </p:spPr>
        <p:txBody>
          <a:bodyPr wrap="square" lIns="0" tIns="0" rIns="0" bIns="0" rtlCol="0" anchor="ctr"/>
          <a:lstStyle/>
          <a:p>
            <a:pPr indent="0" marL="0">
              <a:buNone/>
            </a:pPr>
            <a:r>
              <a:rPr lang="en-US" sz="1600" b="1" dirty="0">
                <a:solidFill>
                  <a:schemeClr val="tx1"/>
                </a:solidFill>
              </a:rPr>
              <a:t>Escribir h = 0,0.2,1,0,0.8</a:t>
            </a:r>
            <a:endParaRPr lang="en-US" sz="1600" dirty="0"/>
          </a:p>
          <a:p>
            <a:pPr indent="0" marL="0">
              <a:buNone/>
            </a:pPr>
            <a:r>
              <a:rPr lang="en-US" sz="1400" dirty="0">
                <a:solidFill>
                  <a:schemeClr val="tx2"/>
                </a:solidFill>
              </a:rPr>
              <a:t>Vista ISI y ecualizador: SIR y ojo, con y sin</a:t>
            </a:r>
            <a:endParaRPr lang="en-US" sz="1600" dirty="0"/>
          </a:p>
        </p:txBody>
      </p:sp>
      <p:sp>
        <p:nvSpPr>
          <p:cNvPr id="41" name="Text 38"/>
          <p:cNvSpPr txBox="1"/>
          <p:nvPr/>
        </p:nvSpPr>
        <p:spPr>
          <a:xfrm>
            <a:off x="6949440" y="5431536"/>
            <a:ext cx="822960" cy="731520"/>
          </a:xfrm>
          <a:prstGeom prst="rect">
            <a:avLst/>
          </a:prstGeom>
          <a:noFill/>
          <a:ln/>
        </p:spPr>
        <p:txBody>
          <a:bodyPr wrap="square" lIns="0" tIns="0" rIns="0" bIns="0" rtlCol="0" anchor="ctr"/>
          <a:lstStyle/>
          <a:p>
            <a:pPr algn="r" indent="0" marL="0">
              <a:buNone/>
            </a:pPr>
            <a:r>
              <a:rPr lang="en-US" sz="1600" b="1" dirty="0">
                <a:solidFill>
                  <a:schemeClr val="accent1"/>
                </a:solidFill>
              </a:rPr>
              <a:t>0:25</a:t>
            </a:r>
            <a:endParaRPr lang="en-US" sz="1600" dirty="0"/>
          </a:p>
        </p:txBody>
      </p:sp>
      <p:sp>
        <p:nvSpPr>
          <p:cNvPr id="42" name="antes de empezar"/>
          <p:cNvSpPr/>
          <p:nvPr/>
        </p:nvSpPr>
        <p:spPr>
          <a:xfrm>
            <a:off x="8229600" y="1645920"/>
            <a:ext cx="3410712" cy="2743200"/>
          </a:xfrm>
          <a:prstGeom prst="roundRect">
            <a:avLst>
              <a:gd name="adj" fmla="val 3333"/>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43" name="Text 40"/>
          <p:cNvSpPr txBox="1"/>
          <p:nvPr/>
        </p:nvSpPr>
        <p:spPr>
          <a:xfrm>
            <a:off x="8458200" y="1755648"/>
            <a:ext cx="2971800" cy="251460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Antes de empezar</a:t>
            </a:r>
            <a:endParaRPr lang="en-US" sz="1400" dirty="0"/>
          </a:p>
          <a:p>
            <a:pPr marL="342900" indent="-342900">
              <a:spcAft>
                <a:spcPts val="400"/>
              </a:spcAft>
              <a:buSzPct val="100000"/>
              <a:buChar char="•"/>
            </a:pPr>
            <a:r>
              <a:rPr lang="en-US" sz="1400" dirty="0">
                <a:solidFill>
                  <a:schemeClr val="tx1"/>
                </a:solidFill>
              </a:rPr>
              <a:t>Banco de pruebas.bat abierto (~6 s)</a:t>
            </a:r>
            <a:endParaRPr lang="en-US" sz="1400" dirty="0"/>
          </a:p>
          <a:p>
            <a:pPr marL="342900" indent="-342900">
              <a:spcAft>
                <a:spcPts val="400"/>
              </a:spcAft>
              <a:buSzPct val="100000"/>
              <a:buChar char="•"/>
            </a:pPr>
            <a:r>
              <a:rPr lang="en-US" sz="1400" dirty="0">
                <a:solidFill>
                  <a:schemeClr val="tx1"/>
                </a:solidFill>
              </a:rPr>
              <a:t>Tema claro, para el proyector</a:t>
            </a:r>
            <a:endParaRPr lang="en-US" sz="1400" dirty="0"/>
          </a:p>
          <a:p>
            <a:pPr marL="342900" indent="-342900">
              <a:buSzPct val="100000"/>
              <a:buChar char="•"/>
            </a:pPr>
            <a:r>
              <a:rPr lang="en-US" sz="1400" dirty="0">
                <a:solidFill>
                  <a:schemeClr val="tx1"/>
                </a:solidFill>
              </a:rPr>
              <a:t>Escenario C, 12 dB, LMS de partida</a:t>
            </a:r>
            <a:endParaRPr lang="en-US" sz="1400" dirty="0"/>
          </a:p>
        </p:txBody>
      </p:sp>
      <p:sp>
        <p:nvSpPr>
          <p:cNvPr id="44" name="plan B"/>
          <p:cNvSpPr/>
          <p:nvPr/>
        </p:nvSpPr>
        <p:spPr>
          <a:xfrm>
            <a:off x="8229600" y="4572000"/>
            <a:ext cx="3410712" cy="1645920"/>
          </a:xfrm>
          <a:prstGeom prst="roundRect">
            <a:avLst>
              <a:gd name="adj" fmla="val 5556"/>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45" name="Text 42"/>
          <p:cNvSpPr txBox="1"/>
          <p:nvPr/>
        </p:nvSpPr>
        <p:spPr>
          <a:xfrm>
            <a:off x="8458200" y="4663440"/>
            <a:ext cx="2971800" cy="146304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Plan B</a:t>
            </a:r>
            <a:endParaRPr lang="en-US" sz="1600" dirty="0"/>
          </a:p>
          <a:p>
            <a:pPr indent="0" marL="0">
              <a:buNone/>
            </a:pPr>
            <a:r>
              <a:rPr lang="en-US" sz="1400" dirty="0">
                <a:solidFill>
                  <a:schemeClr val="tx2"/>
                </a:solidFill>
              </a:rPr>
              <a:t>Corrida exportada sin ventana: 14 imágenes y medidas.csv</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CONCLUSIONES</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Ecualizar es indispensable; el algoritmo depende del contexto</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Cadena completa</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accent1"/>
          </a:solidFill>
          <a:ln w="12700">
            <a:solidFill>
              <a:schemeClr val="accent1"/>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sp>
        <p:nvSpPr>
          <p:cNvPr id="14" name="presenta"/>
          <p:cNvSpPr/>
          <p:nvPr/>
        </p:nvSpPr>
        <p:spPr>
          <a:xfrm>
            <a:off x="10378440" y="329184"/>
            <a:ext cx="1261872" cy="310896"/>
          </a:xfrm>
          <a:prstGeom prst="roundRect">
            <a:avLst>
              <a:gd name="adj" fmla="val 50000"/>
            </a:avLst>
          </a:prstGeom>
          <a:solidFill>
            <a:schemeClr val="accent1">
              <a:alpha val="12000"/>
            </a:schemeClr>
          </a:solidFill>
          <a:ln w="9525">
            <a:solidFill>
              <a:schemeClr val="accent1"/>
            </a:solidFill>
            <a:prstDash val="solid"/>
          </a:ln>
        </p:spPr>
      </p:sp>
      <p:sp>
        <p:nvSpPr>
          <p:cNvPr id="15" name="Text 13"/>
          <p:cNvSpPr txBox="1"/>
          <p:nvPr/>
        </p:nvSpPr>
        <p:spPr>
          <a:xfrm>
            <a:off x="10378440" y="329184"/>
            <a:ext cx="1261872" cy="310896"/>
          </a:xfrm>
          <a:prstGeom prst="rect">
            <a:avLst/>
          </a:prstGeom>
          <a:noFill/>
          <a:ln/>
        </p:spPr>
        <p:txBody>
          <a:bodyPr wrap="square" lIns="0" tIns="0" rIns="0" bIns="0" rtlCol="0" anchor="ctr"/>
          <a:lstStyle/>
          <a:p>
            <a:pPr algn="ctr" indent="0" marL="0">
              <a:buNone/>
            </a:pPr>
            <a:r>
              <a:rPr lang="en-US" sz="1200" b="1" dirty="0">
                <a:solidFill>
                  <a:schemeClr val="accent1"/>
                </a:solidFill>
              </a:rPr>
              <a:t>Luis</a:t>
            </a:r>
            <a:endParaRPr lang="en-US" sz="1200" dirty="0"/>
          </a:p>
        </p:txBody>
      </p:sp>
      <p:sp>
        <p:nvSpPr>
          <p:cNvPr id="17" name="conclusiones"/>
          <p:cNvSpPr/>
          <p:nvPr/>
        </p:nvSpPr>
        <p:spPr>
          <a:xfrm>
            <a:off x="548640" y="1645920"/>
            <a:ext cx="5432908" cy="4617720"/>
          </a:xfrm>
          <a:prstGeom prst="roundRect">
            <a:avLst>
              <a:gd name="adj" fmla="val 198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18" name="Text 15"/>
          <p:cNvSpPr txBox="1"/>
          <p:nvPr/>
        </p:nvSpPr>
        <p:spPr>
          <a:xfrm>
            <a:off x="822960" y="1828800"/>
            <a:ext cx="4884268"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LO QUE CONCLUIMOS</a:t>
            </a:r>
            <a:endParaRPr lang="en-US" sz="1200" dirty="0"/>
          </a:p>
        </p:txBody>
      </p:sp>
      <p:sp>
        <p:nvSpPr>
          <p:cNvPr id="19" name="número 1"/>
          <p:cNvSpPr/>
          <p:nvPr/>
        </p:nvSpPr>
        <p:spPr>
          <a:xfrm>
            <a:off x="822960" y="2286000"/>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82296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1" name="Text 18"/>
          <p:cNvSpPr txBox="1"/>
          <p:nvPr/>
        </p:nvSpPr>
        <p:spPr>
          <a:xfrm>
            <a:off x="1463040" y="2240280"/>
            <a:ext cx="4244188" cy="1097280"/>
          </a:xfrm>
          <a:prstGeom prst="rect">
            <a:avLst/>
          </a:prstGeom>
          <a:noFill/>
          <a:ln/>
        </p:spPr>
        <p:txBody>
          <a:bodyPr wrap="square" lIns="0" tIns="0" rIns="0" bIns="0" rtlCol="0" anchor="t"/>
          <a:lstStyle/>
          <a:p>
            <a:pPr indent="0" marL="0">
              <a:buNone/>
            </a:pPr>
            <a:r>
              <a:rPr lang="en-US" sz="1600" b="1" dirty="0">
                <a:solidFill>
                  <a:schemeClr val="tx1"/>
                </a:solidFill>
              </a:rPr>
              <a:t>Ecualizar es indispensable</a:t>
            </a:r>
            <a:endParaRPr lang="en-US" sz="1600" dirty="0"/>
          </a:p>
          <a:p>
            <a:pPr indent="0" marL="0">
              <a:buNone/>
            </a:pPr>
            <a:r>
              <a:rPr lang="en-US" sz="1400" dirty="0">
                <a:solidFill>
                  <a:schemeClr val="tx2"/>
                </a:solidFill>
              </a:rPr>
              <a:t>En canal moderado la BER pasa de 6·10⁻² a menos de 10⁻⁴.</a:t>
            </a:r>
            <a:endParaRPr lang="en-US" sz="1600" dirty="0"/>
          </a:p>
        </p:txBody>
      </p:sp>
      <p:sp>
        <p:nvSpPr>
          <p:cNvPr id="22" name="número 2"/>
          <p:cNvSpPr/>
          <p:nvPr/>
        </p:nvSpPr>
        <p:spPr>
          <a:xfrm>
            <a:off x="822960" y="3566160"/>
            <a:ext cx="457200" cy="457200"/>
          </a:xfrm>
          <a:prstGeom prst="ellipse">
            <a:avLst/>
          </a:prstGeom>
          <a:solidFill>
            <a:schemeClr val="accent1"/>
          </a:solidFill>
          <a:ln w="12700">
            <a:solidFill>
              <a:schemeClr val="accent1"/>
            </a:solidFill>
            <a:prstDash val="solid"/>
          </a:ln>
        </p:spPr>
      </p:sp>
      <p:sp>
        <p:nvSpPr>
          <p:cNvPr id="23" name="Text 20"/>
          <p:cNvSpPr txBox="1"/>
          <p:nvPr/>
        </p:nvSpPr>
        <p:spPr>
          <a:xfrm>
            <a:off x="822960" y="3566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4" name="Text 21"/>
          <p:cNvSpPr txBox="1"/>
          <p:nvPr/>
        </p:nvSpPr>
        <p:spPr>
          <a:xfrm>
            <a:off x="1463040" y="3520440"/>
            <a:ext cx="4244188" cy="1097280"/>
          </a:xfrm>
          <a:prstGeom prst="rect">
            <a:avLst/>
          </a:prstGeom>
          <a:noFill/>
          <a:ln/>
        </p:spPr>
        <p:txBody>
          <a:bodyPr wrap="square" lIns="0" tIns="0" rIns="0" bIns="0" rtlCol="0" anchor="t"/>
          <a:lstStyle/>
          <a:p>
            <a:pPr indent="0" marL="0">
              <a:buNone/>
            </a:pPr>
            <a:r>
              <a:rPr lang="en-US" sz="1600" b="1" dirty="0">
                <a:solidFill>
                  <a:schemeClr val="tx1"/>
                </a:solidFill>
              </a:rPr>
              <a:t>El algoritmo se elige por contexto</a:t>
            </a:r>
            <a:endParaRPr lang="en-US" sz="1600" dirty="0"/>
          </a:p>
          <a:p>
            <a:pPr indent="0" marL="0">
              <a:buNone/>
            </a:pPr>
            <a:r>
              <a:rPr lang="en-US" sz="1400" dirty="0">
                <a:solidFill>
                  <a:schemeClr val="tx2"/>
                </a:solidFill>
              </a:rPr>
              <a:t>SNR, variación del canal y presupuesto de cómputo: LMS, RLS o MMSE.</a:t>
            </a:r>
            <a:endParaRPr lang="en-US" sz="1600" dirty="0"/>
          </a:p>
        </p:txBody>
      </p:sp>
      <p:sp>
        <p:nvSpPr>
          <p:cNvPr id="25" name="número 3"/>
          <p:cNvSpPr/>
          <p:nvPr/>
        </p:nvSpPr>
        <p:spPr>
          <a:xfrm>
            <a:off x="822960" y="4846320"/>
            <a:ext cx="457200" cy="457200"/>
          </a:xfrm>
          <a:prstGeom prst="ellipse">
            <a:avLst/>
          </a:prstGeom>
          <a:solidFill>
            <a:schemeClr val="accent1"/>
          </a:solidFill>
          <a:ln w="12700">
            <a:solidFill>
              <a:schemeClr val="accent1"/>
            </a:solidFill>
            <a:prstDash val="solid"/>
          </a:ln>
        </p:spPr>
      </p:sp>
      <p:sp>
        <p:nvSpPr>
          <p:cNvPr id="26" name="Text 23"/>
          <p:cNvSpPr txBox="1"/>
          <p:nvPr/>
        </p:nvSpPr>
        <p:spPr>
          <a:xfrm>
            <a:off x="822960" y="4846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Text 24"/>
          <p:cNvSpPr txBox="1"/>
          <p:nvPr/>
        </p:nvSpPr>
        <p:spPr>
          <a:xfrm>
            <a:off x="1463040" y="4800600"/>
            <a:ext cx="4244188" cy="1097280"/>
          </a:xfrm>
          <a:prstGeom prst="rect">
            <a:avLst/>
          </a:prstGeom>
          <a:noFill/>
          <a:ln/>
        </p:spPr>
        <p:txBody>
          <a:bodyPr wrap="square" lIns="0" tIns="0" rIns="0" bIns="0" rtlCol="0" anchor="t"/>
          <a:lstStyle/>
          <a:p>
            <a:pPr indent="0" marL="0">
              <a:buNone/>
            </a:pPr>
            <a:r>
              <a:rPr lang="en-US" sz="1600" b="1" dirty="0">
                <a:solidFill>
                  <a:schemeClr val="tx1"/>
                </a:solidFill>
              </a:rPr>
              <a:t>La modulación cobra su precio</a:t>
            </a:r>
            <a:endParaRPr lang="en-US" sz="1600" dirty="0"/>
          </a:p>
          <a:p>
            <a:pPr indent="0" marL="0">
              <a:buNone/>
            </a:pPr>
            <a:r>
              <a:rPr lang="en-US" sz="1400" dirty="0">
                <a:solidFill>
                  <a:schemeClr val="tx2"/>
                </a:solidFill>
              </a:rPr>
              <a:t>En el escenario C, 16-QAM exige 7,6 dB más que la teoría AWGN.</a:t>
            </a:r>
            <a:endParaRPr lang="en-US" sz="1600" dirty="0"/>
          </a:p>
        </p:txBody>
      </p:sp>
      <p:sp>
        <p:nvSpPr>
          <p:cNvPr id="28" name="límites"/>
          <p:cNvSpPr/>
          <p:nvPr/>
        </p:nvSpPr>
        <p:spPr>
          <a:xfrm>
            <a:off x="6210148" y="1645920"/>
            <a:ext cx="5432908" cy="4617720"/>
          </a:xfrm>
          <a:prstGeom prst="roundRect">
            <a:avLst>
              <a:gd name="adj" fmla="val 1980"/>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29" name="Text 26"/>
          <p:cNvSpPr txBox="1"/>
          <p:nvPr/>
        </p:nvSpPr>
        <p:spPr>
          <a:xfrm>
            <a:off x="6484468" y="1828800"/>
            <a:ext cx="4884268" cy="274320"/>
          </a:xfrm>
          <a:prstGeom prst="rect">
            <a:avLst/>
          </a:prstGeom>
          <a:noFill/>
          <a:ln/>
        </p:spPr>
        <p:txBody>
          <a:bodyPr wrap="square" lIns="0" tIns="0" rIns="0" bIns="0" rtlCol="0" anchor="ctr"/>
          <a:lstStyle/>
          <a:p>
            <a:pPr indent="0" marL="0">
              <a:buNone/>
            </a:pPr>
            <a:r>
              <a:rPr lang="en-US" sz="1200" b="1" spc="200" kern="0" dirty="0">
                <a:solidFill>
                  <a:schemeClr val="tx2"/>
                </a:solidFill>
              </a:rPr>
              <a:t>LÍMITES, DICHOS CLAROS</a:t>
            </a:r>
            <a:endParaRPr lang="en-US" sz="1200" dirty="0"/>
          </a:p>
        </p:txBody>
      </p:sp>
      <p:sp>
        <p:nvSpPr>
          <p:cNvPr id="30" name="Text 27"/>
          <p:cNvSpPr txBox="1"/>
          <p:nvPr/>
        </p:nvSpPr>
        <p:spPr>
          <a:xfrm>
            <a:off x="6484468" y="2240280"/>
            <a:ext cx="4884268" cy="3840480"/>
          </a:xfrm>
          <a:prstGeom prst="rect">
            <a:avLst/>
          </a:prstGeom>
          <a:noFill/>
          <a:ln/>
        </p:spPr>
        <p:txBody>
          <a:bodyPr wrap="square" lIns="0" tIns="0" rIns="0" bIns="0" rtlCol="0" anchor="t"/>
          <a:lstStyle/>
          <a:p>
            <a:pPr indent="0" marL="0">
              <a:buNone/>
            </a:pPr>
            <a:r>
              <a:rPr lang="en-US" sz="1600" b="1" dirty="0">
                <a:solidFill>
                  <a:schemeClr val="tx1"/>
                </a:solidFill>
              </a:rPr>
              <a:t>Solo ecualizadores lineales</a:t>
            </a:r>
            <a:endParaRPr lang="en-US" sz="1600" dirty="0"/>
          </a:p>
          <a:p>
            <a:pPr indent="0" marL="0">
              <a:spcAft>
                <a:spcPts val="1000"/>
              </a:spcAft>
              <a:buNone/>
            </a:pPr>
            <a:r>
              <a:rPr lang="en-US" sz="1400" dirty="0">
                <a:solidFill>
                  <a:schemeClr val="tx2"/>
                </a:solidFill>
              </a:rPr>
              <a:t>Sin DFE ni MLSE: por eso 64-QAM no llega a 10⁻³ en C (ISI residual −12 dB; exige −20 dB).</a:t>
            </a:r>
            <a:endParaRPr lang="en-US" sz="1600" dirty="0"/>
          </a:p>
          <a:p>
            <a:pPr indent="0" marL="0">
              <a:buNone/>
            </a:pPr>
            <a:r>
              <a:rPr lang="en-US" sz="1600" b="1" dirty="0">
                <a:solidFill>
                  <a:schemeClr val="tx1"/>
                </a:solidFill>
              </a:rPr>
              <a:t>Sin codificación de canal</a:t>
            </a:r>
            <a:endParaRPr lang="en-US" sz="1600" dirty="0"/>
          </a:p>
          <a:p>
            <a:pPr indent="0" marL="0">
              <a:spcAft>
                <a:spcPts val="1000"/>
              </a:spcAft>
              <a:buNone/>
            </a:pPr>
            <a:r>
              <a:rPr lang="en-US" sz="1400" dirty="0">
                <a:solidFill>
                  <a:schemeClr val="tx2"/>
                </a:solidFill>
              </a:rPr>
              <a:t>Todas las BER son sin codificar.</a:t>
            </a:r>
            <a:endParaRPr lang="en-US" sz="1600" dirty="0"/>
          </a:p>
          <a:p>
            <a:pPr indent="0" marL="0">
              <a:buNone/>
            </a:pPr>
            <a:r>
              <a:rPr lang="en-US" sz="1600" b="1" dirty="0">
                <a:solidFill>
                  <a:schemeClr val="tx1"/>
                </a:solidFill>
              </a:rPr>
              <a:t>ZF y MMSE con canal conocido</a:t>
            </a:r>
            <a:endParaRPr lang="en-US" sz="1600" dirty="0"/>
          </a:p>
          <a:p>
            <a:pPr indent="0" marL="0">
              <a:spcAft>
                <a:spcPts val="1000"/>
              </a:spcAft>
              <a:buNone/>
            </a:pPr>
            <a:r>
              <a:rPr lang="en-US" sz="1400" dirty="0">
                <a:solidFill>
                  <a:schemeClr val="tx2"/>
                </a:solidFill>
              </a:rPr>
              <a:t>No estiman el canal: miden el límite del diseño.</a:t>
            </a:r>
            <a:endParaRPr lang="en-US" sz="1600" dirty="0"/>
          </a:p>
          <a:p>
            <a:pPr indent="0" marL="0">
              <a:buNone/>
            </a:pPr>
            <a:r>
              <a:rPr lang="en-US" sz="1600" b="1" dirty="0">
                <a:solidFill>
                  <a:schemeClr val="tx1"/>
                </a:solidFill>
              </a:rPr>
              <a:t>Receptor de GNU Radio</a:t>
            </a:r>
            <a:endParaRPr lang="en-US" sz="1600" dirty="0"/>
          </a:p>
          <a:p>
            <a:pPr indent="0" marL="0">
              <a:spcAft>
                <a:spcPts val="1000"/>
              </a:spcAft>
              <a:buNone/>
            </a:pPr>
            <a:r>
              <a:rPr lang="en-US" sz="1400" dirty="0">
                <a:solidFill>
                  <a:schemeClr val="tx2"/>
                </a:solidFill>
              </a:rPr>
              <a:t>No replica al de Python en el escenario C.</a:t>
            </a:r>
            <a:endParaRPr lang="en-US" sz="16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lustración" descr="Ilustración de torres de telecomunicaciones y un teléfono con señal 5G">    </p:cNvPr>
          <p:cNvPicPr>
            <a:picLocks noChangeAspect="1"/>
          </p:cNvPicPr>
          <p:nvPr/>
        </p:nvPicPr>
        <p:blipFill>
          <a:blip r:embed="rId1"/>
          <a:srcRect l="0" r="0" t="0" b="0"/>
          <a:stretch/>
        </p:blipFill>
        <p:spPr>
          <a:xfrm>
            <a:off x="0" y="0"/>
            <a:ext cx="12191695" cy="6858000"/>
          </a:xfrm>
          <a:prstGeom prst="rect">
            <a:avLst/>
          </a:prstGeom>
        </p:spPr>
      </p:pic>
      <p:sp>
        <p:nvSpPr>
          <p:cNvPr id="3" name="preguntas"/>
          <p:cNvSpPr/>
          <p:nvPr/>
        </p:nvSpPr>
        <p:spPr>
          <a:xfrm>
            <a:off x="548640" y="2194560"/>
            <a:ext cx="5669280" cy="2468880"/>
          </a:xfrm>
          <a:prstGeom prst="roundRect">
            <a:avLst>
              <a:gd name="adj" fmla="val 3704"/>
            </a:avLst>
          </a:prstGeom>
          <a:solidFill>
            <a:schemeClr val="bg1"/>
          </a:solidFill>
          <a:ln w="9525">
            <a:solidFill>
              <a:srgbClr val="E4DFF0"/>
            </a:solidFill>
            <a:prstDash val="solid"/>
          </a:ln>
          <a:effectLst>
            <a:outerShdw sx="100000" sy="100000" kx="0" ky="0" algn="bl" rotWithShape="0" blurRad="101600" dist="25400" dir="5400000">
              <a:srgbClr val="0C246C">
                <a:alpha val="7000"/>
              </a:srgbClr>
            </a:outerShdw>
          </a:effectLst>
        </p:spPr>
      </p:sp>
      <p:sp>
        <p:nvSpPr>
          <p:cNvPr id="4" name="Text 1"/>
          <p:cNvSpPr txBox="1"/>
          <p:nvPr/>
        </p:nvSpPr>
        <p:spPr>
          <a:xfrm>
            <a:off x="914400" y="2514600"/>
            <a:ext cx="4937760" cy="914400"/>
          </a:xfrm>
          <a:prstGeom prst="rect">
            <a:avLst/>
          </a:prstGeom>
          <a:noFill/>
          <a:ln/>
        </p:spPr>
        <p:txBody>
          <a:bodyPr wrap="square" lIns="0" tIns="0" rIns="0" bIns="0" rtlCol="0" anchor="ctr"/>
          <a:lstStyle/>
          <a:p>
            <a:pPr indent="0" marL="0">
              <a:buNone/>
            </a:pPr>
            <a:r>
              <a:rPr lang="en-US" sz="4400" b="1" dirty="0">
                <a:solidFill>
                  <a:schemeClr val="tx1"/>
                </a:solidFill>
              </a:rPr>
              <a:t>Preguntas</a:t>
            </a:r>
            <a:endParaRPr lang="en-US" sz="4400" dirty="0"/>
          </a:p>
        </p:txBody>
      </p:sp>
      <p:sp>
        <p:nvSpPr>
          <p:cNvPr id="5" name="Text 2"/>
          <p:cNvSpPr txBox="1"/>
          <p:nvPr/>
        </p:nvSpPr>
        <p:spPr>
          <a:xfrm>
            <a:off x="914400" y="3520440"/>
            <a:ext cx="4937760" cy="822960"/>
          </a:xfrm>
          <a:prstGeom prst="rect">
            <a:avLst/>
          </a:prstGeom>
          <a:noFill/>
          <a:ln/>
        </p:spPr>
        <p:txBody>
          <a:bodyPr wrap="square" lIns="0" tIns="0" rIns="0" bIns="0" rtlCol="0" anchor="t"/>
          <a:lstStyle/>
          <a:p>
            <a:pPr indent="0" marL="0">
              <a:buNone/>
            </a:pPr>
            <a:r>
              <a:rPr lang="en-US" sz="1400" dirty="0">
                <a:solidFill>
                  <a:schemeClr val="tx2"/>
                </a:solidFill>
              </a:rPr>
              <a:t>Todo lo medido está en results/ y se puede reproducir con experiments/run_all.py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9144000" cy="274320"/>
          </a:xfrm>
          <a:prstGeom prst="rect">
            <a:avLst/>
          </a:prstGeom>
          <a:noFill/>
          <a:ln/>
        </p:spPr>
        <p:txBody>
          <a:bodyPr wrap="square" lIns="0" tIns="0" rIns="0" bIns="0" rtlCol="0" anchor="ctr"/>
          <a:lstStyle/>
          <a:p>
            <a:pPr indent="0" marL="0">
              <a:buNone/>
            </a:pPr>
            <a:r>
              <a:rPr lang="en-US" sz="1200" b="1" spc="200" kern="0" dirty="0">
                <a:solidFill>
                  <a:schemeClr val="tx2"/>
                </a:solidFill>
              </a:rPr>
              <a:t>RESPALDO · MÉTRICAS</a:t>
            </a:r>
            <a:endParaRPr lang="en-US" sz="1200" dirty="0"/>
          </a:p>
        </p:txBody>
      </p:sp>
      <p:sp>
        <p:nvSpPr>
          <p:cNvPr id="3" name="Text 1"/>
          <p:cNvSpPr/>
          <p:nvPr>
            <p:ph idx="102" type="title" hasCustomPrompt="1"/>
          </p:nvPr>
        </p:nvSpPr>
        <p:spPr>
          <a:xfrm>
            <a:off x="548640" y="640080"/>
            <a:ext cx="11094415" cy="914400"/>
          </a:xfrm>
          <a:prstGeom prst="rect">
            <a:avLst/>
          </a:prstGeom>
          <a:noFill/>
          <a:ln/>
        </p:spPr>
        <p:txBody>
          <a:bodyPr wrap="square" lIns="0" tIns="0" rIns="0" bIns="0" rtlCol="0" anchor="t"/>
          <a:lstStyle/>
          <a:p>
            <a:pPr algn="l" indent="0" marL="0">
              <a:buNone/>
            </a:pPr>
            <a:r>
              <a:rPr lang="en-US" sz="2800" b="1" dirty="0">
                <a:solidFill>
                  <a:schemeClr val="tx1"/>
                </a:solidFill>
              </a:rPr>
              <a:t>Las métricas que exige la guía, medidas en una sola corrida</a:t>
            </a:r>
            <a:endParaRPr lang="en-US" sz="2800" dirty="0"/>
          </a:p>
        </p:txBody>
      </p:sp>
      <p:sp>
        <p:nvSpPr>
          <p:cNvPr id="4" name="etapa activa"/>
          <p:cNvSpPr txBox="1"/>
          <p:nvPr/>
        </p:nvSpPr>
        <p:spPr>
          <a:xfrm>
            <a:off x="6035040" y="6400800"/>
            <a:ext cx="3246120" cy="274320"/>
          </a:xfrm>
          <a:prstGeom prst="rect">
            <a:avLst/>
          </a:prstGeom>
          <a:noFill/>
          <a:ln/>
        </p:spPr>
        <p:txBody>
          <a:bodyPr wrap="square" lIns="0" tIns="0" rIns="0" bIns="0" rtlCol="0" anchor="ctr"/>
          <a:lstStyle/>
          <a:p>
            <a:pPr algn="r" indent="0" marL="0">
              <a:buNone/>
            </a:pPr>
            <a:r>
              <a:rPr lang="en-US" sz="1000" dirty="0">
                <a:solidFill>
                  <a:schemeClr val="tx2"/>
                </a:solidFill>
              </a:rPr>
              <a:t>Cadena completa</a:t>
            </a:r>
            <a:endParaRPr lang="en-US" sz="1000" dirty="0"/>
          </a:p>
        </p:txBody>
      </p:sp>
      <p:sp>
        <p:nvSpPr>
          <p:cNvPr id="5" name="camino"/>
          <p:cNvSpPr/>
          <p:nvPr/>
        </p:nvSpPr>
        <p:spPr>
          <a:xfrm>
            <a:off x="9569196" y="6537960"/>
            <a:ext cx="1632204" cy="0"/>
          </a:xfrm>
          <a:prstGeom prst="line">
            <a:avLst/>
          </a:prstGeom>
          <a:noFill/>
          <a:ln w="12700">
            <a:solidFill>
              <a:srgbClr val="C8C0E0"/>
            </a:solidFill>
            <a:prstDash val="solid"/>
          </a:ln>
        </p:spPr>
      </p:sp>
      <p:sp>
        <p:nvSpPr>
          <p:cNvPr id="6" name="etapa 1"/>
          <p:cNvSpPr/>
          <p:nvPr/>
        </p:nvSpPr>
        <p:spPr>
          <a:xfrm>
            <a:off x="9509760" y="6478524"/>
            <a:ext cx="118872" cy="118872"/>
          </a:xfrm>
          <a:prstGeom prst="ellipse">
            <a:avLst/>
          </a:prstGeom>
          <a:solidFill>
            <a:schemeClr val="accent1"/>
          </a:solidFill>
          <a:ln w="12700">
            <a:solidFill>
              <a:schemeClr val="accent1"/>
            </a:solidFill>
            <a:prstDash val="solid"/>
          </a:ln>
        </p:spPr>
      </p:sp>
      <p:sp>
        <p:nvSpPr>
          <p:cNvPr id="7" name="etapa 2"/>
          <p:cNvSpPr/>
          <p:nvPr/>
        </p:nvSpPr>
        <p:spPr>
          <a:xfrm>
            <a:off x="9742932" y="6478524"/>
            <a:ext cx="118872" cy="118872"/>
          </a:xfrm>
          <a:prstGeom prst="ellipse">
            <a:avLst/>
          </a:prstGeom>
          <a:solidFill>
            <a:schemeClr val="accent1"/>
          </a:solidFill>
          <a:ln w="12700">
            <a:solidFill>
              <a:schemeClr val="accent1"/>
            </a:solidFill>
            <a:prstDash val="solid"/>
          </a:ln>
        </p:spPr>
      </p:sp>
      <p:sp>
        <p:nvSpPr>
          <p:cNvPr id="8" name="etapa 3"/>
          <p:cNvSpPr/>
          <p:nvPr/>
        </p:nvSpPr>
        <p:spPr>
          <a:xfrm>
            <a:off x="9976104" y="6478524"/>
            <a:ext cx="118872" cy="118872"/>
          </a:xfrm>
          <a:prstGeom prst="ellipse">
            <a:avLst/>
          </a:prstGeom>
          <a:solidFill>
            <a:schemeClr val="accent1"/>
          </a:solidFill>
          <a:ln w="12700">
            <a:solidFill>
              <a:schemeClr val="accent1"/>
            </a:solidFill>
            <a:prstDash val="solid"/>
          </a:ln>
        </p:spPr>
      </p:sp>
      <p:sp>
        <p:nvSpPr>
          <p:cNvPr id="9" name="etapa 4"/>
          <p:cNvSpPr/>
          <p:nvPr/>
        </p:nvSpPr>
        <p:spPr>
          <a:xfrm>
            <a:off x="10209276" y="6478524"/>
            <a:ext cx="118872" cy="118872"/>
          </a:xfrm>
          <a:prstGeom prst="ellipse">
            <a:avLst/>
          </a:prstGeom>
          <a:solidFill>
            <a:schemeClr val="accent1"/>
          </a:solidFill>
          <a:ln w="12700">
            <a:solidFill>
              <a:schemeClr val="accent1"/>
            </a:solidFill>
            <a:prstDash val="solid"/>
          </a:ln>
        </p:spPr>
      </p:sp>
      <p:sp>
        <p:nvSpPr>
          <p:cNvPr id="10" name="etapa 5"/>
          <p:cNvSpPr/>
          <p:nvPr/>
        </p:nvSpPr>
        <p:spPr>
          <a:xfrm>
            <a:off x="10442448" y="6478524"/>
            <a:ext cx="118872" cy="118872"/>
          </a:xfrm>
          <a:prstGeom prst="ellipse">
            <a:avLst/>
          </a:prstGeom>
          <a:solidFill>
            <a:schemeClr val="accent1"/>
          </a:solidFill>
          <a:ln w="12700">
            <a:solidFill>
              <a:schemeClr val="accent1"/>
            </a:solidFill>
            <a:prstDash val="solid"/>
          </a:ln>
        </p:spPr>
      </p:sp>
      <p:sp>
        <p:nvSpPr>
          <p:cNvPr id="11" name="etapa 6"/>
          <p:cNvSpPr/>
          <p:nvPr/>
        </p:nvSpPr>
        <p:spPr>
          <a:xfrm>
            <a:off x="10675620" y="6478524"/>
            <a:ext cx="118872" cy="118872"/>
          </a:xfrm>
          <a:prstGeom prst="ellipse">
            <a:avLst/>
          </a:prstGeom>
          <a:solidFill>
            <a:schemeClr val="accent1"/>
          </a:solidFill>
          <a:ln w="12700">
            <a:solidFill>
              <a:schemeClr val="accent1"/>
            </a:solidFill>
            <a:prstDash val="solid"/>
          </a:ln>
        </p:spPr>
      </p:sp>
      <p:sp>
        <p:nvSpPr>
          <p:cNvPr id="12" name="etapa 7"/>
          <p:cNvSpPr/>
          <p:nvPr/>
        </p:nvSpPr>
        <p:spPr>
          <a:xfrm>
            <a:off x="10908792" y="6478524"/>
            <a:ext cx="118872" cy="118872"/>
          </a:xfrm>
          <a:prstGeom prst="ellipse">
            <a:avLst/>
          </a:prstGeom>
          <a:solidFill>
            <a:schemeClr val="accent1"/>
          </a:solidFill>
          <a:ln w="12700">
            <a:solidFill>
              <a:schemeClr val="accent1"/>
            </a:solidFill>
            <a:prstDash val="solid"/>
          </a:ln>
        </p:spPr>
      </p:sp>
      <p:sp>
        <p:nvSpPr>
          <p:cNvPr id="13" name="etapa 8"/>
          <p:cNvSpPr/>
          <p:nvPr/>
        </p:nvSpPr>
        <p:spPr>
          <a:xfrm>
            <a:off x="11141964" y="6478524"/>
            <a:ext cx="118872" cy="118872"/>
          </a:xfrm>
          <a:prstGeom prst="ellipse">
            <a:avLst/>
          </a:prstGeom>
          <a:solidFill>
            <a:schemeClr val="accent1"/>
          </a:solidFill>
          <a:ln w="12700">
            <a:solidFill>
              <a:schemeClr val="accent1"/>
            </a:solidFill>
            <a:prstDash val="solid"/>
          </a:ln>
        </p:spPr>
      </p:sp>
      <p:graphicFrame>
        <p:nvGraphicFramePr>
          <p:cNvPr id="22" name="métricas"/>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206240"/>
                <a:gridCol w="2377440"/>
                <a:gridCol w="4510735"/>
              </a:tblGrid>
              <a:tr h="475488">
                <a:tc>
                  <a:txBody>
                    <a:bodyPr/>
                    <a:lstStyle/>
                    <a:p>
                      <a:pPr algn="l" indent="0" marL="0">
                        <a:buNone/>
                      </a:pPr>
                      <a:r>
                        <a:rPr lang="en-US" sz="1200" b="1" dirty="0">
                          <a:solidFill>
                            <a:schemeClr val="tx2"/>
                          </a:solidFill>
                          <a:latin typeface="Arial" pitchFamily="34" charset="0"/>
                          <a:ea typeface="Arial" pitchFamily="34" charset="-122"/>
                          <a:cs typeface="Arial" pitchFamily="34" charset="-120"/>
                        </a:rPr>
                        <a:t>Métrica</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tx2"/>
                          </a:solidFill>
                          <a:latin typeface="Arial" pitchFamily="34" charset="0"/>
                          <a:ea typeface="Arial" pitchFamily="34" charset="-122"/>
                          <a:cs typeface="Arial" pitchFamily="34" charset="-120"/>
                        </a:rPr>
                        <a:t>Valor</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tx2"/>
                          </a:solidFill>
                          <a:latin typeface="Arial" pitchFamily="34" charset="0"/>
                          <a:ea typeface="Arial" pitchFamily="34" charset="-122"/>
                          <a:cs typeface="Arial" pitchFamily="34" charset="-120"/>
                        </a:rPr>
                        <a:t>Dónde se ve</a:t>
                      </a:r>
                      <a:endParaRPr lang="en-US" sz="12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2"/>
                    </a:solidFill>
                  </a:tcPr>
                </a:tc>
              </a:tr>
              <a:tr h="475488">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BER</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Arial" pitchFamily="34" charset="0"/>
                          <a:ea typeface="Arial" pitchFamily="34" charset="-122"/>
                          <a:cs typeface="Arial" pitchFamily="34" charset="-120"/>
                        </a:rPr>
                        <a:t>3,75·10</a:t>
                      </a:r>
                      <a:pPr algn="r" indent="0" marL="0">
                        <a:buNone/>
                      </a:pPr>
                      <a:r>
                        <a:rPr lang="en-US" sz="1400" b="1" baseline="30000" dirty="0">
                          <a:solidFill>
                            <a:schemeClr val="tx1"/>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Medidas de la aplicación; Exp. 1 a 5</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SER</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Arial" pitchFamily="34" charset="0"/>
                          <a:ea typeface="Arial" pitchFamily="34" charset="-122"/>
                          <a:cs typeface="Arial" pitchFamily="34" charset="-120"/>
                        </a:rPr>
                        <a:t>7,5·10</a:t>
                      </a:r>
                      <a:pPr algn="r" indent="0" marL="0">
                        <a:buNone/>
                      </a:pPr>
                      <a:r>
                        <a:rPr lang="en-US" sz="1400" b="1" baseline="30000" dirty="0">
                          <a:solidFill>
                            <a:schemeClr val="tx1"/>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Exp. 1</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Error cuadrático de símbolos (EVM)</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Arial" pitchFamily="34" charset="0"/>
                          <a:ea typeface="Arial" pitchFamily="34" charset="-122"/>
                          <a:cs typeface="Arial" pitchFamily="34" charset="-120"/>
                        </a:rPr>
                        <a:t>31,1 %</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Constelación, Exp. 2 y 3</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MSE residual del ecualizador</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Arial" pitchFamily="34" charset="0"/>
                          <a:ea typeface="Arial" pitchFamily="34" charset="-122"/>
                          <a:cs typeface="Arial" pitchFamily="34" charset="-120"/>
                        </a:rPr>
                        <a:t>−10,5 dB</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Curvas de aprendizaje, Exp. 3</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Eficiencia espectral</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Arial" pitchFamily="34" charset="0"/>
                          <a:ea typeface="Arial" pitchFamily="34" charset="-122"/>
                          <a:cs typeface="Arial" pitchFamily="34" charset="-120"/>
                        </a:rPr>
                        <a:t>1,48 b/s/Hz</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Exp. 5</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PSD</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Arial" pitchFamily="34" charset="0"/>
                          <a:ea typeface="Arial" pitchFamily="34" charset="-122"/>
                          <a:cs typeface="Arial" pitchFamily="34" charset="-120"/>
                        </a:rPr>
                        <a:t>B = 168,8 kHz</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Exp. 5 y validación con GNU Radio</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Apertura del diagrama de ojo</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Arial" pitchFamily="34" charset="0"/>
                          <a:ea typeface="Arial" pitchFamily="34" charset="-122"/>
                          <a:cs typeface="Arial" pitchFamily="34" charset="-120"/>
                        </a:rPr>
                        <a:t>0,118 → 0,365</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Exp. 2 y vista del banco de pruebas</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r h="475488">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Convergencia del ecualizador</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r" indent="0" marL="0">
                        <a:buNone/>
                      </a:pPr>
                      <a:r>
                        <a:rPr lang="en-US" sz="1400" b="1" dirty="0">
                          <a:solidFill>
                            <a:schemeClr val="tx1"/>
                          </a:solidFill>
                          <a:latin typeface="Arial" pitchFamily="34" charset="0"/>
                          <a:ea typeface="Arial" pitchFamily="34" charset="-122"/>
                          <a:cs typeface="Arial" pitchFamily="34" charset="-120"/>
                        </a:rPr>
                        <a:t>53 símbolos</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c>
                  <a:txBody>
                    <a:bodyPr/>
                    <a:lstStyle/>
                    <a:p>
                      <a:pPr algn="l" indent="0" marL="0">
                        <a:buNone/>
                      </a:pPr>
                      <a:r>
                        <a:rPr lang="en-US" sz="1400" dirty="0">
                          <a:solidFill>
                            <a:schemeClr val="tx1"/>
                          </a:solidFill>
                          <a:latin typeface="Arial" pitchFamily="34" charset="0"/>
                          <a:ea typeface="Arial" pitchFamily="34" charset="-122"/>
                          <a:cs typeface="Arial" pitchFamily="34" charset="-120"/>
                        </a:rPr>
                        <a:t>Exp. 3</a:t>
                      </a:r>
                      <a:endParaRPr lang="en-US" sz="1400" dirty="0">
                        <a:latin typeface="Arial" charset="0"/>
                        <a:ea typeface="Arial" charset="0"/>
                        <a:cs typeface="Arial" charset="0"/>
                      </a:endParaRPr>
                    </a:p>
                  </a:txBody>
                  <a:tcPr marL="91440" marR="91440" marT="27432" marB="27432" anchor="ctr">
                    <a:lnL w="9525" cap="flat" cmpd="sng" algn="ctr">
                      <a:solidFill>
                        <a:srgbClr val="E4DFF0"/>
                      </a:solidFill>
                      <a:prstDash val="solid"/>
                      <a:round/>
                      <a:headEnd type="none" w="med" len="med"/>
                      <a:tailEnd type="none" w="med" len="med"/>
                    </a:lnL>
                    <a:lnR w="9525" cap="flat" cmpd="sng" algn="ctr">
                      <a:solidFill>
                        <a:srgbClr val="E4DFF0"/>
                      </a:solidFill>
                      <a:prstDash val="solid"/>
                      <a:round/>
                      <a:headEnd type="none" w="med" len="med"/>
                      <a:tailEnd type="none" w="med" len="med"/>
                    </a:lnR>
                    <a:lnT w="9525" cap="flat" cmpd="sng" algn="ctr">
                      <a:solidFill>
                        <a:srgbClr val="E4DFF0"/>
                      </a:solidFill>
                      <a:prstDash val="solid"/>
                      <a:round/>
                      <a:headEnd type="none" w="med" len="med"/>
                      <a:tailEnd type="none" w="med" len="med"/>
                    </a:lnT>
                    <a:lnB w="9525" cap="flat" cmpd="sng" algn="ctr">
                      <a:solidFill>
                        <a:srgbClr val="E4DFF0"/>
                      </a:solidFill>
                      <a:prstDash val="solid"/>
                      <a:round/>
                      <a:headEnd type="none" w="med" len="med"/>
                      <a:tailEnd type="none" w="med" len="med"/>
                    </a:lnB>
                    <a:solidFill>
                      <a:schemeClr val="bg1"/>
                    </a:solidFill>
                  </a:tcPr>
                </a:tc>
              </a:tr>
            </a:tbl>
          </a:graphicData>
        </a:graphic>
      </p:graphicFrame>
      <p:sp>
        <p:nvSpPr>
          <p:cNvPr id="16" name="Text 12"/>
          <p:cNvSpPr txBox="1"/>
          <p:nvPr/>
        </p:nvSpPr>
        <p:spPr>
          <a:xfrm>
            <a:off x="548640" y="5989320"/>
            <a:ext cx="11094415" cy="274320"/>
          </a:xfrm>
          <a:prstGeom prst="rect">
            <a:avLst/>
          </a:prstGeom>
          <a:noFill/>
          <a:ln/>
        </p:spPr>
        <p:txBody>
          <a:bodyPr wrap="square" lIns="0" tIns="0" rIns="0" bIns="0" rtlCol="0" anchor="ctr"/>
          <a:lstStyle/>
          <a:p>
            <a:pPr indent="0" marL="0">
              <a:buNone/>
            </a:pPr>
            <a:r>
              <a:rPr lang="en-US" sz="1200" dirty="0">
                <a:solidFill>
                  <a:schemeClr val="tx2"/>
                </a:solidFill>
              </a:rPr>
              <a:t>Escenario C · QPSK · Eb/N0 = 12 dB · perfil moderado · LMS de 21 taps</a:t>
            </a:r>
            <a:endParaRPr lang="en-US" sz="1200" dirty="0"/>
          </a:p>
        </p:txBody>
      </p:sp>
      <p:sp>
        <p:nvSpPr>
          <p:cNvPr id="25" name="Slide Number Placeholder 0"/>
          <p:cNvSpPr>
            <a:spLocks noGrp="1"/>
          </p:cNvSpPr>
          <p:nvPr>
            <p:ph type="sldNum" sz="quarter" idx="4294967295"/>
          </p:nvPr>
        </p:nvSpPr>
        <p:spPr>
          <a:xfrm>
            <a:off x="11155680" y="640080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Banco de pruebas">
  <a:themeElements>
    <a:clrScheme name="Banco de pruebas">
      <a:dk1>
        <a:srgbClr val="0C246C"/>
      </a:dk1>
      <a:lt1>
        <a:srgbClr val="FFFFFF"/>
      </a:lt1>
      <a:dk2>
        <a:srgbClr val="414D87"/>
      </a:dk2>
      <a:lt2>
        <a:srgbClr val="F3EEF7"/>
      </a:lt2>
      <a:accent1>
        <a:srgbClr val="5A4FD6"/>
      </a:accent1>
      <a:accent2>
        <a:srgbClr val="F09CCC"/>
      </a:accent2>
      <a:accent3>
        <a:srgbClr val="3078B4"/>
      </a:accent3>
      <a:accent4>
        <a:srgbClr val="EB6834"/>
      </a:accent4>
      <a:accent5>
        <a:srgbClr val="1BAF7A"/>
      </a:accent5>
      <a:accent6>
        <a:srgbClr val="2A78D6"/>
      </a:accent6>
      <a:hlink>
        <a:srgbClr val="2A78D6"/>
      </a:hlink>
      <a:folHlink>
        <a:srgbClr val="414D87"/>
      </a:folHlink>
    </a:clrScheme>
    <a:fontScheme name="Banco de prueba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Receptor digital adaptativo sobre un canal inalámbrico simulado</dc:title>
  <dc:subject>Proyecto 1 · Comunicaciones II 2026</dc:subject>
  <dc:creator>Luis Rey Gonzalez</dc:creator>
  <cp:lastModifiedBy>Luis Rey Gonzalez</cp:lastModifiedBy>
  <cp:revision>1</cp:revision>
  <dcterms:created xsi:type="dcterms:W3CDTF">2026-10-09T05:55:58Z</dcterms:created>
  <dcterms:modified xsi:type="dcterms:W3CDTF">2026-10-09T05:55:58Z</dcterms:modified>
</cp:coreProperties>
</file>